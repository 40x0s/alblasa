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افتح بجملة واحدة: «اخترنا أن نكسر برنامجنا نحن، لا برنامجاً ننزّله من الإنترنت — لأن المادة تطلب فهم الآلية لا التحميل». قدّم الفريق في 20 ثانية، وانتقل. لا تبدأ بالأدوات.</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لا تقرأ الجدول حرفياً. قل: «المشرف طلب اختيار هدف، واختيار الطريقة. نحن اخترنا الهدف الذي نستطيع الدفاع عن أخلاقيته، ووزّعنا العمل: تحليل، ثم كسر، ثم دفاع». ثم اذكر أن الـ PDF هو «ورقة الغش» الرسمية للطلاب.</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اشرح «الترخيص حالة، وليس شاشة»: البرنامج لا يسأل الخادم ولا يطابق بصمته مع المفتاح؛ يقرأ ما كُتب له ويصدّقه. هذه الجملة ستعود في كل كسر من الكسور الثلاثة.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هنا تبدأ اللحظة الأهم: اقرأ السطر الأخير بصوت عالٍ، ثم قل «سنغيّر رقماً واحداً في الذاكرة، وهذا السطر يسقط». لا تُفصّل البايتات الآن — احفظها للشريحة 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هذه الشريحة تمنع السؤال المحرج «ليش ما كسرتم بدنبق فقط؟». الجواب: الأدوات مكمّلة — IL في dnSpy، وذاكرة/سجلات في x32dbg. وأنت تعرض الرتق تحت x32dbg لأنه يري الطلاب أن الكسر «حدث حقيقي» في عملية حيّة.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اطلب من الجمهور التخمين قبل أن تُظهر الشريحة: «لو عدّلت IL بعد ما جرّبت المفتاح، يشتغي؟». 90% يقولون نعم — هنا تبدأ المحاضرة الفعلية. الفصل 2.٢ و7.١ من الـ PDF فيهما البرهان.</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أكّد على الفرق: في الطبقة الأولى نرضي الحساب، هنا **نتجاوز الحساب** لأن مصدر الثقة خارجي وقابل للكتابة. اسأل: «كيف تمنعون هذا في مشروعكم؟» ← الجواب في شريحة الدفاع.</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الخطوات الست الأولى تُنفَّذ في 40 ثانية. إن لم تظهر نتيجة للبحث: لا تتردد — قفز إلى الخطة B (الرتق على القرص بـ HxD، شريحة 11). المفتاح الذي ستلصقه: `5NOFK-JQB1Z-7HSHF-NOP6D`.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اقرأ الأرقام: 1426 = 73×19 + 39 ⇒ الشرط الأول يفشل، وXOR = 0x0A ⇒ الشرط الثاني ينجح. لهذا المفتاح بالذات هو «المفتاح المُثبِت للرتق» — لا يمكن أن يُقبل بغيره.</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إن سأل المشرف «ليش ما استخدمت bp على الدالة نفسها؟» — أجب: x64dbg لا يعرف رموز .NET (bp Namespace.Class.Method لا يعمل)، لهذا البحث عن نمط البايتات هو الطريق العملي.</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لا تدمج الشريحتين في كلام واحد. قُلها هكذا: «الـ EAX تمرين على فهم المناديات، والرتق على القرص هو الكسر الدائم». التسمية الدقيقة تُحسب لك في مادة أكاديمية.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ورقة العمل تقترح «ثبّت 18 واشتق 2». قِسناها: تنجح في 7% من البادئات فقط (لأن القيدين غير مستقلين). قل هذا بصوت عالٍ — «عدّلنا تمرين المشرف لأننا جربناه» هو أقوى دليل تعلّم يمكنك عرضه.</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وزّع الأدوار: علي يدير مجموعة x32dbg، ماجد مجموعة dnSpy، المعتصم مجموعة التحليل السلوكي. لا تُصلح بيدك — وجّه بالسؤال فقط، وسجّل ملاحظاتك لاستخدامها في تقرير «الإشراف».</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لا تعتذر — اعرضها كنهج: «قبل أن نُدرّس غيرنا كيف نكسر أنفسنا». هذه الشريحة هي أقوى ما لديك في «التفكير الهندسي»، وأغلب الظن أنها ستنال أعلى تعليق من المشرف. لا تقرأ النقاط كلها؛ ركّز على الجذر الأول والدرس المستفاد.</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لا تقرأ الجدول. اختر 3 صفوف فقط (التوقيع، مفتاح الوظيفة، فحص التكامل) واربطها بما رأوه قبل دقيقتين. المقترح النهائي: نسخة v2 بطبقتين فقط — تبقى قابلة للكسر لكنها تُدرّس «لماذا يصعب الأمر».</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اطبع هذه الشريحة (A5) وضعها أمام من يدير الشاشة. قبل الصعود: `reset-license.bat`، تشغيل التطبيق مرة، خروج من مجلد x32dbg، إيقاف AV اللحظي، دقة 1920×1080، تكبير x64dbg إلى 12pt.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لا تصوّر قبل الإصلاح: لقطات اليوم ستُظهر الأعطال التي سنذكرها في الشريحة السابقة وستبدو كأنها جزء من العرض. استخدم Snip &amp; Sketch بمقاس ثابت، وأزل علامة «تنشيط Windows».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اختم بجملة واحدة عن المستقبل: «نقترح نسخة v2 بطبقتين (توقيع + مفتاح وظيفة) لتكون ورشة الموسم القادم أصعب — وبذلك يكون مشروعنا قد أنتج هدفين تعليميين لا واحداً». تصفيق + إنهاء.</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5486400"/>
            <a:ext cx="12191695" cy="54864"/>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2681935" y="822960"/>
            <a:ext cx="9052560" cy="457200"/>
          </a:xfrm>
          <a:prstGeom prst="rect">
            <a:avLst/>
          </a:prstGeom>
          <a:noFill/>
        </p:spPr>
        <p:txBody>
          <a:bodyPr wrap="square" anchor="t" lIns="18288" rIns="18288" tIns="0" bIns="0">
            <a:spAutoFit/>
          </a:bodyPr>
          <a:lstStyle/>
          <a:p>
            <a:pPr algn="r" marL="0" indent="0" rtl="1">
              <a:lnSpc>
                <a:spcPct val="100000"/>
              </a:lnSpc>
              <a:spcAft>
                <a:spcPts val="600"/>
              </a:spcAft>
            </a:pPr>
            <a:r>
              <a:rPr sz="1600" b="0" lang="ar-SA" algn="r">
                <a:solidFill>
                  <a:srgbClr val="A9C2DC"/>
                </a:solidFill>
                <a:latin typeface="Segoe UI"/>
              </a:rPr>
              <a:t>المشروع العملي — الهندسة العكسية · دفعة 2026</a:t>
            </a:r>
          </a:p>
        </p:txBody>
      </p:sp>
      <p:sp>
        <p:nvSpPr>
          <p:cNvPr id="5" name="TextBox 4"/>
          <p:cNvSpPr txBox="1"/>
          <p:nvPr/>
        </p:nvSpPr>
        <p:spPr>
          <a:xfrm>
            <a:off x="1584655" y="1417320"/>
            <a:ext cx="10149840" cy="2011680"/>
          </a:xfrm>
          <a:prstGeom prst="rect">
            <a:avLst/>
          </a:prstGeom>
          <a:noFill/>
        </p:spPr>
        <p:txBody>
          <a:bodyPr wrap="square" anchor="t" lIns="18288" rIns="18288" tIns="0" bIns="0">
            <a:spAutoFit/>
          </a:bodyPr>
          <a:lstStyle/>
          <a:p>
            <a:pPr algn="r" marL="0" indent="0" rtl="1">
              <a:lnSpc>
                <a:spcPct val="100000"/>
              </a:lnSpc>
              <a:spcAft>
                <a:spcPts val="600"/>
              </a:spcAft>
            </a:pPr>
            <a:r>
              <a:rPr sz="5400" b="1" lang="ar-SA" algn="r">
                <a:solidFill>
                  <a:srgbClr val="FFFFFF"/>
                </a:solidFill>
                <a:latin typeface="Segoe UI"/>
              </a:rPr>
              <a:t>كسر حماية ميزان Pro</a:t>
            </a:r>
          </a:p>
        </p:txBody>
      </p:sp>
      <p:sp>
        <p:nvSpPr>
          <p:cNvPr id="6" name="TextBox 5"/>
          <p:cNvSpPr txBox="1"/>
          <p:nvPr/>
        </p:nvSpPr>
        <p:spPr>
          <a:xfrm>
            <a:off x="1584655" y="2606040"/>
            <a:ext cx="10149840" cy="914400"/>
          </a:xfrm>
          <a:prstGeom prst="rect">
            <a:avLst/>
          </a:prstGeom>
          <a:noFill/>
        </p:spPr>
        <p:txBody>
          <a:bodyPr wrap="square" anchor="t" lIns="18288" rIns="18288" tIns="0" bIns="0">
            <a:spAutoFit/>
          </a:bodyPr>
          <a:lstStyle/>
          <a:p>
            <a:pPr algn="r" marL="0" indent="0" rtl="1">
              <a:lnSpc>
                <a:spcPct val="100000"/>
              </a:lnSpc>
              <a:spcAft>
                <a:spcPts val="600"/>
              </a:spcAft>
            </a:pPr>
            <a:r>
              <a:rPr sz="3000" b="0" lang="ar-SA" algn="r">
                <a:solidFill>
                  <a:srgbClr val="D6E4F2"/>
                </a:solidFill>
                <a:latin typeface="Segoe UI"/>
              </a:rPr>
              <a:t>بـ </a:t>
            </a:r>
            <a:r>
              <a:rPr sz="3000" b="1" lang="ar-SA" algn="r">
                <a:solidFill>
                  <a:srgbClr val="C59421"/>
                </a:solidFill>
                <a:latin typeface="Consolas"/>
              </a:rPr>
              <a:t>x32dbg</a:t>
            </a:r>
            <a:r>
              <a:rPr sz="3000" b="0" lang="ar-SA" algn="r">
                <a:solidFill>
                  <a:srgbClr val="D6E4F2"/>
                </a:solidFill>
                <a:latin typeface="Segoe UI"/>
              </a:rPr>
              <a:t> — من الصفر إلى المية</a:t>
            </a:r>
          </a:p>
        </p:txBody>
      </p:sp>
      <p:sp>
        <p:nvSpPr>
          <p:cNvPr id="7" name="Rectangle 6"/>
          <p:cNvSpPr/>
          <p:nvPr/>
        </p:nvSpPr>
        <p:spPr>
          <a:xfrm>
            <a:off x="8168335" y="3429000"/>
            <a:ext cx="3566160" cy="4445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767535" y="3794760"/>
            <a:ext cx="9966960" cy="1737360"/>
          </a:xfrm>
          <a:prstGeom prst="rect">
            <a:avLst/>
          </a:prstGeom>
          <a:noFill/>
        </p:spPr>
        <p:txBody>
          <a:bodyPr wrap="square" lIns="18288" rIns="18288" tIns="0" bIns="0">
            <a:spAutoFit/>
          </a:bodyPr>
          <a:lstStyle/>
          <a:p>
            <a:pPr algn="r" marL="0" indent="0" rtl="1">
              <a:lnSpc>
                <a:spcPct val="108000"/>
              </a:lnSpc>
              <a:spcAft>
                <a:spcPts val="600"/>
              </a:spcAft>
            </a:pPr>
            <a:r>
              <a:rPr sz="1700" b="1" lang="ar-SA" algn="r">
                <a:solidFill>
                  <a:srgbClr val="C59421"/>
                </a:solidFill>
                <a:latin typeface="Segoe UI"/>
              </a:rPr>
              <a:t>•  </a:t>
            </a:r>
            <a:r>
              <a:rPr sz="1700" b="0" lang="ar-SA" algn="r">
                <a:solidFill>
                  <a:srgbClr val="C9DAEC"/>
                </a:solidFill>
                <a:latin typeface="Segoe UI"/>
              </a:rPr>
              <a:t>الفريق: </a:t>
            </a:r>
            <a:r>
              <a:rPr sz="1700" b="1" lang="ar-SA" algn="r">
                <a:solidFill>
                  <a:srgbClr val="C9DAEC"/>
                </a:solidFill>
                <a:latin typeface="Segoe UI"/>
              </a:rPr>
              <a:t>علي العطيفي</a:t>
            </a:r>
            <a:r>
              <a:rPr sz="1700" b="0" lang="ar-SA" algn="r">
                <a:solidFill>
                  <a:srgbClr val="C9DAEC"/>
                </a:solidFill>
                <a:latin typeface="Segoe UI"/>
              </a:rPr>
              <a:t> · </a:t>
            </a:r>
            <a:r>
              <a:rPr sz="1700" b="1" lang="ar-SA" algn="r">
                <a:solidFill>
                  <a:srgbClr val="C9DAEC"/>
                </a:solidFill>
                <a:latin typeface="Segoe UI"/>
              </a:rPr>
              <a:t>ماجد الدميني</a:t>
            </a:r>
            <a:r>
              <a:rPr sz="1700" b="0" lang="ar-SA" algn="r">
                <a:solidFill>
                  <a:srgbClr val="C9DAEC"/>
                </a:solidFill>
                <a:latin typeface="Segoe UI"/>
              </a:rPr>
              <a:t> · </a:t>
            </a:r>
            <a:r>
              <a:rPr sz="1700" b="1" lang="ar-SA" algn="r">
                <a:solidFill>
                  <a:srgbClr val="C9DAEC"/>
                </a:solidFill>
                <a:latin typeface="Segoe UI"/>
              </a:rPr>
              <a:t>المعتصم الراعي</a:t>
            </a:r>
          </a:p>
          <a:p>
            <a:pPr algn="r" marL="0" indent="0" rtl="1">
              <a:lnSpc>
                <a:spcPct val="108000"/>
              </a:lnSpc>
              <a:spcAft>
                <a:spcPts val="600"/>
              </a:spcAft>
            </a:pPr>
            <a:r>
              <a:rPr sz="1700" b="1" lang="ar-SA" algn="r">
                <a:solidFill>
                  <a:srgbClr val="C59421"/>
                </a:solidFill>
                <a:latin typeface="Segoe UI"/>
              </a:rPr>
              <a:t>•  </a:t>
            </a:r>
            <a:r>
              <a:rPr sz="1700" b="0" lang="ar-SA" algn="r">
                <a:solidFill>
                  <a:srgbClr val="C9DAEC"/>
                </a:solidFill>
                <a:latin typeface="Segoe UI"/>
              </a:rPr>
              <a:t>الإشراف الأكاديمي: </a:t>
            </a:r>
            <a:r>
              <a:rPr sz="1700" b="1" lang="ar-SA" algn="r">
                <a:solidFill>
                  <a:srgbClr val="C9DAEC"/>
                </a:solidFill>
                <a:latin typeface="Segoe UI"/>
              </a:rPr>
              <a:t>م. عبدالكريم الباشيري</a:t>
            </a:r>
          </a:p>
          <a:p>
            <a:pPr algn="r" marL="0" indent="0" rtl="1">
              <a:lnSpc>
                <a:spcPct val="108000"/>
              </a:lnSpc>
              <a:spcAft>
                <a:spcPts val="600"/>
              </a:spcAft>
            </a:pPr>
            <a:r>
              <a:rPr sz="1700" b="1" lang="ar-SA" algn="r">
                <a:solidFill>
                  <a:srgbClr val="C59421"/>
                </a:solidFill>
                <a:latin typeface="Segoe UI"/>
              </a:rPr>
              <a:t>•  </a:t>
            </a:r>
            <a:r>
              <a:rPr sz="1700" b="0" lang="ar-SA" algn="r">
                <a:solidFill>
                  <a:srgbClr val="C9DAEC"/>
                </a:solidFill>
                <a:latin typeface="Segoe UI"/>
              </a:rPr>
              <a:t>الهدف: </a:t>
            </a:r>
            <a:r>
              <a:rPr sz="1700" b="1" lang="ar-SA" algn="r">
                <a:solidFill>
                  <a:srgbClr val="8A5F0A"/>
                </a:solidFill>
                <a:latin typeface="Consolas"/>
              </a:rPr>
              <a:t>MizanPro.exe</a:t>
            </a:r>
            <a:r>
              <a:rPr sz="1700" b="0" lang="ar-SA" algn="r">
                <a:solidFill>
                  <a:srgbClr val="C9DAEC"/>
                </a:solidFill>
                <a:latin typeface="Segoe UI"/>
              </a:rPr>
              <a:t> — نظام محاسبة WPF بنيناه </a:t>
            </a:r>
            <a:r>
              <a:rPr sz="1700" b="1" lang="ar-SA" algn="r">
                <a:solidFill>
                  <a:srgbClr val="C9DAEC"/>
                </a:solidFill>
                <a:latin typeface="Segoe UI"/>
              </a:rPr>
              <a:t>بأنفسنا</a:t>
            </a:r>
            <a:r>
              <a:rPr sz="1700" b="0" lang="ar-SA" algn="r">
                <a:solidFill>
                  <a:srgbClr val="C9DAEC"/>
                </a:solidFill>
                <a:latin typeface="Segoe UI"/>
              </a:rPr>
              <a:t> ليكون </a:t>
            </a:r>
            <a:r>
              <a:rPr sz="1700" b="1" lang="ar-SA" algn="r">
                <a:solidFill>
                  <a:srgbClr val="C9DAEC"/>
                </a:solidFill>
                <a:latin typeface="Segoe UI"/>
              </a:rPr>
              <a:t>crackme</a:t>
            </a:r>
            <a:r>
              <a:rPr sz="1700" b="0" lang="ar-SA" algn="r">
                <a:solidFill>
                  <a:srgbClr val="C9DAEC"/>
                </a:solidFill>
                <a:latin typeface="Segoe UI"/>
              </a:rPr>
              <a:t> تعليمياً</a:t>
            </a:r>
          </a:p>
          <a:p>
            <a:pPr algn="r" marL="0" indent="0" rtl="1">
              <a:lnSpc>
                <a:spcPct val="108000"/>
              </a:lnSpc>
              <a:spcAft>
                <a:spcPts val="600"/>
              </a:spcAft>
            </a:pPr>
            <a:r>
              <a:rPr sz="1700" b="1" lang="ar-SA" algn="r">
                <a:solidFill>
                  <a:srgbClr val="C59421"/>
                </a:solidFill>
                <a:latin typeface="Segoe UI"/>
              </a:rPr>
              <a:t>•  </a:t>
            </a:r>
            <a:r>
              <a:rPr sz="1700" b="0" lang="ar-SA" algn="r">
                <a:solidFill>
                  <a:srgbClr val="C9DAEC"/>
                </a:solidFill>
                <a:latin typeface="Segoe UI"/>
              </a:rPr>
              <a:t>مدة العرض: </a:t>
            </a:r>
            <a:r>
              <a:rPr sz="1700" b="1" lang="ar-SA" algn="r">
                <a:solidFill>
                  <a:srgbClr val="C9DAEC"/>
                </a:solidFill>
                <a:latin typeface="Segoe UI"/>
              </a:rPr>
              <a:t>38 دقيقة</a:t>
            </a:r>
            <a:r>
              <a:rPr sz="1700" b="0" lang="ar-SA" algn="r">
                <a:solidFill>
                  <a:srgbClr val="C9DAEC"/>
                </a:solidFill>
                <a:latin typeface="Segoe UI"/>
              </a:rPr>
              <a:t> + تطبيق مباشر + إشراف على 3 مجموعات</a:t>
            </a:r>
          </a:p>
        </p:txBody>
      </p:sp>
      <p:sp>
        <p:nvSpPr>
          <p:cNvPr id="9" name="TextBox 8"/>
          <p:cNvSpPr txBox="1"/>
          <p:nvPr/>
        </p:nvSpPr>
        <p:spPr>
          <a:xfrm>
            <a:off x="502920" y="5715000"/>
            <a:ext cx="8595360" cy="731520"/>
          </a:xfrm>
          <a:prstGeom prst="rect">
            <a:avLst/>
          </a:prstGeom>
          <a:noFill/>
        </p:spPr>
        <p:txBody>
          <a:bodyPr wrap="square" anchor="t" lIns="18288" rIns="18288" tIns="0" bIns="0">
            <a:spAutoFit/>
          </a:bodyPr>
          <a:lstStyle/>
          <a:p>
            <a:pPr algn="r" marL="0" indent="0" rtl="1">
              <a:lnSpc>
                <a:spcPct val="100000"/>
              </a:lnSpc>
              <a:spcAft>
                <a:spcPts val="600"/>
              </a:spcAft>
            </a:pPr>
            <a:r>
              <a:rPr sz="1300" b="0" lang="ar-SA" algn="r">
                <a:solidFill>
                  <a:srgbClr val="93A8BF"/>
                </a:solidFill>
                <a:latin typeface="Segoe UI"/>
              </a:rPr>
              <a:t>تحذير: كل ما سيُعرض على برنامج من بنائنا ولغرض تعليمي — لا يُطبَّق ولا يُنشَر على برامج الغير.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57200" y="237744"/>
            <a:ext cx="5943600" cy="274320"/>
          </a:xfrm>
          <a:prstGeom prst="rect">
            <a:avLst/>
          </a:prstGeom>
          <a:noFill/>
        </p:spPr>
        <p:txBody>
          <a:bodyPr wrap="square" anchor="t" lIns="18288" rIns="18288" tIns="0" bIns="0">
            <a:spAutoFit/>
          </a:bodyPr>
          <a:lstStyle/>
          <a:p>
            <a:pPr algn="l" marL="0" indent="0" rtl="1">
              <a:lnSpc>
                <a:spcPct val="100000"/>
              </a:lnSpc>
              <a:spcAft>
                <a:spcPts val="600"/>
              </a:spcAft>
            </a:pPr>
            <a:r>
              <a:rPr sz="1200" b="0" lang="ar-SA" algn="l">
                <a:solidFill>
                  <a:srgbClr val="6C7C8C"/>
                </a:solidFill>
                <a:latin typeface="Consolas"/>
              </a:rPr>
              <a:t>01 · BRIEF</a:t>
            </a:r>
          </a:p>
        </p:txBody>
      </p:sp>
      <p:sp>
        <p:nvSpPr>
          <p:cNvPr id="5" name="TextBox 4"/>
          <p:cNvSpPr txBox="1"/>
          <p:nvPr/>
        </p:nvSpPr>
        <p:spPr>
          <a:xfrm>
            <a:off x="5242255" y="182880"/>
            <a:ext cx="6492240" cy="566928"/>
          </a:xfrm>
          <a:prstGeom prst="rect">
            <a:avLst/>
          </a:prstGeom>
          <a:noFill/>
        </p:spPr>
        <p:txBody>
          <a:bodyPr wrap="square" anchor="t" lIns="18288" rIns="18288" tIns="0" bIns="0">
            <a:spAutoFit/>
          </a:bodyPr>
          <a:lstStyle/>
          <a:p>
            <a:pPr algn="r" marL="0" indent="0" rtl="1">
              <a:lnSpc>
                <a:spcPct val="100000"/>
              </a:lnSpc>
              <a:spcAft>
                <a:spcPts val="600"/>
              </a:spcAft>
            </a:pPr>
            <a:r>
              <a:rPr sz="3000" b="1" lang="ar-SA" algn="r">
                <a:solidFill>
                  <a:srgbClr val="0B1D34"/>
                </a:solidFill>
                <a:latin typeface="Segoe UI"/>
              </a:rPr>
              <a:t>ما الذي طُلب منّا؟</a:t>
            </a:r>
          </a:p>
        </p:txBody>
      </p:sp>
      <p:sp>
        <p:nvSpPr>
          <p:cNvPr id="6" name="Rectangle 5"/>
          <p:cNvSpPr/>
          <p:nvPr/>
        </p:nvSpPr>
        <p:spPr>
          <a:xfrm>
            <a:off x="8899855" y="822960"/>
            <a:ext cx="2834640" cy="406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242255" y="914400"/>
            <a:ext cx="64922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6C7C8C"/>
                </a:solidFill>
                <a:latin typeface="Segoe UI"/>
              </a:rPr>
              <a:t>كيف قرأنا رسالة المشرف، وماذا نفّذنا</a:t>
            </a:r>
          </a:p>
        </p:txBody>
      </p:sp>
      <p:sp>
        <p:nvSpPr>
          <p:cNvPr id="8" name="Rectangle 7"/>
          <p:cNvSpPr/>
          <p:nvPr/>
        </p:nvSpPr>
        <p:spPr>
          <a:xfrm>
            <a:off x="4419295" y="1298448"/>
            <a:ext cx="7223760" cy="786384"/>
          </a:xfrm>
          <a:prstGeom prst="rect">
            <a:avLst/>
          </a:prstGeom>
          <a:solidFill>
            <a:srgbClr val="0B1D34"/>
          </a:solidFill>
          <a:ln w="9525">
            <a:solidFill>
              <a:srgbClr val="E0E7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4419295" y="2139696"/>
            <a:ext cx="7223760" cy="786384"/>
          </a:xfrm>
          <a:prstGeom prst="rect">
            <a:avLst/>
          </a:prstGeom>
          <a:solidFill>
            <a:srgbClr val="F6F8FB"/>
          </a:solidFill>
          <a:ln w="9525">
            <a:solidFill>
              <a:srgbClr val="E0E7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4419295" y="2980944"/>
            <a:ext cx="7223760" cy="786384"/>
          </a:xfrm>
          <a:prstGeom prst="rect">
            <a:avLst/>
          </a:prstGeom>
          <a:solidFill>
            <a:srgbClr val="FFFFFF"/>
          </a:solidFill>
          <a:ln w="9525">
            <a:solidFill>
              <a:srgbClr val="E0E7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4419295" y="3822192"/>
            <a:ext cx="7223760" cy="786384"/>
          </a:xfrm>
          <a:prstGeom prst="rect">
            <a:avLst/>
          </a:prstGeom>
          <a:solidFill>
            <a:srgbClr val="F6F8FB"/>
          </a:solidFill>
          <a:ln w="9525">
            <a:solidFill>
              <a:srgbClr val="E0E7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Rectangle 11"/>
          <p:cNvSpPr/>
          <p:nvPr/>
        </p:nvSpPr>
        <p:spPr>
          <a:xfrm>
            <a:off x="4419295" y="4663440"/>
            <a:ext cx="7223760" cy="786384"/>
          </a:xfrm>
          <a:prstGeom prst="rect">
            <a:avLst/>
          </a:prstGeom>
          <a:solidFill>
            <a:srgbClr val="FFFFFF"/>
          </a:solidFill>
          <a:ln w="9525">
            <a:solidFill>
              <a:srgbClr val="E0E7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494215" y="1444752"/>
            <a:ext cx="2057400" cy="548640"/>
          </a:xfrm>
          <a:prstGeom prst="rect">
            <a:avLst/>
          </a:prstGeom>
          <a:noFill/>
        </p:spPr>
        <p:txBody>
          <a:bodyPr wrap="square" anchor="t" lIns="18288" rIns="18288" tIns="0" bIns="0">
            <a:spAutoFit/>
          </a:bodyPr>
          <a:lstStyle/>
          <a:p>
            <a:pPr algn="r" marL="0" indent="0" rtl="1">
              <a:lnSpc>
                <a:spcPct val="100000"/>
              </a:lnSpc>
              <a:spcAft>
                <a:spcPts val="600"/>
              </a:spcAft>
            </a:pPr>
            <a:r>
              <a:rPr sz="1350" b="1" lang="ar-SA" algn="r">
                <a:solidFill>
                  <a:srgbClr val="FFFFFF"/>
                </a:solidFill>
                <a:latin typeface="Segoe UI"/>
              </a:rPr>
              <a:t>المطلوب</a:t>
            </a:r>
          </a:p>
        </p:txBody>
      </p:sp>
      <p:sp>
        <p:nvSpPr>
          <p:cNvPr id="14" name="TextBox 13"/>
          <p:cNvSpPr txBox="1"/>
          <p:nvPr/>
        </p:nvSpPr>
        <p:spPr>
          <a:xfrm>
            <a:off x="6293814" y="1417320"/>
            <a:ext cx="3063240" cy="640080"/>
          </a:xfrm>
          <a:prstGeom prst="rect">
            <a:avLst/>
          </a:prstGeom>
          <a:noFill/>
        </p:spPr>
        <p:txBody>
          <a:bodyPr wrap="square" anchor="t" lIns="18288" rIns="18288" tIns="0" bIns="0">
            <a:spAutoFit/>
          </a:bodyPr>
          <a:lstStyle/>
          <a:p>
            <a:pPr algn="r" marL="0" indent="0" rtl="1">
              <a:lnSpc>
                <a:spcPct val="100000"/>
              </a:lnSpc>
              <a:spcAft>
                <a:spcPts val="600"/>
              </a:spcAft>
            </a:pPr>
            <a:r>
              <a:rPr sz="1250" b="1" lang="ar-SA" algn="r">
                <a:solidFill>
                  <a:srgbClr val="FFFFFF"/>
                </a:solidFill>
                <a:latin typeface="Segoe UI"/>
              </a:rPr>
              <a:t>ما نفّذناه</a:t>
            </a:r>
          </a:p>
        </p:txBody>
      </p:sp>
      <p:sp>
        <p:nvSpPr>
          <p:cNvPr id="15" name="TextBox 14"/>
          <p:cNvSpPr txBox="1"/>
          <p:nvPr/>
        </p:nvSpPr>
        <p:spPr>
          <a:xfrm>
            <a:off x="4373575" y="1444752"/>
            <a:ext cx="1828800" cy="548640"/>
          </a:xfrm>
          <a:prstGeom prst="rect">
            <a:avLst/>
          </a:prstGeom>
          <a:noFill/>
        </p:spPr>
        <p:txBody>
          <a:bodyPr wrap="square" anchor="t" lIns="18288" rIns="18288" tIns="0" bIns="0">
            <a:spAutoFit/>
          </a:bodyPr>
          <a:lstStyle/>
          <a:p>
            <a:pPr algn="r" marL="0" indent="0" rtl="1">
              <a:lnSpc>
                <a:spcPct val="100000"/>
              </a:lnSpc>
              <a:spcAft>
                <a:spcPts val="600"/>
              </a:spcAft>
            </a:pPr>
            <a:r>
              <a:rPr sz="1200" b="1" lang="ar-SA" algn="r">
                <a:solidFill>
                  <a:srgbClr val="C59421"/>
                </a:solidFill>
                <a:latin typeface="Segoe UI"/>
              </a:rPr>
              <a:t>أين تراه اليوم</a:t>
            </a:r>
          </a:p>
        </p:txBody>
      </p:sp>
      <p:sp>
        <p:nvSpPr>
          <p:cNvPr id="16" name="TextBox 15"/>
          <p:cNvSpPr txBox="1"/>
          <p:nvPr/>
        </p:nvSpPr>
        <p:spPr>
          <a:xfrm>
            <a:off x="9494215" y="2286000"/>
            <a:ext cx="2057400" cy="548640"/>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0B1D34"/>
                </a:solidFill>
                <a:latin typeface="Segoe UI"/>
              </a:rPr>
              <a:t>كل مجموعة تختار برنامجاً أو برمجية خبيثة</a:t>
            </a:r>
          </a:p>
        </p:txBody>
      </p:sp>
      <p:sp>
        <p:nvSpPr>
          <p:cNvPr id="17" name="TextBox 16"/>
          <p:cNvSpPr txBox="1"/>
          <p:nvPr/>
        </p:nvSpPr>
        <p:spPr>
          <a:xfrm>
            <a:off x="6293814" y="2258568"/>
            <a:ext cx="3063240" cy="640080"/>
          </a:xfrm>
          <a:prstGeom prst="rect">
            <a:avLst/>
          </a:prstGeom>
          <a:noFill/>
        </p:spPr>
        <p:txBody>
          <a:bodyPr wrap="square" anchor="t" lIns="18288" rIns="18288" tIns="0" bIns="0">
            <a:spAutoFit/>
          </a:bodyPr>
          <a:lstStyle/>
          <a:p>
            <a:pPr algn="r" marL="0" indent="0" rtl="1">
              <a:lnSpc>
                <a:spcPct val="100000"/>
              </a:lnSpc>
              <a:spcAft>
                <a:spcPts val="600"/>
              </a:spcAft>
            </a:pPr>
            <a:r>
              <a:rPr sz="1250" b="0" lang="ar-SA" algn="r">
                <a:solidFill>
                  <a:srgbClr val="1A202A"/>
                </a:solidFill>
                <a:latin typeface="Segoe UI"/>
              </a:rPr>
              <a:t>برنامج محاسبة كامل (WPF/.NET 6) كتبناه نحن، وحماية ترخيص من 3 طبقات</a:t>
            </a:r>
          </a:p>
        </p:txBody>
      </p:sp>
      <p:sp>
        <p:nvSpPr>
          <p:cNvPr id="18" name="TextBox 17"/>
          <p:cNvSpPr txBox="1"/>
          <p:nvPr/>
        </p:nvSpPr>
        <p:spPr>
          <a:xfrm>
            <a:off x="4373575" y="2286000"/>
            <a:ext cx="1828800" cy="54864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README.md + الشجرة</a:t>
            </a:r>
          </a:p>
        </p:txBody>
      </p:sp>
      <p:sp>
        <p:nvSpPr>
          <p:cNvPr id="19" name="TextBox 18"/>
          <p:cNvSpPr txBox="1"/>
          <p:nvPr/>
        </p:nvSpPr>
        <p:spPr>
          <a:xfrm>
            <a:off x="9494215" y="3127248"/>
            <a:ext cx="2057400" cy="548640"/>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0B1D34"/>
                </a:solidFill>
                <a:latin typeface="Segoe UI"/>
              </a:rPr>
              <a:t>كسر الحماية **أو** تحليل سلوكي</a:t>
            </a:r>
          </a:p>
        </p:txBody>
      </p:sp>
      <p:sp>
        <p:nvSpPr>
          <p:cNvPr id="20" name="TextBox 19"/>
          <p:cNvSpPr txBox="1"/>
          <p:nvPr/>
        </p:nvSpPr>
        <p:spPr>
          <a:xfrm>
            <a:off x="6293814" y="3099816"/>
            <a:ext cx="3063240" cy="640080"/>
          </a:xfrm>
          <a:prstGeom prst="rect">
            <a:avLst/>
          </a:prstGeom>
          <a:noFill/>
        </p:spPr>
        <p:txBody>
          <a:bodyPr wrap="square" anchor="t" lIns="18288" rIns="18288" tIns="0" bIns="0">
            <a:spAutoFit/>
          </a:bodyPr>
          <a:lstStyle/>
          <a:p>
            <a:pPr algn="r" marL="0" indent="0" rtl="1">
              <a:lnSpc>
                <a:spcPct val="100000"/>
              </a:lnSpc>
              <a:spcAft>
                <a:spcPts val="600"/>
              </a:spcAft>
            </a:pPr>
            <a:r>
              <a:rPr sz="1250" b="0" lang="ar-SA" algn="r">
                <a:solidFill>
                  <a:srgbClr val="1A202A"/>
                </a:solidFill>
                <a:latin typeface="Segoe UI"/>
              </a:rPr>
              <a:t>الاثنان معاً: رتق IL (كسر) + تتبّع Registry/رسائل API (سلوكي)</a:t>
            </a:r>
          </a:p>
        </p:txBody>
      </p:sp>
      <p:sp>
        <p:nvSpPr>
          <p:cNvPr id="21" name="TextBox 20"/>
          <p:cNvSpPr txBox="1"/>
          <p:nvPr/>
        </p:nvSpPr>
        <p:spPr>
          <a:xfrm>
            <a:off x="4373575" y="3127248"/>
            <a:ext cx="1828800" cy="54864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الفصول 6–9 من الدليل</a:t>
            </a:r>
          </a:p>
        </p:txBody>
      </p:sp>
      <p:sp>
        <p:nvSpPr>
          <p:cNvPr id="22" name="TextBox 21"/>
          <p:cNvSpPr txBox="1"/>
          <p:nvPr/>
        </p:nvSpPr>
        <p:spPr>
          <a:xfrm>
            <a:off x="9494215" y="3968496"/>
            <a:ext cx="2057400" cy="548640"/>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0B1D34"/>
                </a:solidFill>
                <a:latin typeface="Segoe UI"/>
              </a:rPr>
              <a:t>عرض 30–40 دقيقة + تطبيق مباشر</a:t>
            </a:r>
          </a:p>
        </p:txBody>
      </p:sp>
      <p:sp>
        <p:nvSpPr>
          <p:cNvPr id="23" name="TextBox 22"/>
          <p:cNvSpPr txBox="1"/>
          <p:nvPr/>
        </p:nvSpPr>
        <p:spPr>
          <a:xfrm>
            <a:off x="6293814" y="3941064"/>
            <a:ext cx="3063240" cy="640080"/>
          </a:xfrm>
          <a:prstGeom prst="rect">
            <a:avLst/>
          </a:prstGeom>
          <a:noFill/>
        </p:spPr>
        <p:txBody>
          <a:bodyPr wrap="square" anchor="t" lIns="18288" rIns="18288" tIns="0" bIns="0">
            <a:spAutoFit/>
          </a:bodyPr>
          <a:lstStyle/>
          <a:p>
            <a:pPr algn="r" marL="0" indent="0" rtl="1">
              <a:lnSpc>
                <a:spcPct val="100000"/>
              </a:lnSpc>
              <a:spcAft>
                <a:spcPts val="600"/>
              </a:spcAft>
            </a:pPr>
            <a:r>
              <a:rPr sz="1250" b="0" lang="ar-SA" algn="r">
                <a:solidFill>
                  <a:srgbClr val="1A202A"/>
                </a:solidFill>
                <a:latin typeface="Segoe UI"/>
              </a:rPr>
              <a:t>10 خطوات دقيقة أمام الجمهور، كلها مُجرَّبة ومُسجَّلة احتياطياً</a:t>
            </a:r>
          </a:p>
        </p:txBody>
      </p:sp>
      <p:sp>
        <p:nvSpPr>
          <p:cNvPr id="24" name="TextBox 23"/>
          <p:cNvSpPr txBox="1"/>
          <p:nvPr/>
        </p:nvSpPr>
        <p:spPr>
          <a:xfrm>
            <a:off x="4373575" y="3968496"/>
            <a:ext cx="1828800" cy="54864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هذه الشرائح + demo.mp4</a:t>
            </a:r>
          </a:p>
        </p:txBody>
      </p:sp>
      <p:sp>
        <p:nvSpPr>
          <p:cNvPr id="25" name="TextBox 24"/>
          <p:cNvSpPr txBox="1"/>
          <p:nvPr/>
        </p:nvSpPr>
        <p:spPr>
          <a:xfrm>
            <a:off x="9494215" y="4809744"/>
            <a:ext cx="2057400" cy="548640"/>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0B1D34"/>
                </a:solidFill>
                <a:latin typeface="Segoe UI"/>
              </a:rPr>
              <a:t>الإشراف على مجموعات تفعل الشيء نفسه</a:t>
            </a:r>
          </a:p>
        </p:txBody>
      </p:sp>
      <p:sp>
        <p:nvSpPr>
          <p:cNvPr id="26" name="TextBox 25"/>
          <p:cNvSpPr txBox="1"/>
          <p:nvPr/>
        </p:nvSpPr>
        <p:spPr>
          <a:xfrm>
            <a:off x="6293814" y="4782312"/>
            <a:ext cx="3063240" cy="640080"/>
          </a:xfrm>
          <a:prstGeom prst="rect">
            <a:avLst/>
          </a:prstGeom>
          <a:noFill/>
        </p:spPr>
        <p:txBody>
          <a:bodyPr wrap="square" anchor="t" lIns="18288" rIns="18288" tIns="0" bIns="0">
            <a:spAutoFit/>
          </a:bodyPr>
          <a:lstStyle/>
          <a:p>
            <a:pPr algn="r" marL="0" indent="0" rtl="1">
              <a:lnSpc>
                <a:spcPct val="100000"/>
              </a:lnSpc>
              <a:spcAft>
                <a:spcPts val="600"/>
              </a:spcAft>
            </a:pPr>
            <a:r>
              <a:rPr sz="1250" b="0" lang="ar-SA" algn="r">
                <a:solidFill>
                  <a:srgbClr val="1A202A"/>
                </a:solidFill>
                <a:latin typeface="Segoe UI"/>
              </a:rPr>
              <a:t>قائمة تحقّق + سلم تقدير + 3 أخطاء نتوقعها منهم</a:t>
            </a:r>
          </a:p>
        </p:txBody>
      </p:sp>
      <p:sp>
        <p:nvSpPr>
          <p:cNvPr id="27" name="TextBox 26"/>
          <p:cNvSpPr txBox="1"/>
          <p:nvPr/>
        </p:nvSpPr>
        <p:spPr>
          <a:xfrm>
            <a:off x="4373575" y="4809744"/>
            <a:ext cx="1828800" cy="54864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شريحة «كيف نديرهم»</a:t>
            </a:r>
          </a:p>
        </p:txBody>
      </p:sp>
      <p:sp>
        <p:nvSpPr>
          <p:cNvPr id="28" name="Rectangle 27"/>
          <p:cNvSpPr/>
          <p:nvPr/>
        </p:nvSpPr>
        <p:spPr>
          <a:xfrm>
            <a:off x="566928" y="5596128"/>
            <a:ext cx="4023360" cy="310896"/>
          </a:xfrm>
          <a:prstGeom prst="rect">
            <a:avLst/>
          </a:prstGeom>
          <a:solidFill>
            <a:srgbClr val="142C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marL="0" indent="0" rtl="1"/>
            <a:r>
              <a:rPr sz="1200" b="1" lang="ar-SA" algn="ctr">
                <a:solidFill>
                  <a:srgbClr val="FFFFFF"/>
                </a:solidFill>
                <a:latin typeface="Segoe UI"/>
              </a:rPr>
              <a:t>وثّقنا كل خطوة في PDF من 51 صفحة وُزّع قبل الورشة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57200" y="237744"/>
            <a:ext cx="5943600" cy="274320"/>
          </a:xfrm>
          <a:prstGeom prst="rect">
            <a:avLst/>
          </a:prstGeom>
          <a:noFill/>
        </p:spPr>
        <p:txBody>
          <a:bodyPr wrap="square" anchor="t" lIns="18288" rIns="18288" tIns="0" bIns="0">
            <a:spAutoFit/>
          </a:bodyPr>
          <a:lstStyle/>
          <a:p>
            <a:pPr algn="l" marL="0" indent="0" rtl="1">
              <a:lnSpc>
                <a:spcPct val="100000"/>
              </a:lnSpc>
              <a:spcAft>
                <a:spcPts val="600"/>
              </a:spcAft>
            </a:pPr>
            <a:r>
              <a:rPr sz="1200" b="0" lang="ar-SA" algn="l">
                <a:solidFill>
                  <a:srgbClr val="6C7C8C"/>
                </a:solidFill>
                <a:latin typeface="Consolas"/>
              </a:rPr>
              <a:t>02 · TARGET</a:t>
            </a:r>
          </a:p>
        </p:txBody>
      </p:sp>
      <p:sp>
        <p:nvSpPr>
          <p:cNvPr id="5" name="TextBox 4"/>
          <p:cNvSpPr txBox="1"/>
          <p:nvPr/>
        </p:nvSpPr>
        <p:spPr>
          <a:xfrm>
            <a:off x="5242255" y="182880"/>
            <a:ext cx="6492240" cy="566928"/>
          </a:xfrm>
          <a:prstGeom prst="rect">
            <a:avLst/>
          </a:prstGeom>
          <a:noFill/>
        </p:spPr>
        <p:txBody>
          <a:bodyPr wrap="square" anchor="t" lIns="18288" rIns="18288" tIns="0" bIns="0">
            <a:spAutoFit/>
          </a:bodyPr>
          <a:lstStyle/>
          <a:p>
            <a:pPr algn="r" marL="0" indent="0" rtl="1">
              <a:lnSpc>
                <a:spcPct val="100000"/>
              </a:lnSpc>
              <a:spcAft>
                <a:spcPts val="600"/>
              </a:spcAft>
            </a:pPr>
            <a:r>
              <a:rPr sz="3000" b="1" lang="ar-SA" algn="r">
                <a:solidFill>
                  <a:srgbClr val="0B1D34"/>
                </a:solidFill>
                <a:latin typeface="Segoe UI"/>
              </a:rPr>
              <a:t>ميزان Pro: برنامج محاسبة يُخفي ثلاث طبقات حماية</a:t>
            </a:r>
          </a:p>
        </p:txBody>
      </p:sp>
      <p:sp>
        <p:nvSpPr>
          <p:cNvPr id="6" name="Rectangle 5"/>
          <p:cNvSpPr/>
          <p:nvPr/>
        </p:nvSpPr>
        <p:spPr>
          <a:xfrm>
            <a:off x="8899855" y="822960"/>
            <a:ext cx="2834640" cy="406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242255" y="914400"/>
            <a:ext cx="64922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6C7C8C"/>
                </a:solidFill>
                <a:latin typeface="Segoe UI"/>
              </a:rPr>
              <a:t>13 صفحة، 5 آلاف سطر، وحماية «الترخيص حالة لا شاشة»</a:t>
            </a:r>
          </a:p>
        </p:txBody>
      </p:sp>
      <p:sp>
        <p:nvSpPr>
          <p:cNvPr id="8" name="TextBox 7"/>
          <p:cNvSpPr txBox="1"/>
          <p:nvPr/>
        </p:nvSpPr>
        <p:spPr>
          <a:xfrm>
            <a:off x="5790895" y="1389888"/>
            <a:ext cx="5943600" cy="3200400"/>
          </a:xfrm>
          <a:prstGeom prst="rect">
            <a:avLst/>
          </a:prstGeom>
          <a:noFill/>
        </p:spPr>
        <p:txBody>
          <a:bodyPr wrap="square" lIns="18288" rIns="18288" tIns="0" bIns="0">
            <a:spAutoFit/>
          </a:bodyPr>
          <a:lstStyle/>
          <a:p>
            <a:pPr algn="r" marL="0" indent="0" rtl="1">
              <a:lnSpc>
                <a:spcPct val="108000"/>
              </a:lnSpc>
              <a:spcAft>
                <a:spcPts val="800"/>
              </a:spcAft>
            </a:pPr>
            <a:r>
              <a:rPr sz="1550" b="1" lang="ar-SA" algn="r">
                <a:solidFill>
                  <a:srgbClr val="C59421"/>
                </a:solidFill>
                <a:latin typeface="Segoe UI"/>
              </a:rPr>
              <a:t>•  </a:t>
            </a:r>
            <a:r>
              <a:rPr sz="1550" b="0" lang="ar-SA" algn="r">
                <a:solidFill>
                  <a:srgbClr val="1A202A"/>
                </a:solidFill>
                <a:latin typeface="Segoe UI"/>
              </a:rPr>
              <a:t>واجهة عربية RTL: لوحة تحكم، فواتير، منتجات، عملاء، تقارير</a:t>
            </a:r>
          </a:p>
          <a:p>
            <a:pPr algn="r" marL="0" indent="0" rtl="1">
              <a:lnSpc>
                <a:spcPct val="108000"/>
              </a:lnSpc>
              <a:spcAft>
                <a:spcPts val="800"/>
              </a:spcAft>
            </a:pPr>
            <a:r>
              <a:rPr sz="1550" b="1" lang="ar-SA" algn="r">
                <a:solidFill>
                  <a:srgbClr val="C59421"/>
                </a:solidFill>
                <a:latin typeface="Segoe UI"/>
              </a:rPr>
              <a:t>•  </a:t>
            </a:r>
            <a:r>
              <a:rPr sz="1550" b="0" lang="ar-SA" algn="r">
                <a:solidFill>
                  <a:srgbClr val="1A202A"/>
                </a:solidFill>
                <a:latin typeface="Segoe UI"/>
              </a:rPr>
              <a:t>طبقة 1 — **مفتاح ترخيص**: 20 محرفاً </a:t>
            </a:r>
            <a:r>
              <a:rPr sz="1550" b="1" lang="ar-SA" algn="r">
                <a:solidFill>
                  <a:srgbClr val="8A5F0A"/>
                </a:solidFill>
                <a:latin typeface="Consolas"/>
              </a:rPr>
              <a:t>[A-Z0-9]</a:t>
            </a:r>
            <a:r>
              <a:rPr sz="1550" b="0" lang="ar-SA" algn="r">
                <a:solidFill>
                  <a:srgbClr val="1A202A"/>
                </a:solidFill>
                <a:latin typeface="Segoe UI"/>
              </a:rPr>
              <a:t> بشرطين حسابيين</a:t>
            </a:r>
          </a:p>
          <a:p>
            <a:pPr algn="r" marL="0" indent="0" rtl="1">
              <a:lnSpc>
                <a:spcPct val="108000"/>
              </a:lnSpc>
              <a:spcAft>
                <a:spcPts val="800"/>
              </a:spcAft>
            </a:pPr>
            <a:r>
              <a:rPr sz="1550" b="1" lang="ar-SA" algn="r">
                <a:solidFill>
                  <a:srgbClr val="C59421"/>
                </a:solidFill>
                <a:latin typeface="Segoe UI"/>
              </a:rPr>
              <a:t>•  </a:t>
            </a:r>
            <a:r>
              <a:rPr sz="1550" b="0" lang="ar-SA" algn="r">
                <a:solidFill>
                  <a:srgbClr val="1A202A"/>
                </a:solidFill>
                <a:latin typeface="Segoe UI"/>
              </a:rPr>
              <a:t>طبقة 2 — **حالة مخزَّنة** في </a:t>
            </a:r>
            <a:r>
              <a:rPr sz="1550" b="1" lang="ar-SA" algn="r">
                <a:solidFill>
                  <a:srgbClr val="8A5F0A"/>
                </a:solidFill>
                <a:latin typeface="Consolas"/>
              </a:rPr>
              <a:t>HKCU\…\RuntimeState</a:t>
            </a:r>
          </a:p>
          <a:p>
            <a:pPr algn="r" marL="0" indent="0" rtl="1">
              <a:lnSpc>
                <a:spcPct val="108000"/>
              </a:lnSpc>
              <a:spcAft>
                <a:spcPts val="800"/>
              </a:spcAft>
            </a:pPr>
            <a:r>
              <a:rPr sz="1550" b="1" lang="ar-SA" algn="r">
                <a:solidFill>
                  <a:srgbClr val="C59421"/>
                </a:solidFill>
                <a:latin typeface="Segoe UI"/>
              </a:rPr>
              <a:t>•  </a:t>
            </a:r>
            <a:r>
              <a:rPr sz="1550" b="0" lang="ar-SA" algn="r">
                <a:solidFill>
                  <a:srgbClr val="1A202A"/>
                </a:solidFill>
                <a:latin typeface="Segoe UI"/>
              </a:rPr>
              <a:t>طبقة 3 — **ملف احتياطي** </a:t>
            </a:r>
            <a:r>
              <a:rPr sz="1550" b="1" lang="ar-SA" algn="r">
                <a:solidFill>
                  <a:srgbClr val="8A5F0A"/>
                </a:solidFill>
                <a:latin typeface="Consolas"/>
              </a:rPr>
              <a:t>state.enc</a:t>
            </a:r>
            <a:r>
              <a:rPr sz="1550" b="0" lang="ar-SA" algn="r">
                <a:solidFill>
                  <a:srgbClr val="1A202A"/>
                </a:solidFill>
                <a:latin typeface="Segoe UI"/>
              </a:rPr>
              <a:t> (AES-128 + بصمة الجهاز)</a:t>
            </a:r>
          </a:p>
          <a:p>
            <a:pPr algn="r" marL="0" indent="0" rtl="1">
              <a:lnSpc>
                <a:spcPct val="108000"/>
              </a:lnSpc>
              <a:spcAft>
                <a:spcPts val="800"/>
              </a:spcAft>
            </a:pPr>
            <a:r>
              <a:rPr sz="1550" b="1" lang="ar-SA" algn="r">
                <a:solidFill>
                  <a:srgbClr val="C59421"/>
                </a:solidFill>
                <a:latin typeface="Segoe UI"/>
              </a:rPr>
              <a:t>•  </a:t>
            </a:r>
            <a:r>
              <a:rPr sz="1550" b="0" lang="ar-SA" algn="r">
                <a:solidFill>
                  <a:srgbClr val="1A202A"/>
                </a:solidFill>
                <a:latin typeface="Segoe UI"/>
              </a:rPr>
              <a:t>تجربة 7 أيام من </a:t>
            </a:r>
            <a:r>
              <a:rPr sz="1550" b="1" lang="ar-SA" algn="r">
                <a:solidFill>
                  <a:srgbClr val="8A5F0A"/>
                </a:solidFill>
                <a:latin typeface="Consolas"/>
              </a:rPr>
              <a:t>InstallDate</a:t>
            </a:r>
            <a:r>
              <a:rPr sz="1550" b="0" lang="ar-SA" algn="r">
                <a:solidFill>
                  <a:srgbClr val="1A202A"/>
                </a:solidFill>
                <a:latin typeface="Segoe UI"/>
              </a:rPr>
              <a:t> — تُقرأ مرة واحدة عند الإقلاع</a:t>
            </a:r>
          </a:p>
          <a:p>
            <a:pPr algn="r" marL="0" indent="0" rtl="1">
              <a:lnSpc>
                <a:spcPct val="108000"/>
              </a:lnSpc>
              <a:spcAft>
                <a:spcPts val="800"/>
              </a:spcAft>
            </a:pPr>
            <a:r>
              <a:rPr sz="1550" b="1" lang="ar-SA" algn="r">
                <a:solidFill>
                  <a:srgbClr val="C59421"/>
                </a:solidFill>
                <a:latin typeface="Segoe UI"/>
              </a:rPr>
              <a:t>•  </a:t>
            </a:r>
            <a:r>
              <a:rPr sz="1550" b="0" lang="ar-SA" algn="r">
                <a:solidFill>
                  <a:srgbClr val="1A202A"/>
                </a:solidFill>
                <a:latin typeface="Segoe UI"/>
              </a:rPr>
              <a:t>لا خادم، لا توقيع، لا فحص تكامل — </a:t>
            </a:r>
            <a:r>
              <a:rPr sz="1550" b="1" lang="ar-SA" algn="r">
                <a:solidFill>
                  <a:srgbClr val="1A202A"/>
                </a:solidFill>
                <a:latin typeface="Segoe UI"/>
              </a:rPr>
              <a:t>عمداً</a:t>
            </a:r>
            <a:r>
              <a:rPr sz="1550" b="0" lang="ar-SA" algn="r">
                <a:solidFill>
                  <a:srgbClr val="1A202A"/>
                </a:solidFill>
                <a:latin typeface="Segoe UI"/>
              </a:rPr>
              <a:t>: هدف تعليمي</a:t>
            </a:r>
          </a:p>
        </p:txBody>
      </p:sp>
      <p:sp>
        <p:nvSpPr>
          <p:cNvPr id="9" name="Rounded Rectangle 8"/>
          <p:cNvSpPr/>
          <p:nvPr/>
        </p:nvSpPr>
        <p:spPr>
          <a:xfrm>
            <a:off x="566928" y="1389888"/>
            <a:ext cx="4343400" cy="3200400"/>
          </a:xfrm>
          <a:prstGeom prst="roundRect">
            <a:avLst/>
          </a:prstGeom>
          <a:solidFill>
            <a:srgbClr val="0B1D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841248" y="1591056"/>
            <a:ext cx="3794760" cy="566928"/>
          </a:xfrm>
          <a:prstGeom prst="roundRect">
            <a:avLst/>
          </a:prstGeom>
          <a:solidFill>
            <a:srgbClr val="1F3C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1636776"/>
            <a:ext cx="3566160" cy="274320"/>
          </a:xfrm>
          <a:prstGeom prst="rect">
            <a:avLst/>
          </a:prstGeom>
          <a:noFill/>
        </p:spPr>
        <p:txBody>
          <a:bodyPr wrap="square" anchor="t" lIns="18288" rIns="18288" tIns="0" bIns="0">
            <a:spAutoFit/>
          </a:bodyPr>
          <a:lstStyle/>
          <a:p>
            <a:pPr algn="r" marL="0" indent="0" rtl="1">
              <a:lnSpc>
                <a:spcPct val="100000"/>
              </a:lnSpc>
              <a:spcAft>
                <a:spcPts val="600"/>
              </a:spcAft>
            </a:pPr>
            <a:r>
              <a:rPr sz="1400" b="1" lang="ar-SA" algn="r">
                <a:solidFill>
                  <a:srgbClr val="FFFFFF"/>
                </a:solidFill>
                <a:latin typeface="Segoe UI"/>
              </a:rPr>
              <a:t>مفتاح الترخيص</a:t>
            </a:r>
          </a:p>
        </p:txBody>
      </p:sp>
      <p:sp>
        <p:nvSpPr>
          <p:cNvPr id="12" name="TextBox 11"/>
          <p:cNvSpPr txBox="1"/>
          <p:nvPr/>
        </p:nvSpPr>
        <p:spPr>
          <a:xfrm>
            <a:off x="1005840" y="1865376"/>
            <a:ext cx="3566160" cy="256032"/>
          </a:xfrm>
          <a:prstGeom prst="rect">
            <a:avLst/>
          </a:prstGeom>
          <a:noFill/>
        </p:spPr>
        <p:txBody>
          <a:bodyPr wrap="square" anchor="t" lIns="18288" rIns="18288" tIns="0" bIns="0">
            <a:spAutoFit/>
          </a:bodyPr>
          <a:lstStyle/>
          <a:p>
            <a:pPr algn="r" marL="0" indent="0" rtl="1">
              <a:lnSpc>
                <a:spcPct val="100000"/>
              </a:lnSpc>
              <a:spcAft>
                <a:spcPts val="600"/>
              </a:spcAft>
            </a:pPr>
            <a:r>
              <a:rPr sz="1150" b="0" lang="ar-SA" algn="r">
                <a:solidFill>
                  <a:srgbClr val="CBDDF0"/>
                </a:solidFill>
                <a:latin typeface="Segoe UI"/>
              </a:rPr>
              <a:t>صيغة + حساب</a:t>
            </a:r>
          </a:p>
        </p:txBody>
      </p:sp>
      <p:sp>
        <p:nvSpPr>
          <p:cNvPr id="13" name="Rounded Rectangle 12"/>
          <p:cNvSpPr/>
          <p:nvPr/>
        </p:nvSpPr>
        <p:spPr>
          <a:xfrm>
            <a:off x="841248" y="2304288"/>
            <a:ext cx="3794760" cy="566928"/>
          </a:xfrm>
          <a:prstGeom prst="roundRect">
            <a:avLst/>
          </a:prstGeom>
          <a:solidFill>
            <a:srgbClr val="274A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05840" y="2350008"/>
            <a:ext cx="3566160" cy="274320"/>
          </a:xfrm>
          <a:prstGeom prst="rect">
            <a:avLst/>
          </a:prstGeom>
          <a:noFill/>
        </p:spPr>
        <p:txBody>
          <a:bodyPr wrap="square" anchor="t" lIns="18288" rIns="18288" tIns="0" bIns="0">
            <a:spAutoFit/>
          </a:bodyPr>
          <a:lstStyle/>
          <a:p>
            <a:pPr algn="r" marL="0" indent="0" rtl="1">
              <a:lnSpc>
                <a:spcPct val="100000"/>
              </a:lnSpc>
              <a:spcAft>
                <a:spcPts val="600"/>
              </a:spcAft>
            </a:pPr>
            <a:r>
              <a:rPr sz="1400" b="1" lang="ar-SA" algn="r">
                <a:solidFill>
                  <a:srgbClr val="FFFFFF"/>
                </a:solidFill>
                <a:latin typeface="Segoe UI"/>
              </a:rPr>
              <a:t>ActivationBlob</a:t>
            </a:r>
          </a:p>
        </p:txBody>
      </p:sp>
      <p:sp>
        <p:nvSpPr>
          <p:cNvPr id="15" name="TextBox 14"/>
          <p:cNvSpPr txBox="1"/>
          <p:nvPr/>
        </p:nvSpPr>
        <p:spPr>
          <a:xfrm>
            <a:off x="1005840" y="2578608"/>
            <a:ext cx="3566160" cy="256032"/>
          </a:xfrm>
          <a:prstGeom prst="rect">
            <a:avLst/>
          </a:prstGeom>
          <a:noFill/>
        </p:spPr>
        <p:txBody>
          <a:bodyPr wrap="square" anchor="t" lIns="18288" rIns="18288" tIns="0" bIns="0">
            <a:spAutoFit/>
          </a:bodyPr>
          <a:lstStyle/>
          <a:p>
            <a:pPr algn="r" marL="0" indent="0" rtl="1">
              <a:lnSpc>
                <a:spcPct val="100000"/>
              </a:lnSpc>
              <a:spcAft>
                <a:spcPts val="600"/>
              </a:spcAft>
            </a:pPr>
            <a:r>
              <a:rPr sz="1150" b="0" lang="ar-SA" algn="r">
                <a:solidFill>
                  <a:srgbClr val="CBDDF0"/>
                </a:solidFill>
                <a:latin typeface="Segoe UI"/>
              </a:rPr>
              <a:t>قيمة في Registry</a:t>
            </a:r>
          </a:p>
        </p:txBody>
      </p:sp>
      <p:sp>
        <p:nvSpPr>
          <p:cNvPr id="16" name="Rounded Rectangle 15"/>
          <p:cNvSpPr/>
          <p:nvPr/>
        </p:nvSpPr>
        <p:spPr>
          <a:xfrm>
            <a:off x="841248" y="3017520"/>
            <a:ext cx="3794760" cy="566928"/>
          </a:xfrm>
          <a:prstGeom prst="roundRect">
            <a:avLst/>
          </a:prstGeom>
          <a:solidFill>
            <a:srgbClr val="2E59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3063240"/>
            <a:ext cx="3566160" cy="274320"/>
          </a:xfrm>
          <a:prstGeom prst="rect">
            <a:avLst/>
          </a:prstGeom>
          <a:noFill/>
        </p:spPr>
        <p:txBody>
          <a:bodyPr wrap="square" anchor="t" lIns="18288" rIns="18288" tIns="0" bIns="0">
            <a:spAutoFit/>
          </a:bodyPr>
          <a:lstStyle/>
          <a:p>
            <a:pPr algn="r" marL="0" indent="0" rtl="1">
              <a:lnSpc>
                <a:spcPct val="100000"/>
              </a:lnSpc>
              <a:spcAft>
                <a:spcPts val="600"/>
              </a:spcAft>
            </a:pPr>
            <a:r>
              <a:rPr sz="1400" b="1" lang="ar-SA" algn="r">
                <a:solidFill>
                  <a:srgbClr val="FFFFFF"/>
                </a:solidFill>
                <a:latin typeface="Segoe UI"/>
              </a:rPr>
              <a:t>state.enc</a:t>
            </a:r>
          </a:p>
        </p:txBody>
      </p:sp>
      <p:sp>
        <p:nvSpPr>
          <p:cNvPr id="18" name="TextBox 17"/>
          <p:cNvSpPr txBox="1"/>
          <p:nvPr/>
        </p:nvSpPr>
        <p:spPr>
          <a:xfrm>
            <a:off x="1005840" y="3291840"/>
            <a:ext cx="3566160" cy="256032"/>
          </a:xfrm>
          <a:prstGeom prst="rect">
            <a:avLst/>
          </a:prstGeom>
          <a:noFill/>
        </p:spPr>
        <p:txBody>
          <a:bodyPr wrap="square" anchor="t" lIns="18288" rIns="18288" tIns="0" bIns="0">
            <a:spAutoFit/>
          </a:bodyPr>
          <a:lstStyle/>
          <a:p>
            <a:pPr algn="r" marL="0" indent="0" rtl="1">
              <a:lnSpc>
                <a:spcPct val="100000"/>
              </a:lnSpc>
              <a:spcAft>
                <a:spcPts val="600"/>
              </a:spcAft>
            </a:pPr>
            <a:r>
              <a:rPr sz="1150" b="0" lang="ar-SA" algn="r">
                <a:solidFill>
                  <a:srgbClr val="CBDDF0"/>
                </a:solidFill>
                <a:latin typeface="Segoe UI"/>
              </a:rPr>
              <a:t>ملف مشفّر بمفتاح ثابت</a:t>
            </a:r>
          </a:p>
        </p:txBody>
      </p:sp>
      <p:sp>
        <p:nvSpPr>
          <p:cNvPr id="19" name="Rounded Rectangle 18"/>
          <p:cNvSpPr/>
          <p:nvPr/>
        </p:nvSpPr>
        <p:spPr>
          <a:xfrm>
            <a:off x="841248" y="3730752"/>
            <a:ext cx="3794760" cy="566928"/>
          </a:xfrm>
          <a:prstGeom prst="round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005840" y="3776472"/>
            <a:ext cx="3566160" cy="274320"/>
          </a:xfrm>
          <a:prstGeom prst="rect">
            <a:avLst/>
          </a:prstGeom>
          <a:noFill/>
        </p:spPr>
        <p:txBody>
          <a:bodyPr wrap="square" anchor="t" lIns="18288" rIns="18288" tIns="0" bIns="0">
            <a:spAutoFit/>
          </a:bodyPr>
          <a:lstStyle/>
          <a:p>
            <a:pPr algn="r" marL="0" indent="0" rtl="1">
              <a:lnSpc>
                <a:spcPct val="100000"/>
              </a:lnSpc>
              <a:spcAft>
                <a:spcPts val="600"/>
              </a:spcAft>
            </a:pPr>
            <a:r>
              <a:rPr sz="1400" b="1" lang="ar-SA" algn="r">
                <a:solidFill>
                  <a:srgbClr val="FFFFFF"/>
                </a:solidFill>
                <a:latin typeface="Consolas"/>
              </a:rPr>
              <a:t>EvaluateCurrentState</a:t>
            </a:r>
          </a:p>
        </p:txBody>
      </p:sp>
      <p:sp>
        <p:nvSpPr>
          <p:cNvPr id="21" name="TextBox 20"/>
          <p:cNvSpPr txBox="1"/>
          <p:nvPr/>
        </p:nvSpPr>
        <p:spPr>
          <a:xfrm>
            <a:off x="1005840" y="4005072"/>
            <a:ext cx="3566160" cy="256032"/>
          </a:xfrm>
          <a:prstGeom prst="rect">
            <a:avLst/>
          </a:prstGeom>
          <a:noFill/>
        </p:spPr>
        <p:txBody>
          <a:bodyPr wrap="square" anchor="t" lIns="18288" rIns="18288" tIns="0" bIns="0">
            <a:spAutoFit/>
          </a:bodyPr>
          <a:lstStyle/>
          <a:p>
            <a:pPr algn="r" marL="0" indent="0" rtl="1">
              <a:lnSpc>
                <a:spcPct val="100000"/>
              </a:lnSpc>
              <a:spcAft>
                <a:spcPts val="600"/>
              </a:spcAft>
            </a:pPr>
            <a:r>
              <a:rPr sz="1150" b="0" lang="ar-SA" algn="r">
                <a:solidFill>
                  <a:srgbClr val="CBDDF0"/>
                </a:solidFill>
                <a:latin typeface="Segoe UI"/>
              </a:rPr>
              <a:t>بوابة الإقلاع → PRO / تجربة</a:t>
            </a:r>
          </a:p>
        </p:txBody>
      </p:sp>
      <p:sp>
        <p:nvSpPr>
          <p:cNvPr id="22" name="TextBox 21"/>
          <p:cNvSpPr txBox="1"/>
          <p:nvPr/>
        </p:nvSpPr>
        <p:spPr>
          <a:xfrm>
            <a:off x="566928" y="4681728"/>
            <a:ext cx="4343400" cy="457200"/>
          </a:xfrm>
          <a:prstGeom prst="rect">
            <a:avLst/>
          </a:prstGeom>
          <a:noFill/>
        </p:spPr>
        <p:txBody>
          <a:bodyPr wrap="square" anchor="t" lIns="18288" rIns="18288" tIns="0" bIns="0">
            <a:spAutoFit/>
          </a:bodyPr>
          <a:lstStyle/>
          <a:p>
            <a:pPr algn="r" marL="0" indent="0" rtl="1">
              <a:lnSpc>
                <a:spcPct val="100000"/>
              </a:lnSpc>
              <a:spcAft>
                <a:spcPts val="600"/>
              </a:spcAft>
            </a:pPr>
            <a:r>
              <a:rPr sz="1400" b="1" lang="ar-SA" algn="r">
                <a:solidFill>
                  <a:srgbClr val="B82424"/>
                </a:solidFill>
                <a:latin typeface="Segoe UI"/>
              </a:rPr>
              <a:t>كل طبقة أضعف مما تبدو — وهذا هو المشروع كله</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57200" y="237744"/>
            <a:ext cx="5943600" cy="274320"/>
          </a:xfrm>
          <a:prstGeom prst="rect">
            <a:avLst/>
          </a:prstGeom>
          <a:noFill/>
        </p:spPr>
        <p:txBody>
          <a:bodyPr wrap="square" anchor="t" lIns="18288" rIns="18288" tIns="0" bIns="0">
            <a:spAutoFit/>
          </a:bodyPr>
          <a:lstStyle/>
          <a:p>
            <a:pPr algn="l" marL="0" indent="0" rtl="1">
              <a:lnSpc>
                <a:spcPct val="100000"/>
              </a:lnSpc>
              <a:spcAft>
                <a:spcPts val="600"/>
              </a:spcAft>
            </a:pPr>
            <a:r>
              <a:rPr sz="1200" b="0" lang="ar-SA" algn="l">
                <a:solidFill>
                  <a:srgbClr val="6C7C8C"/>
                </a:solidFill>
                <a:latin typeface="Consolas"/>
              </a:rPr>
              <a:t>03 · THE DECISION</a:t>
            </a:r>
          </a:p>
        </p:txBody>
      </p:sp>
      <p:sp>
        <p:nvSpPr>
          <p:cNvPr id="5" name="TextBox 4"/>
          <p:cNvSpPr txBox="1"/>
          <p:nvPr/>
        </p:nvSpPr>
        <p:spPr>
          <a:xfrm>
            <a:off x="5242255" y="182880"/>
            <a:ext cx="6492240" cy="566928"/>
          </a:xfrm>
          <a:prstGeom prst="rect">
            <a:avLst/>
          </a:prstGeom>
          <a:noFill/>
        </p:spPr>
        <p:txBody>
          <a:bodyPr wrap="square" anchor="t" lIns="18288" rIns="18288" tIns="0" bIns="0">
            <a:spAutoFit/>
          </a:bodyPr>
          <a:lstStyle/>
          <a:p>
            <a:pPr algn="r" marL="0" indent="0" rtl="1">
              <a:lnSpc>
                <a:spcPct val="100000"/>
              </a:lnSpc>
              <a:spcAft>
                <a:spcPts val="600"/>
              </a:spcAft>
            </a:pPr>
            <a:r>
              <a:rPr sz="3000" b="1" lang="ar-SA" algn="r">
                <a:solidFill>
                  <a:srgbClr val="0B1D34"/>
                </a:solidFill>
                <a:latin typeface="Segoe UI"/>
              </a:rPr>
              <a:t>كل حماية = فحص + قرار</a:t>
            </a:r>
          </a:p>
        </p:txBody>
      </p:sp>
      <p:sp>
        <p:nvSpPr>
          <p:cNvPr id="6" name="Rectangle 5"/>
          <p:cNvSpPr/>
          <p:nvPr/>
        </p:nvSpPr>
        <p:spPr>
          <a:xfrm>
            <a:off x="8899855" y="822960"/>
            <a:ext cx="2834640" cy="406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242255" y="914400"/>
            <a:ext cx="64922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6C7C8C"/>
                </a:solidFill>
                <a:latin typeface="Segoe UI"/>
              </a:rPr>
              <a:t>وأين القرار في MizanPro؟ هنا بالضبط</a:t>
            </a:r>
          </a:p>
        </p:txBody>
      </p:sp>
      <p:sp>
        <p:nvSpPr>
          <p:cNvPr id="8" name="Rectangle 7"/>
          <p:cNvSpPr/>
          <p:nvPr/>
        </p:nvSpPr>
        <p:spPr>
          <a:xfrm>
            <a:off x="5287975" y="1344168"/>
            <a:ext cx="6446520" cy="2331720"/>
          </a:xfrm>
          <a:prstGeom prst="rect">
            <a:avLst/>
          </a:prstGeom>
          <a:solidFill>
            <a:srgbClr val="141D2C"/>
          </a:solidFill>
          <a:ln w="12700">
            <a:solidFill>
              <a:srgbClr val="C59421"/>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a:lstStyle/>
          <a:p>
            <a:pPr algn="ctr">
              <a:spcAft>
                <a:spcPts val="600"/>
              </a:spcAft>
            </a:pPr>
            <a:r>
              <a:rPr sz="1150" b="1">
                <a:solidFill>
                  <a:srgbClr val="8CACD0"/>
                </a:solidFill>
                <a:latin typeface="Consolas"/>
              </a:rPr>
              <a:t>دالة التحقق كاملة — 5 أسطر تُحدّد كل شيء</a:t>
            </a:r>
          </a:p>
          <a:p>
            <a:pPr algn="l" marL="0" indent="0">
              <a:lnSpc>
                <a:spcPct val="102000"/>
              </a:lnSpc>
              <a:spcAft>
                <a:spcPts val="200"/>
              </a:spcAft>
            </a:pPr>
            <a:r>
              <a:rPr sz="1350" lang="ar-SA">
                <a:solidFill>
                  <a:srgbClr val="E2ECF8"/>
                </a:solidFill>
                <a:latin typeface="Consolas"/>
              </a:rPr>
              <a:t>// Core/Engine/TokenProcessor.cs</a:t>
            </a:r>
          </a:p>
          <a:p>
            <a:pPr algn="l" marL="0" indent="0">
              <a:lnSpc>
                <a:spcPct val="102000"/>
              </a:lnSpc>
              <a:spcAft>
                <a:spcPts val="200"/>
              </a:spcAft>
            </a:pPr>
            <a:r>
              <a:rPr sz="1350" lang="ar-SA">
                <a:solidFill>
                  <a:srgbClr val="E2ECF8"/>
                </a:solidFill>
                <a:latin typeface="Consolas"/>
              </a:rPr>
              <a:t>int  sum = clean.Sum(c =&gt; (int)c);</a:t>
            </a:r>
          </a:p>
          <a:p>
            <a:pPr algn="l" marL="0" indent="0">
              <a:lnSpc>
                <a:spcPct val="102000"/>
              </a:lnSpc>
              <a:spcAft>
                <a:spcPts val="200"/>
              </a:spcAft>
            </a:pPr>
            <a:r>
              <a:rPr sz="1350" lang="ar-SA">
                <a:solidFill>
                  <a:srgbClr val="E2ECF8"/>
                </a:solidFill>
                <a:latin typeface="Consolas"/>
              </a:rPr>
              <a:t>byte xor = 0;</a:t>
            </a:r>
          </a:p>
          <a:p>
            <a:pPr algn="l" marL="0" indent="0">
              <a:lnSpc>
                <a:spcPct val="102000"/>
              </a:lnSpc>
              <a:spcAft>
                <a:spcPts val="200"/>
              </a:spcAft>
            </a:pPr>
            <a:r>
              <a:rPr sz="1350" lang="ar-SA">
                <a:solidFill>
                  <a:srgbClr val="E2ECF8"/>
                </a:solidFill>
                <a:latin typeface="Consolas"/>
              </a:rPr>
              <a:t>foreach (char c in clean) xor ^= (byte)c;</a:t>
            </a:r>
          </a:p>
          <a:p>
            <a:pPr algn="l" marL="0" indent="0">
              <a:lnSpc>
                <a:spcPct val="102000"/>
              </a:lnSpc>
              <a:spcAft>
                <a:spcPts val="200"/>
              </a:spcAft>
            </a:pPr>
            <a:r>
              <a:rPr sz="1350" lang="ar-SA">
                <a:solidFill>
                  <a:srgbClr val="E2ECF8"/>
                </a:solidFill>
                <a:latin typeface="Consolas"/>
              </a:rPr>
              <a:t/>
            </a:r>
          </a:p>
          <a:p>
            <a:pPr algn="l" marL="0" indent="0">
              <a:lnSpc>
                <a:spcPct val="102000"/>
              </a:lnSpc>
              <a:spcAft>
                <a:spcPts val="200"/>
              </a:spcAft>
            </a:pPr>
            <a:r>
              <a:rPr sz="1350" lang="ar-SA">
                <a:solidFill>
                  <a:srgbClr val="E2ECF8"/>
                </a:solidFill>
                <a:latin typeface="Consolas"/>
              </a:rPr>
              <a:t>return sum % 73 == 0 &amp;&amp; xor == RequiredXor;   // RequiredXor = 0x0A (const)</a:t>
            </a:r>
          </a:p>
        </p:txBody>
      </p:sp>
      <p:sp>
        <p:nvSpPr>
          <p:cNvPr id="9" name="TextBox 8"/>
          <p:cNvSpPr txBox="1"/>
          <p:nvPr/>
        </p:nvSpPr>
        <p:spPr>
          <a:xfrm>
            <a:off x="566928" y="1435608"/>
            <a:ext cx="4069080" cy="2286000"/>
          </a:xfrm>
          <a:prstGeom prst="rect">
            <a:avLst/>
          </a:prstGeom>
          <a:noFill/>
        </p:spPr>
        <p:txBody>
          <a:bodyPr wrap="square" lIns="18288" rIns="18288" tIns="0" bIns="0">
            <a:spAutoFit/>
          </a:bodyPr>
          <a:lstStyle/>
          <a:p>
            <a:pPr algn="r" marL="0" indent="0" rtl="1">
              <a:lnSpc>
                <a:spcPct val="108000"/>
              </a:lnSpc>
              <a:spcAft>
                <a:spcPts val="800"/>
              </a:spcAft>
            </a:pPr>
            <a:r>
              <a:rPr sz="1500" b="1" lang="ar-SA" algn="r">
                <a:solidFill>
                  <a:srgbClr val="C59421"/>
                </a:solidFill>
                <a:latin typeface="Segoe UI"/>
              </a:rPr>
              <a:t>•  </a:t>
            </a:r>
            <a:r>
              <a:rPr sz="1500" b="0" lang="ar-SA" algn="r">
                <a:solidFill>
                  <a:srgbClr val="1A202A"/>
                </a:solidFill>
                <a:latin typeface="Segoe UI"/>
              </a:rPr>
              <a:t>**قرار واحد** في </a:t>
            </a:r>
            <a:r>
              <a:rPr sz="1500" b="1" lang="ar-SA" algn="r">
                <a:solidFill>
                  <a:srgbClr val="8A5F0A"/>
                </a:solidFill>
                <a:latin typeface="Consolas"/>
              </a:rPr>
              <a:t>ParseAndVerify</a:t>
            </a:r>
            <a:r>
              <a:rPr sz="1500" b="0" lang="ar-SA" algn="r">
                <a:solidFill>
                  <a:srgbClr val="1A202A"/>
                </a:solidFill>
                <a:latin typeface="Segoe UI"/>
              </a:rPr>
              <a:t> — كل الطبقات الأخرى تصدّق نتيجته</a:t>
            </a:r>
          </a:p>
          <a:p>
            <a:pPr algn="r" marL="0" indent="0" rtl="1">
              <a:lnSpc>
                <a:spcPct val="108000"/>
              </a:lnSpc>
              <a:spcAft>
                <a:spcPts val="800"/>
              </a:spcAft>
            </a:pPr>
            <a:r>
              <a:rPr sz="1500" b="1" lang="ar-SA" algn="r">
                <a:solidFill>
                  <a:srgbClr val="C59421"/>
                </a:solidFill>
                <a:latin typeface="Segoe UI"/>
              </a:rPr>
              <a:t>•  </a:t>
            </a:r>
            <a:r>
              <a:rPr sz="1500" b="0" lang="ar-SA" algn="r">
                <a:solidFill>
                  <a:srgbClr val="1A202A"/>
                </a:solidFill>
                <a:latin typeface="Segoe UI"/>
              </a:rPr>
              <a:t>لا بصمة جهاز في المفتاح، ولا تاريخ صلاحية</a:t>
            </a:r>
          </a:p>
          <a:p>
            <a:pPr algn="r" marL="0" indent="0" rtl="1">
              <a:lnSpc>
                <a:spcPct val="108000"/>
              </a:lnSpc>
              <a:spcAft>
                <a:spcPts val="800"/>
              </a:spcAft>
            </a:pPr>
            <a:r>
              <a:rPr sz="1500" b="1" lang="ar-SA" algn="r">
                <a:solidFill>
                  <a:srgbClr val="C59421"/>
                </a:solidFill>
                <a:latin typeface="Segoe UI"/>
              </a:rPr>
              <a:t>•  </a:t>
            </a:r>
            <a:r>
              <a:rPr sz="1500" b="0" lang="ar-SA" algn="r">
                <a:solidFill>
                  <a:srgbClr val="1A202A"/>
                </a:solidFill>
                <a:latin typeface="Segoe UI"/>
              </a:rPr>
              <a:t>فحصان «ضعيفان» تعمداً: قابلان </a:t>
            </a:r>
            <a:r>
              <a:rPr sz="1500" b="1" lang="ar-SA" algn="r">
                <a:solidFill>
                  <a:srgbClr val="1A202A"/>
                </a:solidFill>
                <a:latin typeface="Segoe UI"/>
              </a:rPr>
              <a:t>للاشتقاق</a:t>
            </a:r>
          </a:p>
        </p:txBody>
      </p:sp>
      <p:sp>
        <p:nvSpPr>
          <p:cNvPr id="10" name="Rectangle 9"/>
          <p:cNvSpPr/>
          <p:nvPr/>
        </p:nvSpPr>
        <p:spPr>
          <a:xfrm>
            <a:off x="5287975" y="3813048"/>
            <a:ext cx="6446520" cy="1188720"/>
          </a:xfrm>
          <a:prstGeom prst="rect">
            <a:avLst/>
          </a:prstGeom>
          <a:solidFill>
            <a:srgbClr val="F6F8FB"/>
          </a:solidFill>
          <a:ln w="19050">
            <a:solidFill>
              <a:srgbClr val="C594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516575" y="3904488"/>
            <a:ext cx="6035040" cy="1005840"/>
          </a:xfrm>
          <a:prstGeom prst="rect">
            <a:avLst/>
          </a:prstGeom>
          <a:noFill/>
        </p:spPr>
        <p:txBody>
          <a:bodyPr wrap="square" anchor="t" lIns="18288" rIns="18288" tIns="0" bIns="0">
            <a:spAutoFit/>
          </a:bodyPr>
          <a:lstStyle/>
          <a:p>
            <a:pPr algn="r" marL="0" indent="0" rtl="1">
              <a:lnSpc>
                <a:spcPct val="100000"/>
              </a:lnSpc>
              <a:spcAft>
                <a:spcPts val="600"/>
              </a:spcAft>
            </a:pPr>
            <a:r>
              <a:rPr sz="1600" b="1" lang="ar-SA" algn="r">
                <a:solidFill>
                  <a:srgbClr val="B82424"/>
                </a:solidFill>
                <a:latin typeface="Segoe UI"/>
              </a:rPr>
              <a:t>(القاعدة الذهبية) </a:t>
            </a:r>
            <a:r>
              <a:rPr sz="1600" b="0" lang="ar-SA" algn="r">
                <a:solidFill>
                  <a:srgbClr val="1A202A"/>
                </a:solidFill>
                <a:latin typeface="Segoe UI"/>
              </a:rPr>
              <a:t>«أين يُتَّخذ القرار؟» — كل كسر حقيقي هو جملة واحدة: </a:t>
            </a:r>
            <a:r>
              <a:rPr sz="1600" b="1" lang="ar-SA" algn="r">
                <a:solidFill>
                  <a:srgbClr val="0B1D34"/>
                </a:solidFill>
                <a:latin typeface="Segoe UI"/>
              </a:rPr>
              <a:t>«القرار في الدالة X ← سأجعل X تُرجع ما أريد»</a:t>
            </a:r>
          </a:p>
        </p:txBody>
      </p:sp>
      <p:sp>
        <p:nvSpPr>
          <p:cNvPr id="12" name="Rectangle 11"/>
          <p:cNvSpPr/>
          <p:nvPr/>
        </p:nvSpPr>
        <p:spPr>
          <a:xfrm>
            <a:off x="566928" y="4041648"/>
            <a:ext cx="4069080" cy="310896"/>
          </a:xfrm>
          <a:prstGeom prst="rect">
            <a:avLst/>
          </a:prstGeom>
          <a:solidFill>
            <a:srgbClr val="142C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marL="0" indent="0" rtl="1"/>
            <a:r>
              <a:rPr sz="1200" b="1" lang="ar-SA" algn="ctr">
                <a:solidFill>
                  <a:srgbClr val="FFFFFF"/>
                </a:solidFill>
                <a:latin typeface="Segoe UI"/>
              </a:rPr>
              <a:t>الفصل 5 + 7 في الـ PDF — التفاصيل الحرفية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57200" y="237744"/>
            <a:ext cx="5943600" cy="274320"/>
          </a:xfrm>
          <a:prstGeom prst="rect">
            <a:avLst/>
          </a:prstGeom>
          <a:noFill/>
        </p:spPr>
        <p:txBody>
          <a:bodyPr wrap="square" anchor="t" lIns="18288" rIns="18288" tIns="0" bIns="0">
            <a:spAutoFit/>
          </a:bodyPr>
          <a:lstStyle/>
          <a:p>
            <a:pPr algn="l" marL="0" indent="0" rtl="1">
              <a:lnSpc>
                <a:spcPct val="100000"/>
              </a:lnSpc>
              <a:spcAft>
                <a:spcPts val="600"/>
              </a:spcAft>
            </a:pPr>
            <a:r>
              <a:rPr sz="1200" b="0" lang="ar-SA" algn="l">
                <a:solidFill>
                  <a:srgbClr val="6C7C8C"/>
                </a:solidFill>
                <a:latin typeface="Consolas"/>
              </a:rPr>
              <a:t>04 · TOOLING</a:t>
            </a:r>
          </a:p>
        </p:txBody>
      </p:sp>
      <p:sp>
        <p:nvSpPr>
          <p:cNvPr id="5" name="TextBox 4"/>
          <p:cNvSpPr txBox="1"/>
          <p:nvPr/>
        </p:nvSpPr>
        <p:spPr>
          <a:xfrm>
            <a:off x="5242255" y="182880"/>
            <a:ext cx="6492240" cy="566928"/>
          </a:xfrm>
          <a:prstGeom prst="rect">
            <a:avLst/>
          </a:prstGeom>
          <a:noFill/>
        </p:spPr>
        <p:txBody>
          <a:bodyPr wrap="square" anchor="t" lIns="18288" rIns="18288" tIns="0" bIns="0">
            <a:spAutoFit/>
          </a:bodyPr>
          <a:lstStyle/>
          <a:p>
            <a:pPr algn="r" marL="0" indent="0" rtl="1">
              <a:lnSpc>
                <a:spcPct val="100000"/>
              </a:lnSpc>
              <a:spcAft>
                <a:spcPts val="600"/>
              </a:spcAft>
            </a:pPr>
            <a:r>
              <a:rPr sz="3000" b="1" lang="ar-SA" algn="r">
                <a:solidFill>
                  <a:srgbClr val="0B1D34"/>
                </a:solidFill>
                <a:latin typeface="Segoe UI"/>
              </a:rPr>
              <a:t>الأدوات — ولماذا x32dbg هو النجم</a:t>
            </a:r>
          </a:p>
        </p:txBody>
      </p:sp>
      <p:sp>
        <p:nvSpPr>
          <p:cNvPr id="6" name="Rectangle 5"/>
          <p:cNvSpPr/>
          <p:nvPr/>
        </p:nvSpPr>
        <p:spPr>
          <a:xfrm>
            <a:off x="8899855" y="822960"/>
            <a:ext cx="2834640" cy="406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242255" y="914400"/>
            <a:ext cx="64922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6C7C8C"/>
                </a:solidFill>
                <a:latin typeface="Segoe UI"/>
              </a:rPr>
              <a:t>كل أداة لها سؤال تجيب عليه، لا فضول</a:t>
            </a:r>
          </a:p>
        </p:txBody>
      </p:sp>
      <p:sp>
        <p:nvSpPr>
          <p:cNvPr id="8" name="Rectangle 7"/>
          <p:cNvSpPr/>
          <p:nvPr/>
        </p:nvSpPr>
        <p:spPr>
          <a:xfrm>
            <a:off x="566928" y="1298448"/>
            <a:ext cx="11064240" cy="640080"/>
          </a:xfrm>
          <a:prstGeom prst="rect">
            <a:avLst/>
          </a:prstGeom>
          <a:solidFill>
            <a:srgbClr val="FFFFFF"/>
          </a:solidFill>
          <a:ln w="9525">
            <a:solidFill>
              <a:srgbClr val="E2E9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11155680" y="1298448"/>
            <a:ext cx="475488" cy="64008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625535" y="1444752"/>
            <a:ext cx="2834640" cy="365760"/>
          </a:xfrm>
          <a:prstGeom prst="rect">
            <a:avLst/>
          </a:prstGeom>
          <a:noFill/>
        </p:spPr>
        <p:txBody>
          <a:bodyPr wrap="square" anchor="t" lIns="18288" rIns="18288" tIns="0" bIns="0">
            <a:spAutoFit/>
          </a:bodyPr>
          <a:lstStyle/>
          <a:p>
            <a:pPr algn="r" marL="0" indent="0" rtl="1">
              <a:lnSpc>
                <a:spcPct val="100000"/>
              </a:lnSpc>
              <a:spcAft>
                <a:spcPts val="600"/>
              </a:spcAft>
            </a:pPr>
            <a:r>
              <a:rPr sz="1700" b="1" lang="ar-SA" algn="r">
                <a:solidFill>
                  <a:srgbClr val="0B1D34"/>
                </a:solidFill>
                <a:latin typeface="Segoe UI"/>
              </a:rPr>
              <a:t>x32dbg</a:t>
            </a:r>
          </a:p>
        </p:txBody>
      </p:sp>
      <p:sp>
        <p:nvSpPr>
          <p:cNvPr id="11" name="TextBox 10"/>
          <p:cNvSpPr txBox="1"/>
          <p:nvPr/>
        </p:nvSpPr>
        <p:spPr>
          <a:xfrm>
            <a:off x="822960" y="1481328"/>
            <a:ext cx="96926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1A202A"/>
                </a:solidFill>
                <a:latin typeface="Segoe UI"/>
              </a:rPr>
              <a:t>نقاط توقف، ذاكرة، سجلات، رتق بايتات — **يرى ما ينفّذه المعالج**</a:t>
            </a:r>
          </a:p>
        </p:txBody>
      </p:sp>
      <p:sp>
        <p:nvSpPr>
          <p:cNvPr id="12" name="Rectangle 11"/>
          <p:cNvSpPr/>
          <p:nvPr/>
        </p:nvSpPr>
        <p:spPr>
          <a:xfrm>
            <a:off x="566928" y="2048256"/>
            <a:ext cx="11064240" cy="640080"/>
          </a:xfrm>
          <a:prstGeom prst="rect">
            <a:avLst/>
          </a:prstGeom>
          <a:solidFill>
            <a:srgbClr val="FFFFFF"/>
          </a:solidFill>
          <a:ln w="9525">
            <a:solidFill>
              <a:srgbClr val="E2E9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11155680" y="2048256"/>
            <a:ext cx="475488" cy="640080"/>
          </a:xfrm>
          <a:prstGeom prst="rect">
            <a:avLst/>
          </a:prstGeom>
          <a:solidFill>
            <a:srgbClr val="142C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25535" y="2194560"/>
            <a:ext cx="2834640" cy="365760"/>
          </a:xfrm>
          <a:prstGeom prst="rect">
            <a:avLst/>
          </a:prstGeom>
          <a:noFill/>
        </p:spPr>
        <p:txBody>
          <a:bodyPr wrap="square" anchor="t" lIns="18288" rIns="18288" tIns="0" bIns="0">
            <a:spAutoFit/>
          </a:bodyPr>
          <a:lstStyle/>
          <a:p>
            <a:pPr algn="r" marL="0" indent="0" rtl="1">
              <a:lnSpc>
                <a:spcPct val="100000"/>
              </a:lnSpc>
              <a:spcAft>
                <a:spcPts val="600"/>
              </a:spcAft>
            </a:pPr>
            <a:r>
              <a:rPr sz="1700" b="1" lang="ar-SA" algn="r">
                <a:solidFill>
                  <a:srgbClr val="0B1D34"/>
                </a:solidFill>
                <a:latin typeface="Segoe UI"/>
              </a:rPr>
              <a:t>dnSpyEx</a:t>
            </a:r>
          </a:p>
        </p:txBody>
      </p:sp>
      <p:sp>
        <p:nvSpPr>
          <p:cNvPr id="15" name="TextBox 14"/>
          <p:cNvSpPr txBox="1"/>
          <p:nvPr/>
        </p:nvSpPr>
        <p:spPr>
          <a:xfrm>
            <a:off x="822960" y="2231136"/>
            <a:ext cx="96926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1A202A"/>
                </a:solidFill>
                <a:latin typeface="Segoe UI"/>
              </a:rPr>
              <a:t>شجرة IL وC# كاملة + تعديل جسم الطريقة وحفظ الملف</a:t>
            </a:r>
          </a:p>
        </p:txBody>
      </p:sp>
      <p:sp>
        <p:nvSpPr>
          <p:cNvPr id="16" name="Rectangle 15"/>
          <p:cNvSpPr/>
          <p:nvPr/>
        </p:nvSpPr>
        <p:spPr>
          <a:xfrm>
            <a:off x="566928" y="2798064"/>
            <a:ext cx="11064240" cy="640080"/>
          </a:xfrm>
          <a:prstGeom prst="rect">
            <a:avLst/>
          </a:prstGeom>
          <a:solidFill>
            <a:srgbClr val="FFFFFF"/>
          </a:solidFill>
          <a:ln w="9525">
            <a:solidFill>
              <a:srgbClr val="E2E9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11155680" y="2798064"/>
            <a:ext cx="475488" cy="640080"/>
          </a:xfrm>
          <a:prstGeom prst="rect">
            <a:avLst/>
          </a:prstGeom>
          <a:solidFill>
            <a:srgbClr val="142C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625535" y="2944368"/>
            <a:ext cx="2834640" cy="365760"/>
          </a:xfrm>
          <a:prstGeom prst="rect">
            <a:avLst/>
          </a:prstGeom>
          <a:noFill/>
        </p:spPr>
        <p:txBody>
          <a:bodyPr wrap="square" anchor="t" lIns="18288" rIns="18288" tIns="0" bIns="0">
            <a:spAutoFit/>
          </a:bodyPr>
          <a:lstStyle/>
          <a:p>
            <a:pPr algn="r" marL="0" indent="0" rtl="1">
              <a:lnSpc>
                <a:spcPct val="100000"/>
              </a:lnSpc>
              <a:spcAft>
                <a:spcPts val="600"/>
              </a:spcAft>
            </a:pPr>
            <a:r>
              <a:rPr sz="1700" b="1" lang="ar-SA" algn="r">
                <a:solidFill>
                  <a:srgbClr val="0B1D34"/>
                </a:solidFill>
                <a:latin typeface="Segoe UI"/>
              </a:rPr>
              <a:t>HxD</a:t>
            </a:r>
          </a:p>
        </p:txBody>
      </p:sp>
      <p:sp>
        <p:nvSpPr>
          <p:cNvPr id="19" name="TextBox 18"/>
          <p:cNvSpPr txBox="1"/>
          <p:nvPr/>
        </p:nvSpPr>
        <p:spPr>
          <a:xfrm>
            <a:off x="822960" y="2980944"/>
            <a:ext cx="96926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1A202A"/>
                </a:solidFill>
                <a:latin typeface="Segoe UI"/>
              </a:rPr>
              <a:t>بحث/تعديل على القرص — الرتق الدائم</a:t>
            </a:r>
          </a:p>
        </p:txBody>
      </p:sp>
      <p:sp>
        <p:nvSpPr>
          <p:cNvPr id="20" name="Rectangle 19"/>
          <p:cNvSpPr/>
          <p:nvPr/>
        </p:nvSpPr>
        <p:spPr>
          <a:xfrm>
            <a:off x="566928" y="3547872"/>
            <a:ext cx="11064240" cy="640080"/>
          </a:xfrm>
          <a:prstGeom prst="rect">
            <a:avLst/>
          </a:prstGeom>
          <a:solidFill>
            <a:srgbClr val="FFFFFF"/>
          </a:solidFill>
          <a:ln w="9525">
            <a:solidFill>
              <a:srgbClr val="E2E9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11155680" y="3547872"/>
            <a:ext cx="475488" cy="640080"/>
          </a:xfrm>
          <a:prstGeom prst="rect">
            <a:avLst/>
          </a:prstGeom>
          <a:solidFill>
            <a:srgbClr val="142C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625535" y="3694176"/>
            <a:ext cx="2834640" cy="365760"/>
          </a:xfrm>
          <a:prstGeom prst="rect">
            <a:avLst/>
          </a:prstGeom>
          <a:noFill/>
        </p:spPr>
        <p:txBody>
          <a:bodyPr wrap="square" anchor="t" lIns="18288" rIns="18288" tIns="0" bIns="0">
            <a:spAutoFit/>
          </a:bodyPr>
          <a:lstStyle/>
          <a:p>
            <a:pPr algn="r" marL="0" indent="0" rtl="1">
              <a:lnSpc>
                <a:spcPct val="100000"/>
              </a:lnSpc>
              <a:spcAft>
                <a:spcPts val="600"/>
              </a:spcAft>
            </a:pPr>
            <a:r>
              <a:rPr sz="1700" b="1" lang="ar-SA" algn="r">
                <a:solidFill>
                  <a:srgbClr val="0B1D34"/>
                </a:solidFill>
                <a:latin typeface="Segoe UI"/>
              </a:rPr>
              <a:t>Procmon</a:t>
            </a:r>
          </a:p>
        </p:txBody>
      </p:sp>
      <p:sp>
        <p:nvSpPr>
          <p:cNvPr id="23" name="TextBox 22"/>
          <p:cNvSpPr txBox="1"/>
          <p:nvPr/>
        </p:nvSpPr>
        <p:spPr>
          <a:xfrm>
            <a:off x="822960" y="3730752"/>
            <a:ext cx="96926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1A202A"/>
                </a:solidFill>
                <a:latin typeface="Segoe UI"/>
              </a:rPr>
              <a:t>إثبات «ماذا كُتب فعلاً» في Registry/الملفات</a:t>
            </a:r>
          </a:p>
        </p:txBody>
      </p:sp>
      <p:sp>
        <p:nvSpPr>
          <p:cNvPr id="24" name="Rectangle 23"/>
          <p:cNvSpPr/>
          <p:nvPr/>
        </p:nvSpPr>
        <p:spPr>
          <a:xfrm>
            <a:off x="566928" y="4297680"/>
            <a:ext cx="11064240" cy="640080"/>
          </a:xfrm>
          <a:prstGeom prst="rect">
            <a:avLst/>
          </a:prstGeom>
          <a:solidFill>
            <a:srgbClr val="FFFFFF"/>
          </a:solidFill>
          <a:ln w="9525">
            <a:solidFill>
              <a:srgbClr val="E2E9F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11155680" y="4297680"/>
            <a:ext cx="475488" cy="640080"/>
          </a:xfrm>
          <a:prstGeom prst="rect">
            <a:avLst/>
          </a:prstGeom>
          <a:solidFill>
            <a:srgbClr val="142C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625535" y="4443984"/>
            <a:ext cx="2834640" cy="365760"/>
          </a:xfrm>
          <a:prstGeom prst="rect">
            <a:avLst/>
          </a:prstGeom>
          <a:noFill/>
        </p:spPr>
        <p:txBody>
          <a:bodyPr wrap="square" anchor="t" lIns="18288" rIns="18288" tIns="0" bIns="0">
            <a:spAutoFit/>
          </a:bodyPr>
          <a:lstStyle/>
          <a:p>
            <a:pPr algn="r" marL="0" indent="0" rtl="1">
              <a:lnSpc>
                <a:spcPct val="100000"/>
              </a:lnSpc>
              <a:spcAft>
                <a:spcPts val="600"/>
              </a:spcAft>
            </a:pPr>
            <a:r>
              <a:rPr sz="1700" b="1" lang="ar-SA" algn="r">
                <a:solidFill>
                  <a:srgbClr val="0B1D34"/>
                </a:solidFill>
                <a:latin typeface="Segoe UI"/>
              </a:rPr>
              <a:t>Python + pycryptodome</a:t>
            </a:r>
          </a:p>
        </p:txBody>
      </p:sp>
      <p:sp>
        <p:nvSpPr>
          <p:cNvPr id="27" name="TextBox 26"/>
          <p:cNvSpPr txBox="1"/>
          <p:nvPr/>
        </p:nvSpPr>
        <p:spPr>
          <a:xfrm>
            <a:off x="822960" y="4480560"/>
            <a:ext cx="96926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1A202A"/>
                </a:solidFill>
                <a:latin typeface="Segoe UI"/>
              </a:rPr>
              <a:t>AES-CBC لتزوير `state.enc`، ومولّد المفاتيح</a:t>
            </a:r>
          </a:p>
        </p:txBody>
      </p:sp>
      <p:sp>
        <p:nvSpPr>
          <p:cNvPr id="28" name="TextBox 27"/>
          <p:cNvSpPr txBox="1"/>
          <p:nvPr/>
        </p:nvSpPr>
        <p:spPr>
          <a:xfrm>
            <a:off x="566928" y="5184648"/>
            <a:ext cx="11064240" cy="502920"/>
          </a:xfrm>
          <a:prstGeom prst="rect">
            <a:avLst/>
          </a:prstGeom>
          <a:noFill/>
        </p:spPr>
        <p:txBody>
          <a:bodyPr wrap="square" anchor="t" lIns="18288" rIns="18288" tIns="0" bIns="0">
            <a:spAutoFit/>
          </a:bodyPr>
          <a:lstStyle/>
          <a:p>
            <a:pPr algn="r" marL="0" indent="0" rtl="1">
              <a:lnSpc>
                <a:spcPct val="100000"/>
              </a:lnSpc>
              <a:spcAft>
                <a:spcPts val="600"/>
              </a:spcAft>
            </a:pPr>
            <a:r>
              <a:rPr sz="1500" b="1" lang="ar-SA" algn="r">
                <a:solidFill>
                  <a:srgbClr val="B82424"/>
                </a:solidFill>
                <a:latin typeface="Segoe UI"/>
              </a:rPr>
              <a:t>⚠ </a:t>
            </a:r>
            <a:r>
              <a:rPr sz="1500" b="0" lang="ar-SA" algn="r">
                <a:solidFill>
                  <a:srgbClr val="1A202A"/>
                </a:solidFill>
                <a:latin typeface="Segoe UI"/>
              </a:rPr>
              <a:t>x32dbg وحده لا «يفهم» .NET: لا أسماء دوال، ولا IL — ولهذا نستخدمه للطابق الذي يبرع فيه، وdnSpy للطابق المُدار. </a:t>
            </a:r>
            <a:r>
              <a:rPr sz="1500" b="1" lang="ar-SA" algn="r">
                <a:solidFill>
                  <a:srgbClr val="0B1D34"/>
                </a:solidFill>
                <a:latin typeface="Segoe UI"/>
              </a:rPr>
              <a:t>اختيار الأداة نصف الحل.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57200" y="237744"/>
            <a:ext cx="5943600" cy="274320"/>
          </a:xfrm>
          <a:prstGeom prst="rect">
            <a:avLst/>
          </a:prstGeom>
          <a:noFill/>
        </p:spPr>
        <p:txBody>
          <a:bodyPr wrap="square" anchor="t" lIns="18288" rIns="18288" tIns="0" bIns="0">
            <a:spAutoFit/>
          </a:bodyPr>
          <a:lstStyle/>
          <a:p>
            <a:pPr algn="l" marL="0" indent="0" rtl="1">
              <a:lnSpc>
                <a:spcPct val="100000"/>
              </a:lnSpc>
              <a:spcAft>
                <a:spcPts val="600"/>
              </a:spcAft>
            </a:pPr>
            <a:r>
              <a:rPr sz="1200" b="0" lang="ar-SA" algn="l">
                <a:solidFill>
                  <a:srgbClr val="6C7C8C"/>
                </a:solidFill>
                <a:latin typeface="Consolas"/>
              </a:rPr>
              <a:t>05 · WHY .NET IS DIFFERENT</a:t>
            </a:r>
          </a:p>
        </p:txBody>
      </p:sp>
      <p:sp>
        <p:nvSpPr>
          <p:cNvPr id="5" name="TextBox 4"/>
          <p:cNvSpPr txBox="1"/>
          <p:nvPr/>
        </p:nvSpPr>
        <p:spPr>
          <a:xfrm>
            <a:off x="5242255" y="182880"/>
            <a:ext cx="6492240" cy="566928"/>
          </a:xfrm>
          <a:prstGeom prst="rect">
            <a:avLst/>
          </a:prstGeom>
          <a:noFill/>
        </p:spPr>
        <p:txBody>
          <a:bodyPr wrap="square" anchor="t" lIns="18288" rIns="18288" tIns="0" bIns="0">
            <a:spAutoFit/>
          </a:bodyPr>
          <a:lstStyle/>
          <a:p>
            <a:pPr algn="r" marL="0" indent="0" rtl="1">
              <a:lnSpc>
                <a:spcPct val="100000"/>
              </a:lnSpc>
              <a:spcAft>
                <a:spcPts val="600"/>
              </a:spcAft>
            </a:pPr>
            <a:r>
              <a:rPr sz="3000" b="1" lang="ar-SA" algn="r">
                <a:solidFill>
                  <a:srgbClr val="0B1D34"/>
                </a:solidFill>
                <a:latin typeface="Segoe UI"/>
              </a:rPr>
              <a:t>‏IL + JIT: التوقيت هو الحكم</a:t>
            </a:r>
          </a:p>
        </p:txBody>
      </p:sp>
      <p:sp>
        <p:nvSpPr>
          <p:cNvPr id="6" name="Rectangle 5"/>
          <p:cNvSpPr/>
          <p:nvPr/>
        </p:nvSpPr>
        <p:spPr>
          <a:xfrm>
            <a:off x="8899855" y="822960"/>
            <a:ext cx="2834640" cy="406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242255" y="914400"/>
            <a:ext cx="64922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6C7C8C"/>
                </a:solidFill>
                <a:latin typeface="Segoe UI"/>
              </a:rPr>
              <a:t>أهم شريحة تعليمياً — وأصعبها على الطلاب</a:t>
            </a:r>
          </a:p>
        </p:txBody>
      </p:sp>
      <p:sp>
        <p:nvSpPr>
          <p:cNvPr id="8" name="TextBox 7"/>
          <p:cNvSpPr txBox="1"/>
          <p:nvPr/>
        </p:nvSpPr>
        <p:spPr>
          <a:xfrm>
            <a:off x="5790895" y="1389888"/>
            <a:ext cx="5943600" cy="2651760"/>
          </a:xfrm>
          <a:prstGeom prst="rect">
            <a:avLst/>
          </a:prstGeom>
          <a:noFill/>
        </p:spPr>
        <p:txBody>
          <a:bodyPr wrap="square" lIns="18288" rIns="18288" tIns="0" bIns="0">
            <a:spAutoFit/>
          </a:bodyPr>
          <a:lstStyle/>
          <a:p>
            <a:pPr algn="r" marL="0" indent="0" rtl="1">
              <a:lnSpc>
                <a:spcPct val="108000"/>
              </a:lnSpc>
              <a:spcAft>
                <a:spcPts val="900"/>
              </a:spcAft>
            </a:pPr>
            <a:r>
              <a:rPr sz="1650" b="1" lang="ar-SA" algn="r">
                <a:solidFill>
                  <a:srgbClr val="C59421"/>
                </a:solidFill>
                <a:latin typeface="Segoe UI"/>
              </a:rPr>
              <a:t>•  </a:t>
            </a:r>
            <a:r>
              <a:rPr sz="1650" b="0" lang="ar-SA" algn="r">
                <a:solidFill>
                  <a:srgbClr val="1A202A"/>
                </a:solidFill>
                <a:latin typeface="Segoe UI"/>
              </a:rPr>
              <a:t>C# ← **IL** داخل </a:t>
            </a:r>
            <a:r>
              <a:rPr sz="1650" b="1" lang="ar-SA" algn="r">
                <a:solidFill>
                  <a:srgbClr val="8A5F0A"/>
                </a:solidFill>
                <a:latin typeface="Consolas"/>
              </a:rPr>
              <a:t>MizanPro.dll</a:t>
            </a:r>
            <a:r>
              <a:rPr sz="1650" b="0" lang="ar-SA" algn="r">
                <a:solidFill>
                  <a:srgbClr val="1A202A"/>
                </a:solidFill>
                <a:latin typeface="Segoe UI"/>
              </a:rPr>
              <a:t> ← </a:t>
            </a:r>
            <a:r>
              <a:rPr sz="1650" b="1" lang="ar-SA" algn="r">
                <a:solidFill>
                  <a:srgbClr val="1A202A"/>
                </a:solidFill>
                <a:latin typeface="Segoe UI"/>
              </a:rPr>
              <a:t>JIT</a:t>
            </a:r>
            <a:r>
              <a:rPr sz="1650" b="0" lang="ar-SA" algn="r">
                <a:solidFill>
                  <a:srgbClr val="1A202A"/>
                </a:solidFill>
                <a:latin typeface="Segoe UI"/>
              </a:rPr>
              <a:t> يولّد كود الآلة عند أول استخدام</a:t>
            </a:r>
          </a:p>
          <a:p>
            <a:pPr algn="r" marL="0" indent="0" rtl="1">
              <a:lnSpc>
                <a:spcPct val="108000"/>
              </a:lnSpc>
              <a:spcAft>
                <a:spcPts val="900"/>
              </a:spcAft>
            </a:pPr>
            <a:r>
              <a:rPr sz="1650" b="1" lang="ar-SA" algn="r">
                <a:solidFill>
                  <a:srgbClr val="C59421"/>
                </a:solidFill>
                <a:latin typeface="Segoe UI"/>
              </a:rPr>
              <a:t>•  </a:t>
            </a:r>
            <a:r>
              <a:rPr sz="1650" b="1" lang="ar-SA" algn="r">
                <a:solidFill>
                  <a:srgbClr val="8A5F0A"/>
                </a:solidFill>
                <a:latin typeface="Consolas"/>
              </a:rPr>
              <a:t>TieredCompilation</a:t>
            </a:r>
            <a:r>
              <a:rPr sz="1650" b="0" lang="ar-SA" algn="r">
                <a:solidFill>
                  <a:srgbClr val="1A202A"/>
                </a:solidFill>
                <a:latin typeface="Segoe UI"/>
              </a:rPr>
              <a:t>: تُترجم سريعاً أولاً (tier0) ثم قد تُعاد (tier1)</a:t>
            </a:r>
          </a:p>
          <a:p>
            <a:pPr algn="r" marL="0" indent="0" rtl="1">
              <a:lnSpc>
                <a:spcPct val="108000"/>
              </a:lnSpc>
              <a:spcAft>
                <a:spcPts val="900"/>
              </a:spcAft>
            </a:pPr>
            <a:r>
              <a:rPr sz="1650" b="1" lang="ar-SA" algn="r">
                <a:solidFill>
                  <a:srgbClr val="C59421"/>
                </a:solidFill>
                <a:latin typeface="Segoe UI"/>
              </a:rPr>
              <a:t>•  </a:t>
            </a:r>
            <a:r>
              <a:rPr sz="1650" b="0" lang="ar-SA" algn="r">
                <a:solidFill>
                  <a:srgbClr val="1A202A"/>
                </a:solidFill>
                <a:latin typeface="Segoe UI"/>
              </a:rPr>
              <a:t>⚠ رتق IL بعد أن تعمل الدالة = </a:t>
            </a:r>
            <a:r>
              <a:rPr sz="1650" b="1" lang="ar-SA" algn="r">
                <a:solidFill>
                  <a:srgbClr val="1A202A"/>
                </a:solidFill>
                <a:latin typeface="Segoe UI"/>
              </a:rPr>
              <a:t>لا شيء يتغيّر</a:t>
            </a:r>
          </a:p>
          <a:p>
            <a:pPr algn="r" marL="0" indent="0" rtl="1">
              <a:lnSpc>
                <a:spcPct val="108000"/>
              </a:lnSpc>
              <a:spcAft>
                <a:spcPts val="900"/>
              </a:spcAft>
            </a:pPr>
            <a:r>
              <a:rPr sz="1650" b="1" lang="ar-SA" algn="r">
                <a:solidFill>
                  <a:srgbClr val="C59421"/>
                </a:solidFill>
                <a:latin typeface="Segoe UI"/>
              </a:rPr>
              <a:t>•  </a:t>
            </a:r>
            <a:r>
              <a:rPr sz="1650" b="0" lang="ar-SA" algn="r">
                <a:solidFill>
                  <a:srgbClr val="1A202A"/>
                </a:solidFill>
                <a:latin typeface="Segoe UI"/>
              </a:rPr>
              <a:t>لهذا نرتق </a:t>
            </a:r>
            <a:r>
              <a:rPr sz="1650" b="1" lang="ar-SA" algn="r">
                <a:solidFill>
                  <a:srgbClr val="1A202A"/>
                </a:solidFill>
                <a:latin typeface="Segoe UI"/>
              </a:rPr>
              <a:t>قبل</a:t>
            </a:r>
            <a:r>
              <a:rPr sz="1650" b="0" lang="ar-SA" algn="r">
                <a:solidFill>
                  <a:srgbClr val="1A202A"/>
                </a:solidFill>
                <a:latin typeface="Segoe UI"/>
              </a:rPr>
              <a:t> أول محاولة تفعيل — أو نرتق الملف على القرص</a:t>
            </a:r>
          </a:p>
          <a:p>
            <a:pPr algn="r" marL="0" indent="0" rtl="1">
              <a:lnSpc>
                <a:spcPct val="108000"/>
              </a:lnSpc>
              <a:spcAft>
                <a:spcPts val="900"/>
              </a:spcAft>
            </a:pPr>
            <a:r>
              <a:rPr sz="1650" b="1" lang="ar-SA" algn="r">
                <a:solidFill>
                  <a:srgbClr val="C59421"/>
                </a:solidFill>
                <a:latin typeface="Segoe UI"/>
              </a:rPr>
              <a:t>•  </a:t>
            </a:r>
            <a:r>
              <a:rPr sz="1650" b="0" lang="ar-SA" algn="r">
                <a:solidFill>
                  <a:srgbClr val="1A202A"/>
                </a:solidFill>
                <a:latin typeface="Segoe UI"/>
              </a:rPr>
              <a:t>منقّح native يرى تعليمات مُترجَمة، لا الطريقة التي كتبتها</a:t>
            </a:r>
          </a:p>
        </p:txBody>
      </p:sp>
      <p:sp>
        <p:nvSpPr>
          <p:cNvPr id="9" name="Rectangle 8"/>
          <p:cNvSpPr/>
          <p:nvPr/>
        </p:nvSpPr>
        <p:spPr>
          <a:xfrm>
            <a:off x="566928" y="1344168"/>
            <a:ext cx="5029200" cy="2880360"/>
          </a:xfrm>
          <a:prstGeom prst="rect">
            <a:avLst/>
          </a:prstGeom>
          <a:solidFill>
            <a:srgbClr val="F6F8FB"/>
          </a:solidFill>
          <a:ln w="15875">
            <a:solidFill>
              <a:srgbClr val="0B1D3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86384" y="1481328"/>
            <a:ext cx="4617720" cy="384048"/>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0B1D34"/>
                </a:solidFill>
                <a:latin typeface="Segoe UI"/>
              </a:rPr>
              <a:t>① نشر بلا ملف واحد → `MizanPro.dll` موجود</a:t>
            </a:r>
          </a:p>
        </p:txBody>
      </p:sp>
      <p:sp>
        <p:nvSpPr>
          <p:cNvPr id="11" name="TextBox 10"/>
          <p:cNvSpPr txBox="1"/>
          <p:nvPr/>
        </p:nvSpPr>
        <p:spPr>
          <a:xfrm>
            <a:off x="786384" y="1901952"/>
            <a:ext cx="4617720" cy="384048"/>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0B1D34"/>
                </a:solidFill>
                <a:latin typeface="Segoe UI"/>
              </a:rPr>
              <a:t>② F3: تشغيل `MizanPro.exe` تحت x32dbg</a:t>
            </a:r>
          </a:p>
        </p:txBody>
      </p:sp>
      <p:sp>
        <p:nvSpPr>
          <p:cNvPr id="12" name="TextBox 11"/>
          <p:cNvSpPr txBox="1"/>
          <p:nvPr/>
        </p:nvSpPr>
        <p:spPr>
          <a:xfrm>
            <a:off x="786384" y="2322576"/>
            <a:ext cx="4617720" cy="384048"/>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0B1D34"/>
                </a:solidFill>
                <a:latin typeface="Segoe UI"/>
              </a:rPr>
              <a:t>③ F9 حتى تظهر نافذة التطبيق، ثم F12</a:t>
            </a:r>
          </a:p>
        </p:txBody>
      </p:sp>
      <p:sp>
        <p:nvSpPr>
          <p:cNvPr id="13" name="TextBox 12"/>
          <p:cNvSpPr txBox="1"/>
          <p:nvPr/>
        </p:nvSpPr>
        <p:spPr>
          <a:xfrm>
            <a:off x="786384" y="2743200"/>
            <a:ext cx="4617720" cy="384048"/>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0B1D34"/>
                </a:solidFill>
                <a:latin typeface="Segoe UI"/>
              </a:rPr>
              <a:t>④ Alt+M → `MizanPro.dll` → Ctrl+B → `1F 49 D0`</a:t>
            </a:r>
          </a:p>
        </p:txBody>
      </p:sp>
      <p:sp>
        <p:nvSpPr>
          <p:cNvPr id="14" name="TextBox 13"/>
          <p:cNvSpPr txBox="1"/>
          <p:nvPr/>
        </p:nvSpPr>
        <p:spPr>
          <a:xfrm>
            <a:off x="786384" y="3163824"/>
            <a:ext cx="4617720" cy="384048"/>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0B1D34"/>
                </a:solidFill>
                <a:latin typeface="Segoe UI"/>
              </a:rPr>
              <a:t>⑤ Ctrl+E: غيّر `49` ← `01` (بايت واحد)</a:t>
            </a:r>
          </a:p>
        </p:txBody>
      </p:sp>
      <p:sp>
        <p:nvSpPr>
          <p:cNvPr id="15" name="TextBox 14"/>
          <p:cNvSpPr txBox="1"/>
          <p:nvPr/>
        </p:nvSpPr>
        <p:spPr>
          <a:xfrm>
            <a:off x="786384" y="3584448"/>
            <a:ext cx="4617720" cy="384048"/>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0B1D34"/>
                </a:solidFill>
                <a:latin typeface="Segoe UI"/>
              </a:rPr>
              <a:t>⑥ F9 ← ثم الصق المفتاح «المُثبِت» ← **تم التفعيل**</a:t>
            </a:r>
          </a:p>
        </p:txBody>
      </p:sp>
      <p:sp>
        <p:nvSpPr>
          <p:cNvPr id="16" name="Rounded Rectangle 15"/>
          <p:cNvSpPr/>
          <p:nvPr/>
        </p:nvSpPr>
        <p:spPr>
          <a:xfrm>
            <a:off x="5790895" y="4224528"/>
            <a:ext cx="5943600" cy="685800"/>
          </a:xfrm>
          <a:prstGeom prst="roundRect">
            <a:avLst/>
          </a:prstGeom>
          <a:solidFill>
            <a:srgbClr val="0B1D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928055" y="4343400"/>
            <a:ext cx="5669280" cy="457200"/>
          </a:xfrm>
          <a:prstGeom prst="rect">
            <a:avLst/>
          </a:prstGeom>
          <a:noFill/>
        </p:spPr>
        <p:txBody>
          <a:bodyPr wrap="square" anchor="t" lIns="18288" rIns="18288" tIns="0" bIns="0">
            <a:spAutoFit/>
          </a:bodyPr>
          <a:lstStyle/>
          <a:p>
            <a:pPr algn="r" marL="0" indent="0" rtl="1">
              <a:lnSpc>
                <a:spcPct val="100000"/>
              </a:lnSpc>
              <a:spcAft>
                <a:spcPts val="600"/>
              </a:spcAft>
            </a:pPr>
            <a:r>
              <a:rPr sz="1400" b="1" lang="ar-SA" algn="r">
                <a:solidFill>
                  <a:srgbClr val="FFFFFF"/>
                </a:solidFill>
                <a:latin typeface="Segoe UI"/>
              </a:rPr>
              <a:t>جرّبناها بالمقلوب عمداً: أعدنا التجربة بعد أن عملت الدالة ← رُفض المفتاح. هذا هو الدليل.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57200" y="237744"/>
            <a:ext cx="5943600" cy="274320"/>
          </a:xfrm>
          <a:prstGeom prst="rect">
            <a:avLst/>
          </a:prstGeom>
          <a:noFill/>
        </p:spPr>
        <p:txBody>
          <a:bodyPr wrap="square" anchor="t" lIns="18288" rIns="18288" tIns="0" bIns="0">
            <a:spAutoFit/>
          </a:bodyPr>
          <a:lstStyle/>
          <a:p>
            <a:pPr algn="l" marL="0" indent="0" rtl="1">
              <a:lnSpc>
                <a:spcPct val="100000"/>
              </a:lnSpc>
              <a:spcAft>
                <a:spcPts val="600"/>
              </a:spcAft>
            </a:pPr>
            <a:r>
              <a:rPr sz="1200" b="0" lang="ar-SA" algn="l">
                <a:solidFill>
                  <a:srgbClr val="6C7C8C"/>
                </a:solidFill>
                <a:latin typeface="Consolas"/>
              </a:rPr>
              <a:t>06 · CRACK №1</a:t>
            </a:r>
          </a:p>
        </p:txBody>
      </p:sp>
      <p:sp>
        <p:nvSpPr>
          <p:cNvPr id="5" name="TextBox 4"/>
          <p:cNvSpPr txBox="1"/>
          <p:nvPr/>
        </p:nvSpPr>
        <p:spPr>
          <a:xfrm>
            <a:off x="5242255" y="182880"/>
            <a:ext cx="6492240" cy="566928"/>
          </a:xfrm>
          <a:prstGeom prst="rect">
            <a:avLst/>
          </a:prstGeom>
          <a:noFill/>
        </p:spPr>
        <p:txBody>
          <a:bodyPr wrap="square" anchor="t" lIns="18288" rIns="18288" tIns="0" bIns="0">
            <a:spAutoFit/>
          </a:bodyPr>
          <a:lstStyle/>
          <a:p>
            <a:pPr algn="r" marL="0" indent="0" rtl="1">
              <a:lnSpc>
                <a:spcPct val="100000"/>
              </a:lnSpc>
              <a:spcAft>
                <a:spcPts val="600"/>
              </a:spcAft>
            </a:pPr>
            <a:r>
              <a:rPr sz="3000" b="1" lang="ar-SA" algn="r">
                <a:solidFill>
                  <a:srgbClr val="0B1D34"/>
                </a:solidFill>
                <a:latin typeface="Segoe UI"/>
              </a:rPr>
              <a:t>الكسر الأول: زوّر الطبقة الثانية</a:t>
            </a:r>
          </a:p>
        </p:txBody>
      </p:sp>
      <p:sp>
        <p:nvSpPr>
          <p:cNvPr id="6" name="Rectangle 5"/>
          <p:cNvSpPr/>
          <p:nvPr/>
        </p:nvSpPr>
        <p:spPr>
          <a:xfrm>
            <a:off x="8899855" y="822960"/>
            <a:ext cx="2834640" cy="406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242255" y="914400"/>
            <a:ext cx="64922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6C7C8C"/>
                </a:solidFill>
                <a:latin typeface="Segoe UI"/>
              </a:rPr>
              <a:t>بلا منقِّح، بلا رتق — 4 أوامر</a:t>
            </a:r>
          </a:p>
        </p:txBody>
      </p:sp>
      <p:sp>
        <p:nvSpPr>
          <p:cNvPr id="8" name="Rectangle 7"/>
          <p:cNvSpPr/>
          <p:nvPr/>
        </p:nvSpPr>
        <p:spPr>
          <a:xfrm>
            <a:off x="5242255" y="1344168"/>
            <a:ext cx="6492240" cy="2057400"/>
          </a:xfrm>
          <a:prstGeom prst="rect">
            <a:avLst/>
          </a:prstGeom>
          <a:solidFill>
            <a:srgbClr val="141D2C"/>
          </a:solidFill>
          <a:ln w="12700">
            <a:solidFill>
              <a:srgbClr val="C59421"/>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a:lstStyle/>
          <a:p>
            <a:pPr algn="ctr">
              <a:spcAft>
                <a:spcPts val="600"/>
              </a:spcAft>
            </a:pPr>
            <a:r>
              <a:rPr sz="1050" b="1">
                <a:solidFill>
                  <a:srgbClr val="8CACD0"/>
                </a:solidFill>
                <a:latin typeface="Consolas"/>
              </a:rPr>
              <a:t>cmd + python — 30 ثانية</a:t>
            </a:r>
          </a:p>
          <a:p>
            <a:pPr algn="l" marL="0" indent="0">
              <a:lnSpc>
                <a:spcPct val="102000"/>
              </a:lnSpc>
              <a:spcAft>
                <a:spcPts val="200"/>
              </a:spcAft>
            </a:pPr>
            <a:r>
              <a:rPr sz="1250" lang="ar-SA">
                <a:solidFill>
                  <a:srgbClr val="E2ECF8"/>
                </a:solidFill>
                <a:latin typeface="Consolas"/>
              </a:rPr>
              <a:t>reg add "HKCU\Software\MizanSolutions\Mizan\RuntimeState" \</a:t>
            </a:r>
          </a:p>
          <a:p>
            <a:pPr algn="l" marL="0" indent="0">
              <a:lnSpc>
                <a:spcPct val="102000"/>
              </a:lnSpc>
              <a:spcAft>
                <a:spcPts val="200"/>
              </a:spcAft>
            </a:pPr>
            <a:r>
              <a:rPr sz="1250" lang="ar-SA">
                <a:solidFill>
                  <a:srgbClr val="E2ECF8"/>
                </a:solidFill>
                <a:latin typeface="Consolas"/>
              </a:rPr>
              <a:t>        /v ActivationBlob /t REG_SZ /d M1Z4N-2025P-ROM4S-T3R01 /f</a:t>
            </a:r>
          </a:p>
          <a:p>
            <a:pPr algn="l" marL="0" indent="0">
              <a:lnSpc>
                <a:spcPct val="102000"/>
              </a:lnSpc>
              <a:spcAft>
                <a:spcPts val="200"/>
              </a:spcAft>
            </a:pPr>
            <a:r>
              <a:rPr sz="1250" lang="ar-SA">
                <a:solidFill>
                  <a:srgbClr val="E2ECF8"/>
                </a:solidFill>
                <a:latin typeface="Consolas"/>
              </a:rPr>
              <a:t/>
            </a:r>
          </a:p>
          <a:p>
            <a:pPr algn="l" marL="0" indent="0">
              <a:lnSpc>
                <a:spcPct val="102000"/>
              </a:lnSpc>
              <a:spcAft>
                <a:spcPts val="200"/>
              </a:spcAft>
            </a:pPr>
            <a:r>
              <a:rPr sz="1250" lang="ar-SA">
                <a:solidFill>
                  <a:srgbClr val="E2ECF8"/>
                </a:solidFill>
                <a:latin typeface="Consolas"/>
              </a:rPr>
              <a:t>python forge_state.py 1A2B-3C4D-5E6F-7A8B   # يكتب state.enc مزوَّراً</a:t>
            </a:r>
          </a:p>
          <a:p>
            <a:pPr algn="l" marL="0" indent="0">
              <a:lnSpc>
                <a:spcPct val="102000"/>
              </a:lnSpc>
              <a:spcAft>
                <a:spcPts val="200"/>
              </a:spcAft>
            </a:pPr>
            <a:r>
              <a:rPr sz="1250" lang="ar-SA">
                <a:solidFill>
                  <a:srgbClr val="7CC49C"/>
                </a:solidFill>
                <a:latin typeface="Consolas"/>
              </a:rPr>
              <a:t>#  AES-128-CBC("MIZAN_VALID|&lt;بصمة الجهاز&gt;")  بمفتاح من الكود المصدري</a:t>
            </a:r>
          </a:p>
        </p:txBody>
      </p:sp>
      <p:sp>
        <p:nvSpPr>
          <p:cNvPr id="9" name="TextBox 8"/>
          <p:cNvSpPr txBox="1"/>
          <p:nvPr/>
        </p:nvSpPr>
        <p:spPr>
          <a:xfrm>
            <a:off x="566928" y="1389888"/>
            <a:ext cx="4114800" cy="2011680"/>
          </a:xfrm>
          <a:prstGeom prst="rect">
            <a:avLst/>
          </a:prstGeom>
          <a:noFill/>
        </p:spPr>
        <p:txBody>
          <a:bodyPr wrap="square" lIns="18288" rIns="18288" tIns="0" bIns="0">
            <a:spAutoFit/>
          </a:bodyPr>
          <a:lstStyle/>
          <a:p>
            <a:pPr algn="r" marL="0" indent="0" rtl="1">
              <a:lnSpc>
                <a:spcPct val="108000"/>
              </a:lnSpc>
              <a:spcAft>
                <a:spcPts val="800"/>
              </a:spcAft>
            </a:pPr>
            <a:r>
              <a:rPr sz="1450" b="1" lang="ar-SA" algn="r">
                <a:solidFill>
                  <a:srgbClr val="C59421"/>
                </a:solidFill>
                <a:latin typeface="Segoe UI"/>
              </a:rPr>
              <a:t>•  </a:t>
            </a:r>
            <a:r>
              <a:rPr sz="1450" b="0" lang="ar-SA" algn="r">
                <a:solidFill>
                  <a:srgbClr val="1A202A"/>
                </a:solidFill>
                <a:latin typeface="Segoe UI"/>
              </a:rPr>
              <a:t>البرنامج </a:t>
            </a:r>
            <a:r>
              <a:rPr sz="1450" b="1" lang="ar-SA" algn="r">
                <a:solidFill>
                  <a:srgbClr val="1A202A"/>
                </a:solidFill>
                <a:latin typeface="Segoe UI"/>
              </a:rPr>
              <a:t>يصدّق ما كُتب له</a:t>
            </a:r>
            <a:r>
              <a:rPr sz="1450" b="0" lang="ar-SA" algn="r">
                <a:solidFill>
                  <a:srgbClr val="1A202A"/>
                </a:solidFill>
                <a:latin typeface="Segoe UI"/>
              </a:rPr>
              <a:t>: لا توقيع ولا ربط بالمستخدم</a:t>
            </a:r>
          </a:p>
          <a:p>
            <a:pPr algn="r" marL="0" indent="0" rtl="1">
              <a:lnSpc>
                <a:spcPct val="108000"/>
              </a:lnSpc>
              <a:spcAft>
                <a:spcPts val="800"/>
              </a:spcAft>
            </a:pPr>
            <a:r>
              <a:rPr sz="1450" b="1" lang="ar-SA" algn="r">
                <a:solidFill>
                  <a:srgbClr val="C59421"/>
                </a:solidFill>
                <a:latin typeface="Segoe UI"/>
              </a:rPr>
              <a:t>•  </a:t>
            </a:r>
            <a:r>
              <a:rPr sz="1450" b="1" lang="ar-SA" algn="r">
                <a:solidFill>
                  <a:srgbClr val="8A5F0A"/>
                </a:solidFill>
                <a:latin typeface="Consolas"/>
              </a:rPr>
              <a:t>state.enc</a:t>
            </a:r>
            <a:r>
              <a:rPr sz="1450" b="0" lang="ar-SA" algn="r">
                <a:solidFill>
                  <a:srgbClr val="1A202A"/>
                </a:solidFill>
                <a:latin typeface="Segoe UI"/>
              </a:rPr>
              <a:t> يشفيه بمفتاح </a:t>
            </a:r>
            <a:r>
              <a:rPr sz="1450" b="1" lang="ar-SA" algn="r">
                <a:solidFill>
                  <a:srgbClr val="8A5F0A"/>
                </a:solidFill>
                <a:latin typeface="Consolas"/>
              </a:rPr>
              <a:t>Mizan2024_K3y128</a:t>
            </a:r>
            <a:r>
              <a:rPr sz="1450" b="0" lang="ar-SA" algn="r">
                <a:solidFill>
                  <a:srgbClr val="1A202A"/>
                </a:solidFill>
                <a:latin typeface="Segoe UI"/>
              </a:rPr>
              <a:t> </a:t>
            </a:r>
            <a:r>
              <a:rPr sz="1450" b="1" lang="ar-SA" algn="r">
                <a:solidFill>
                  <a:srgbClr val="1A202A"/>
                </a:solidFill>
                <a:latin typeface="Segoe UI"/>
              </a:rPr>
              <a:t>مكتوب في نفس الحزمة</a:t>
            </a:r>
          </a:p>
          <a:p>
            <a:pPr algn="r" marL="0" indent="0" rtl="1">
              <a:lnSpc>
                <a:spcPct val="108000"/>
              </a:lnSpc>
              <a:spcAft>
                <a:spcPts val="800"/>
              </a:spcAft>
            </a:pPr>
            <a:r>
              <a:rPr sz="1450" b="1" lang="ar-SA" algn="r">
                <a:solidFill>
                  <a:srgbClr val="C59421"/>
                </a:solidFill>
                <a:latin typeface="Segoe UI"/>
              </a:rPr>
              <a:t>•  </a:t>
            </a:r>
            <a:r>
              <a:rPr sz="1450" b="0" lang="ar-SA" algn="r">
                <a:solidFill>
                  <a:srgbClr val="1A202A"/>
                </a:solidFill>
                <a:latin typeface="Segoe UI"/>
              </a:rPr>
              <a:t>المسار الاحتياطي يسبق فحص تاريخ التجربة ⇒ يعمل حتى بعد انتهائها</a:t>
            </a:r>
          </a:p>
        </p:txBody>
      </p:sp>
      <p:sp>
        <p:nvSpPr>
          <p:cNvPr id="10" name="Rectangle 9"/>
          <p:cNvSpPr/>
          <p:nvPr/>
        </p:nvSpPr>
        <p:spPr>
          <a:xfrm>
            <a:off x="566928" y="3538728"/>
            <a:ext cx="4114800" cy="502920"/>
          </a:xfrm>
          <a:prstGeom prst="rect">
            <a:avLst/>
          </a:prstGeom>
          <a:solidFill>
            <a:srgbClr val="F6F8FB"/>
          </a:solidFill>
          <a:ln w="12700">
            <a:solidFill>
              <a:srgbClr val="C594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31520" y="3602736"/>
            <a:ext cx="3794760" cy="411480"/>
          </a:xfrm>
          <a:prstGeom prst="rect">
            <a:avLst/>
          </a:prstGeom>
          <a:noFill/>
        </p:spPr>
        <p:txBody>
          <a:bodyPr wrap="square" anchor="t" lIns="18288" rIns="18288" tIns="0" bIns="0">
            <a:spAutoFit/>
          </a:bodyPr>
          <a:lstStyle/>
          <a:p>
            <a:pPr algn="r" marL="0" indent="0" rtl="1">
              <a:lnSpc>
                <a:spcPct val="100000"/>
              </a:lnSpc>
              <a:spcAft>
                <a:spcPts val="600"/>
              </a:spcAft>
            </a:pPr>
            <a:r>
              <a:rPr sz="1250" b="1" lang="ar-SA" algn="r">
                <a:solidFill>
                  <a:srgbClr val="C59421"/>
                </a:solidFill>
                <a:latin typeface="Segoe UI"/>
              </a:rPr>
              <a:t>الدليل (أ): </a:t>
            </a:r>
            <a:r>
              <a:rPr sz="1250" b="0" lang="ar-SA" algn="r">
                <a:solidFill>
                  <a:srgbClr val="1A202A"/>
                </a:solidFill>
                <a:latin typeface="Segoe UI"/>
              </a:rPr>
              <a:t>قبل: «انتهت التجربة» — بعد: اللافتة PRO دون أي رتق</a:t>
            </a:r>
          </a:p>
        </p:txBody>
      </p:sp>
      <p:sp>
        <p:nvSpPr>
          <p:cNvPr id="12" name="Rectangle 11"/>
          <p:cNvSpPr/>
          <p:nvPr/>
        </p:nvSpPr>
        <p:spPr>
          <a:xfrm>
            <a:off x="566928" y="4105656"/>
            <a:ext cx="4114800" cy="502920"/>
          </a:xfrm>
          <a:prstGeom prst="rect">
            <a:avLst/>
          </a:prstGeom>
          <a:solidFill>
            <a:srgbClr val="F6F8FB"/>
          </a:solidFill>
          <a:ln w="12700">
            <a:solidFill>
              <a:srgbClr val="C594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31520" y="4169664"/>
            <a:ext cx="3794760" cy="411480"/>
          </a:xfrm>
          <a:prstGeom prst="rect">
            <a:avLst/>
          </a:prstGeom>
          <a:noFill/>
        </p:spPr>
        <p:txBody>
          <a:bodyPr wrap="square" anchor="t" lIns="18288" rIns="18288" tIns="0" bIns="0">
            <a:spAutoFit/>
          </a:bodyPr>
          <a:lstStyle/>
          <a:p>
            <a:pPr algn="r" marL="0" indent="0" rtl="1">
              <a:lnSpc>
                <a:spcPct val="100000"/>
              </a:lnSpc>
              <a:spcAft>
                <a:spcPts val="600"/>
              </a:spcAft>
            </a:pPr>
            <a:r>
              <a:rPr sz="1250" b="1" lang="ar-SA" algn="r">
                <a:solidFill>
                  <a:srgbClr val="C59421"/>
                </a:solidFill>
                <a:latin typeface="Segoe UI"/>
              </a:rPr>
              <a:t>الدليل (ب): </a:t>
            </a:r>
            <a:r>
              <a:rPr sz="1250" b="0" lang="ar-SA" algn="r">
                <a:solidFill>
                  <a:srgbClr val="1A202A"/>
                </a:solidFill>
                <a:latin typeface="Segoe UI"/>
              </a:rPr>
              <a:t>`reg query` يُظهر القيمة؛ احذفها ← يعود الوضع التجريبي</a:t>
            </a:r>
          </a:p>
        </p:txBody>
      </p:sp>
      <p:sp>
        <p:nvSpPr>
          <p:cNvPr id="14" name="Rectangle 13"/>
          <p:cNvSpPr/>
          <p:nvPr/>
        </p:nvSpPr>
        <p:spPr>
          <a:xfrm>
            <a:off x="5242255" y="3584448"/>
            <a:ext cx="6492240" cy="310896"/>
          </a:xfrm>
          <a:prstGeom prst="rect">
            <a:avLst/>
          </a:prstGeom>
          <a:solidFill>
            <a:srgbClr val="142C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marL="0" indent="0" rtl="1"/>
            <a:r>
              <a:rPr sz="1200" b="1" lang="ar-SA" algn="ctr">
                <a:solidFill>
                  <a:srgbClr val="FFFFFF"/>
                </a:solidFill>
                <a:latin typeface="Segoe UI"/>
              </a:rPr>
              <a:t>هذا ليس «كسر الخوارزمية» — هذا «كسر ثقة». ورسالة للمشرف: لا تخزّن قرارك بشكل قابل للتحرير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57200" y="237744"/>
            <a:ext cx="5943600" cy="274320"/>
          </a:xfrm>
          <a:prstGeom prst="rect">
            <a:avLst/>
          </a:prstGeom>
          <a:noFill/>
        </p:spPr>
        <p:txBody>
          <a:bodyPr wrap="square" anchor="t" lIns="18288" rIns="18288" tIns="0" bIns="0">
            <a:spAutoFit/>
          </a:bodyPr>
          <a:lstStyle/>
          <a:p>
            <a:pPr algn="l" marL="0" indent="0" rtl="1">
              <a:lnSpc>
                <a:spcPct val="100000"/>
              </a:lnSpc>
              <a:spcAft>
                <a:spcPts val="600"/>
              </a:spcAft>
            </a:pPr>
            <a:r>
              <a:rPr sz="1200" b="0" lang="ar-SA" algn="l">
                <a:solidFill>
                  <a:srgbClr val="6C7C8C"/>
                </a:solidFill>
                <a:latin typeface="Consolas"/>
              </a:rPr>
              <a:t>07 · CRACK №2 — THE STAR</a:t>
            </a:r>
          </a:p>
        </p:txBody>
      </p:sp>
      <p:sp>
        <p:nvSpPr>
          <p:cNvPr id="5" name="TextBox 4"/>
          <p:cNvSpPr txBox="1"/>
          <p:nvPr/>
        </p:nvSpPr>
        <p:spPr>
          <a:xfrm>
            <a:off x="5242255" y="182880"/>
            <a:ext cx="6492240" cy="566928"/>
          </a:xfrm>
          <a:prstGeom prst="rect">
            <a:avLst/>
          </a:prstGeom>
          <a:noFill/>
        </p:spPr>
        <p:txBody>
          <a:bodyPr wrap="square" anchor="t" lIns="18288" rIns="18288" tIns="0" bIns="0">
            <a:spAutoFit/>
          </a:bodyPr>
          <a:lstStyle/>
          <a:p>
            <a:pPr algn="r" marL="0" indent="0" rtl="1">
              <a:lnSpc>
                <a:spcPct val="100000"/>
              </a:lnSpc>
              <a:spcAft>
                <a:spcPts val="600"/>
              </a:spcAft>
            </a:pPr>
            <a:r>
              <a:rPr sz="3000" b="1" lang="ar-SA" algn="r">
                <a:solidFill>
                  <a:srgbClr val="0B1D34"/>
                </a:solidFill>
                <a:latin typeface="Segoe UI"/>
              </a:rPr>
              <a:t>‏x32dbg داخل `MizanPro.dll`: بايت واحد</a:t>
            </a:r>
          </a:p>
        </p:txBody>
      </p:sp>
      <p:sp>
        <p:nvSpPr>
          <p:cNvPr id="6" name="Rectangle 5"/>
          <p:cNvSpPr/>
          <p:nvPr/>
        </p:nvSpPr>
        <p:spPr>
          <a:xfrm>
            <a:off x="8899855" y="822960"/>
            <a:ext cx="2834640" cy="406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242255" y="914400"/>
            <a:ext cx="64922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6C7C8C"/>
                </a:solidFill>
                <a:latin typeface="Segoe UI"/>
              </a:rPr>
              <a:t>لا ملف يتغيّر، ولا Antivirus يشتكي، ولا إعادة تشغيل مطلوبة</a:t>
            </a:r>
          </a:p>
        </p:txBody>
      </p:sp>
      <p:sp>
        <p:nvSpPr>
          <p:cNvPr id="8" name="Rectangle 7"/>
          <p:cNvSpPr/>
          <p:nvPr/>
        </p:nvSpPr>
        <p:spPr>
          <a:xfrm>
            <a:off x="6385255" y="1344168"/>
            <a:ext cx="5349240" cy="1874519"/>
          </a:xfrm>
          <a:prstGeom prst="rect">
            <a:avLst/>
          </a:prstGeom>
          <a:solidFill>
            <a:srgbClr val="141D2C"/>
          </a:solidFill>
          <a:ln w="12700">
            <a:solidFill>
              <a:srgbClr val="C59421"/>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a:lstStyle/>
          <a:p>
            <a:pPr algn="ctr">
              <a:spcAft>
                <a:spcPts val="600"/>
              </a:spcAft>
            </a:pPr>
            <a:r>
              <a:rPr sz="1100" b="1">
                <a:solidFill>
                  <a:srgbClr val="8CACD0"/>
                </a:solidFill>
                <a:latin typeface="Consolas"/>
              </a:rPr>
              <a:t>النمط المستهدف في تيار #Text</a:t>
            </a:r>
          </a:p>
          <a:p>
            <a:pPr algn="l" marL="0" indent="0">
              <a:lnSpc>
                <a:spcPct val="102000"/>
              </a:lnSpc>
              <a:spcAft>
                <a:spcPts val="200"/>
              </a:spcAft>
            </a:pPr>
            <a:r>
              <a:rPr sz="1300" lang="ar-SA">
                <a:solidFill>
                  <a:srgbClr val="E2ECF8"/>
                </a:solidFill>
                <a:latin typeface="Consolas"/>
              </a:rPr>
              <a:t>1F 49 D0   ;  ldc.i4.s 73 ; rem     ← sum % 73</a:t>
            </a:r>
          </a:p>
          <a:p>
            <a:pPr algn="l" marL="0" indent="0">
              <a:lnSpc>
                <a:spcPct val="102000"/>
              </a:lnSpc>
              <a:spcAft>
                <a:spcPts val="200"/>
              </a:spcAft>
            </a:pPr>
            <a:r>
              <a:rPr sz="1300" lang="ar-SA">
                <a:solidFill>
                  <a:srgbClr val="E2ECF8"/>
                </a:solidFill>
                <a:latin typeface="Consolas"/>
              </a:rPr>
              <a:t>2C 0E      ;  brfalse.s  FALSE      ← اقفز لو ≠ 0</a:t>
            </a:r>
          </a:p>
          <a:p>
            <a:pPr algn="l" marL="0" indent="0">
              <a:lnSpc>
                <a:spcPct val="102000"/>
              </a:lnSpc>
              <a:spcAft>
                <a:spcPts val="200"/>
              </a:spcAft>
            </a:pPr>
            <a:r>
              <a:rPr sz="1300" lang="ar-SA">
                <a:solidFill>
                  <a:srgbClr val="E2ECF8"/>
                </a:solidFill>
                <a:latin typeface="Consolas"/>
              </a:rPr>
              <a:t/>
            </a:r>
          </a:p>
          <a:p>
            <a:pPr algn="l" marL="0" indent="0">
              <a:lnSpc>
                <a:spcPct val="102000"/>
              </a:lnSpc>
              <a:spcAft>
                <a:spcPts val="200"/>
              </a:spcAft>
            </a:pPr>
            <a:r>
              <a:rPr sz="1300" lang="ar-SA">
                <a:solidFill>
                  <a:srgbClr val="E2ECF8"/>
                </a:solidFill>
                <a:latin typeface="Consolas"/>
              </a:rPr>
              <a:t>1F 01 D0   ;  ldc.i4.s  1 ; rem     ← sum % 1 == 0  ✓ دائماً</a:t>
            </a:r>
          </a:p>
          <a:p>
            <a:pPr algn="l" marL="0" indent="0">
              <a:lnSpc>
                <a:spcPct val="102000"/>
              </a:lnSpc>
              <a:spcAft>
                <a:spcPts val="200"/>
              </a:spcAft>
            </a:pPr>
            <a:r>
              <a:rPr sz="1300" lang="ar-SA">
                <a:solidFill>
                  <a:srgbClr val="E2ECF8"/>
                </a:solidFill>
                <a:latin typeface="Consolas"/>
              </a:rPr>
              <a:t>2C 0E      ;  brfalse.s  FALSE      ← لم يعد يُشتق إليه أبداً</a:t>
            </a:r>
          </a:p>
        </p:txBody>
      </p:sp>
      <p:sp>
        <p:nvSpPr>
          <p:cNvPr id="9" name="TextBox 8"/>
          <p:cNvSpPr txBox="1"/>
          <p:nvPr/>
        </p:nvSpPr>
        <p:spPr>
          <a:xfrm>
            <a:off x="566928" y="1389888"/>
            <a:ext cx="5394960" cy="1828800"/>
          </a:xfrm>
          <a:prstGeom prst="rect">
            <a:avLst/>
          </a:prstGeom>
          <a:noFill/>
        </p:spPr>
        <p:txBody>
          <a:bodyPr wrap="square" lIns="18288" rIns="18288" tIns="0" bIns="0">
            <a:spAutoFit/>
          </a:bodyPr>
          <a:lstStyle/>
          <a:p>
            <a:pPr algn="r" marL="0" indent="0" rtl="1">
              <a:lnSpc>
                <a:spcPct val="108000"/>
              </a:lnSpc>
              <a:spcAft>
                <a:spcPts val="800"/>
              </a:spcAft>
            </a:pPr>
            <a:r>
              <a:rPr sz="1500" b="1" lang="ar-SA" algn="r">
                <a:solidFill>
                  <a:srgbClr val="C59421"/>
                </a:solidFill>
                <a:latin typeface="Segoe UI"/>
              </a:rPr>
              <a:t>•  </a:t>
            </a:r>
            <a:r>
              <a:rPr sz="1500" b="0" lang="ar-SA" algn="r">
                <a:solidFill>
                  <a:srgbClr val="1A202A"/>
                </a:solidFill>
                <a:latin typeface="Segoe UI"/>
              </a:rPr>
              <a:t>نبحث **ثنائياً** عن </a:t>
            </a:r>
            <a:r>
              <a:rPr sz="1500" b="1" lang="ar-SA" algn="r">
                <a:solidFill>
                  <a:srgbClr val="8A5F0A"/>
                </a:solidFill>
                <a:latin typeface="Consolas"/>
              </a:rPr>
              <a:t>1F 49 D0</a:t>
            </a:r>
            <a:r>
              <a:rPr sz="1500" b="0" lang="ar-SA" algn="r">
                <a:solidFill>
                  <a:srgbClr val="1A202A"/>
                </a:solidFill>
                <a:latin typeface="Segoe UI"/>
              </a:rPr>
              <a:t> داخل منطقة </a:t>
            </a:r>
            <a:r>
              <a:rPr sz="1500" b="1" lang="ar-SA" algn="r">
                <a:solidFill>
                  <a:srgbClr val="8A5F0A"/>
                </a:solidFill>
                <a:latin typeface="Consolas"/>
              </a:rPr>
              <a:t>MizanPro.dll</a:t>
            </a:r>
            <a:r>
              <a:rPr sz="1500" b="0" lang="ar-SA" algn="r">
                <a:solidFill>
                  <a:srgbClr val="1A202A"/>
                </a:solidFill>
                <a:latin typeface="Segoe UI"/>
              </a:rPr>
              <a:t> (Ctrl+B)</a:t>
            </a:r>
          </a:p>
          <a:p>
            <a:pPr algn="r" marL="0" indent="0" rtl="1">
              <a:lnSpc>
                <a:spcPct val="108000"/>
              </a:lnSpc>
              <a:spcAft>
                <a:spcPts val="800"/>
              </a:spcAft>
            </a:pPr>
            <a:r>
              <a:rPr sz="1500" b="1" lang="ar-SA" algn="r">
                <a:solidFill>
                  <a:srgbClr val="C59421"/>
                </a:solidFill>
                <a:latin typeface="Segoe UI"/>
              </a:rPr>
              <a:t>•  </a:t>
            </a:r>
            <a:r>
              <a:rPr sz="1500" b="0" lang="ar-SA" algn="r">
                <a:solidFill>
                  <a:srgbClr val="1A202A"/>
                </a:solidFill>
                <a:latin typeface="Segoe UI"/>
              </a:rPr>
              <a:t>نعدّل البت الأوسط في محرّر الذاكرة (Ctrl+E) — بلا تجميع، بلا إعادة بناء</a:t>
            </a:r>
          </a:p>
          <a:p>
            <a:pPr algn="r" marL="0" indent="0" rtl="1">
              <a:lnSpc>
                <a:spcPct val="108000"/>
              </a:lnSpc>
              <a:spcAft>
                <a:spcPts val="800"/>
              </a:spcAft>
            </a:pPr>
            <a:r>
              <a:rPr sz="1500" b="1" lang="ar-SA" algn="r">
                <a:solidFill>
                  <a:srgbClr val="C59421"/>
                </a:solidFill>
                <a:latin typeface="Segoe UI"/>
              </a:rPr>
              <a:t>•  </a:t>
            </a:r>
            <a:r>
              <a:rPr sz="1500" b="0" lang="ar-SA" algn="r">
                <a:solidFill>
                  <a:srgbClr val="1A202A"/>
                </a:solidFill>
                <a:latin typeface="Segoe UI"/>
              </a:rPr>
              <a:t>الرتق على </a:t>
            </a:r>
            <a:r>
              <a:rPr sz="1500" b="1" lang="ar-SA" algn="r">
                <a:solidFill>
                  <a:srgbClr val="1A202A"/>
                </a:solidFill>
                <a:latin typeface="Segoe UI"/>
              </a:rPr>
              <a:t>صورة الذاكرة</a:t>
            </a:r>
            <a:r>
              <a:rPr sz="1500" b="0" lang="ar-SA" algn="r">
                <a:solidFill>
                  <a:srgbClr val="1A202A"/>
                </a:solidFill>
                <a:latin typeface="Segoe UI"/>
              </a:rPr>
              <a:t>: الملف على القرص سليم (0 تغييرات → 0 كشف)</a:t>
            </a:r>
          </a:p>
        </p:txBody>
      </p:sp>
      <p:sp>
        <p:nvSpPr>
          <p:cNvPr id="10" name="Rounded Rectangle 9"/>
          <p:cNvSpPr/>
          <p:nvPr/>
        </p:nvSpPr>
        <p:spPr>
          <a:xfrm>
            <a:off x="566928" y="3447288"/>
            <a:ext cx="2651760" cy="512064"/>
          </a:xfrm>
          <a:prstGeom prst="round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94944" y="3566160"/>
            <a:ext cx="2423160" cy="365760"/>
          </a:xfrm>
          <a:prstGeom prst="rect">
            <a:avLst/>
          </a:prstGeom>
          <a:noFill/>
        </p:spPr>
        <p:txBody>
          <a:bodyPr wrap="square" anchor="t" lIns="18288" rIns="18288" tIns="0" bIns="0">
            <a:spAutoFit/>
          </a:bodyPr>
          <a:lstStyle/>
          <a:p>
            <a:pPr algn="r" marL="0" indent="0" rtl="1">
              <a:lnSpc>
                <a:spcPct val="100000"/>
              </a:lnSpc>
              <a:spcAft>
                <a:spcPts val="600"/>
              </a:spcAft>
            </a:pPr>
            <a:r>
              <a:rPr sz="1200" b="1" lang="ar-SA" algn="r">
                <a:solidFill>
                  <a:srgbClr val="C59421"/>
                </a:solidFill>
                <a:latin typeface="Consolas"/>
              </a:rPr>
              <a:t>1. </a:t>
            </a:r>
            <a:r>
              <a:rPr sz="1300" b="1" lang="ar-SA" algn="r">
                <a:solidFill>
                  <a:srgbClr val="0B1D34"/>
                </a:solidFill>
                <a:latin typeface="Segoe UI"/>
              </a:rPr>
              <a:t>F3 ← `MizanPro.exe`</a:t>
            </a:r>
          </a:p>
        </p:txBody>
      </p:sp>
      <p:sp>
        <p:nvSpPr>
          <p:cNvPr id="12" name="Rounded Rectangle 11"/>
          <p:cNvSpPr/>
          <p:nvPr/>
        </p:nvSpPr>
        <p:spPr>
          <a:xfrm>
            <a:off x="3364992" y="3447288"/>
            <a:ext cx="2651760" cy="512064"/>
          </a:xfrm>
          <a:prstGeom prst="round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493008" y="3566160"/>
            <a:ext cx="2423160" cy="365760"/>
          </a:xfrm>
          <a:prstGeom prst="rect">
            <a:avLst/>
          </a:prstGeom>
          <a:noFill/>
        </p:spPr>
        <p:txBody>
          <a:bodyPr wrap="square" anchor="t" lIns="18288" rIns="18288" tIns="0" bIns="0">
            <a:spAutoFit/>
          </a:bodyPr>
          <a:lstStyle/>
          <a:p>
            <a:pPr algn="r" marL="0" indent="0" rtl="1">
              <a:lnSpc>
                <a:spcPct val="100000"/>
              </a:lnSpc>
              <a:spcAft>
                <a:spcPts val="600"/>
              </a:spcAft>
            </a:pPr>
            <a:r>
              <a:rPr sz="1200" b="1" lang="ar-SA" algn="r">
                <a:solidFill>
                  <a:srgbClr val="C59421"/>
                </a:solidFill>
                <a:latin typeface="Consolas"/>
              </a:rPr>
              <a:t>2. </a:t>
            </a:r>
            <a:r>
              <a:rPr sz="1300" b="1" lang="ar-SA" algn="r">
                <a:solidFill>
                  <a:srgbClr val="0B1D34"/>
                </a:solidFill>
                <a:latin typeface="Segoe UI"/>
              </a:rPr>
              <a:t>F9 × 2 ← تظهر النافذة</a:t>
            </a:r>
          </a:p>
        </p:txBody>
      </p:sp>
      <p:sp>
        <p:nvSpPr>
          <p:cNvPr id="14" name="Rounded Rectangle 13"/>
          <p:cNvSpPr/>
          <p:nvPr/>
        </p:nvSpPr>
        <p:spPr>
          <a:xfrm>
            <a:off x="6163056" y="3447288"/>
            <a:ext cx="2651760" cy="512064"/>
          </a:xfrm>
          <a:prstGeom prst="round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291072" y="3566160"/>
            <a:ext cx="2423160" cy="365760"/>
          </a:xfrm>
          <a:prstGeom prst="rect">
            <a:avLst/>
          </a:prstGeom>
          <a:noFill/>
        </p:spPr>
        <p:txBody>
          <a:bodyPr wrap="square" anchor="t" lIns="18288" rIns="18288" tIns="0" bIns="0">
            <a:spAutoFit/>
          </a:bodyPr>
          <a:lstStyle/>
          <a:p>
            <a:pPr algn="r" marL="0" indent="0" rtl="1">
              <a:lnSpc>
                <a:spcPct val="100000"/>
              </a:lnSpc>
              <a:spcAft>
                <a:spcPts val="600"/>
              </a:spcAft>
            </a:pPr>
            <a:r>
              <a:rPr sz="1200" b="1" lang="ar-SA" algn="r">
                <a:solidFill>
                  <a:srgbClr val="C59421"/>
                </a:solidFill>
                <a:latin typeface="Consolas"/>
              </a:rPr>
              <a:t>3. </a:t>
            </a:r>
            <a:r>
              <a:rPr sz="1300" b="1" lang="ar-SA" algn="r">
                <a:solidFill>
                  <a:srgbClr val="0B1D34"/>
                </a:solidFill>
                <a:latin typeface="Segoe UI"/>
              </a:rPr>
              <a:t>F12 ← إيقاف مؤقت</a:t>
            </a:r>
          </a:p>
        </p:txBody>
      </p:sp>
      <p:sp>
        <p:nvSpPr>
          <p:cNvPr id="16" name="Rounded Rectangle 15"/>
          <p:cNvSpPr/>
          <p:nvPr/>
        </p:nvSpPr>
        <p:spPr>
          <a:xfrm>
            <a:off x="8961120" y="3447288"/>
            <a:ext cx="2651760" cy="512064"/>
          </a:xfrm>
          <a:prstGeom prst="round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089136" y="3566160"/>
            <a:ext cx="2423160" cy="365760"/>
          </a:xfrm>
          <a:prstGeom prst="rect">
            <a:avLst/>
          </a:prstGeom>
          <a:noFill/>
        </p:spPr>
        <p:txBody>
          <a:bodyPr wrap="square" anchor="t" lIns="18288" rIns="18288" tIns="0" bIns="0">
            <a:spAutoFit/>
          </a:bodyPr>
          <a:lstStyle/>
          <a:p>
            <a:pPr algn="r" marL="0" indent="0" rtl="1">
              <a:lnSpc>
                <a:spcPct val="100000"/>
              </a:lnSpc>
              <a:spcAft>
                <a:spcPts val="600"/>
              </a:spcAft>
            </a:pPr>
            <a:r>
              <a:rPr sz="1200" b="1" lang="ar-SA" algn="r">
                <a:solidFill>
                  <a:srgbClr val="C59421"/>
                </a:solidFill>
                <a:latin typeface="Consolas"/>
              </a:rPr>
              <a:t>4. </a:t>
            </a:r>
            <a:r>
              <a:rPr sz="1300" b="1" lang="ar-SA" algn="r">
                <a:solidFill>
                  <a:srgbClr val="0B1D34"/>
                </a:solidFill>
                <a:latin typeface="Segoe UI"/>
              </a:rPr>
              <a:t>Alt+M ← `MizanPro.dll`</a:t>
            </a:r>
          </a:p>
        </p:txBody>
      </p:sp>
      <p:sp>
        <p:nvSpPr>
          <p:cNvPr id="18" name="Rounded Rectangle 17"/>
          <p:cNvSpPr/>
          <p:nvPr/>
        </p:nvSpPr>
        <p:spPr>
          <a:xfrm>
            <a:off x="566928" y="4050792"/>
            <a:ext cx="2651760" cy="512064"/>
          </a:xfrm>
          <a:prstGeom prst="roundRect">
            <a:avLst/>
          </a:prstGeom>
          <a:solidFill>
            <a:srgbClr val="0B1D34"/>
          </a:solidFill>
          <a:ln w="12700">
            <a:solidFill>
              <a:srgbClr val="C594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94944" y="4169664"/>
            <a:ext cx="2423160" cy="365760"/>
          </a:xfrm>
          <a:prstGeom prst="rect">
            <a:avLst/>
          </a:prstGeom>
          <a:noFill/>
        </p:spPr>
        <p:txBody>
          <a:bodyPr wrap="square" anchor="t" lIns="18288" rIns="18288" tIns="0" bIns="0">
            <a:spAutoFit/>
          </a:bodyPr>
          <a:lstStyle/>
          <a:p>
            <a:pPr algn="r" marL="0" indent="0" rtl="1">
              <a:lnSpc>
                <a:spcPct val="100000"/>
              </a:lnSpc>
              <a:spcAft>
                <a:spcPts val="600"/>
              </a:spcAft>
            </a:pPr>
            <a:r>
              <a:rPr sz="1200" b="1" lang="ar-SA" algn="r">
                <a:solidFill>
                  <a:srgbClr val="C59421"/>
                </a:solidFill>
                <a:latin typeface="Consolas"/>
              </a:rPr>
              <a:t>5. </a:t>
            </a:r>
            <a:r>
              <a:rPr sz="1300" b="1" lang="ar-SA" algn="r">
                <a:solidFill>
                  <a:srgbClr val="FFFFFF"/>
                </a:solidFill>
                <a:latin typeface="Segoe UI"/>
              </a:rPr>
              <a:t>Ctrl+B ← `1F 49 D0`</a:t>
            </a:r>
          </a:p>
        </p:txBody>
      </p:sp>
      <p:sp>
        <p:nvSpPr>
          <p:cNvPr id="20" name="Rounded Rectangle 19"/>
          <p:cNvSpPr/>
          <p:nvPr/>
        </p:nvSpPr>
        <p:spPr>
          <a:xfrm>
            <a:off x="3364992" y="4050792"/>
            <a:ext cx="2651760" cy="512064"/>
          </a:xfrm>
          <a:prstGeom prst="roundRect">
            <a:avLst/>
          </a:prstGeom>
          <a:solidFill>
            <a:srgbClr val="0B1D34"/>
          </a:solidFill>
          <a:ln w="12700">
            <a:solidFill>
              <a:srgbClr val="C594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493008" y="4169664"/>
            <a:ext cx="2423160" cy="365760"/>
          </a:xfrm>
          <a:prstGeom prst="rect">
            <a:avLst/>
          </a:prstGeom>
          <a:noFill/>
        </p:spPr>
        <p:txBody>
          <a:bodyPr wrap="square" anchor="t" lIns="18288" rIns="18288" tIns="0" bIns="0">
            <a:spAutoFit/>
          </a:bodyPr>
          <a:lstStyle/>
          <a:p>
            <a:pPr algn="r" marL="0" indent="0" rtl="1">
              <a:lnSpc>
                <a:spcPct val="100000"/>
              </a:lnSpc>
              <a:spcAft>
                <a:spcPts val="600"/>
              </a:spcAft>
            </a:pPr>
            <a:r>
              <a:rPr sz="1200" b="1" lang="ar-SA" algn="r">
                <a:solidFill>
                  <a:srgbClr val="C59421"/>
                </a:solidFill>
                <a:latin typeface="Consolas"/>
              </a:rPr>
              <a:t>6. </a:t>
            </a:r>
            <a:r>
              <a:rPr sz="1300" b="1" lang="ar-SA" algn="r">
                <a:solidFill>
                  <a:srgbClr val="FFFFFF"/>
                </a:solidFill>
                <a:latin typeface="Segoe UI"/>
              </a:rPr>
              <a:t>Ctrl+E ← `49`→`01`</a:t>
            </a:r>
          </a:p>
        </p:txBody>
      </p:sp>
      <p:sp>
        <p:nvSpPr>
          <p:cNvPr id="22" name="Rounded Rectangle 21"/>
          <p:cNvSpPr/>
          <p:nvPr/>
        </p:nvSpPr>
        <p:spPr>
          <a:xfrm>
            <a:off x="6163056" y="4050792"/>
            <a:ext cx="2651760" cy="512064"/>
          </a:xfrm>
          <a:prstGeom prst="round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291072" y="4169664"/>
            <a:ext cx="2423160" cy="365760"/>
          </a:xfrm>
          <a:prstGeom prst="rect">
            <a:avLst/>
          </a:prstGeom>
          <a:noFill/>
        </p:spPr>
        <p:txBody>
          <a:bodyPr wrap="square" anchor="t" lIns="18288" rIns="18288" tIns="0" bIns="0">
            <a:spAutoFit/>
          </a:bodyPr>
          <a:lstStyle/>
          <a:p>
            <a:pPr algn="r" marL="0" indent="0" rtl="1">
              <a:lnSpc>
                <a:spcPct val="100000"/>
              </a:lnSpc>
              <a:spcAft>
                <a:spcPts val="600"/>
              </a:spcAft>
            </a:pPr>
            <a:r>
              <a:rPr sz="1200" b="1" lang="ar-SA" algn="r">
                <a:solidFill>
                  <a:srgbClr val="C59421"/>
                </a:solidFill>
                <a:latin typeface="Consolas"/>
              </a:rPr>
              <a:t>7. </a:t>
            </a:r>
            <a:r>
              <a:rPr sz="1300" b="1" lang="ar-SA" algn="r">
                <a:solidFill>
                  <a:srgbClr val="0B1D34"/>
                </a:solidFill>
                <a:latin typeface="Segoe UI"/>
              </a:rPr>
              <a:t>Ctrl+P ← الرتق مسجَّل</a:t>
            </a:r>
          </a:p>
        </p:txBody>
      </p:sp>
      <p:sp>
        <p:nvSpPr>
          <p:cNvPr id="24" name="Rounded Rectangle 23"/>
          <p:cNvSpPr/>
          <p:nvPr/>
        </p:nvSpPr>
        <p:spPr>
          <a:xfrm>
            <a:off x="8961120" y="4050792"/>
            <a:ext cx="2651760" cy="512064"/>
          </a:xfrm>
          <a:prstGeom prst="round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9089136" y="4169664"/>
            <a:ext cx="2423160" cy="365760"/>
          </a:xfrm>
          <a:prstGeom prst="rect">
            <a:avLst/>
          </a:prstGeom>
          <a:noFill/>
        </p:spPr>
        <p:txBody>
          <a:bodyPr wrap="square" anchor="t" lIns="18288" rIns="18288" tIns="0" bIns="0">
            <a:spAutoFit/>
          </a:bodyPr>
          <a:lstStyle/>
          <a:p>
            <a:pPr algn="r" marL="0" indent="0" rtl="1">
              <a:lnSpc>
                <a:spcPct val="100000"/>
              </a:lnSpc>
              <a:spcAft>
                <a:spcPts val="600"/>
              </a:spcAft>
            </a:pPr>
            <a:r>
              <a:rPr sz="1200" b="1" lang="ar-SA" algn="r">
                <a:solidFill>
                  <a:srgbClr val="C59421"/>
                </a:solidFill>
                <a:latin typeface="Consolas"/>
              </a:rPr>
              <a:t>8. </a:t>
            </a:r>
            <a:r>
              <a:rPr sz="1300" b="1" lang="ar-SA" algn="r">
                <a:solidFill>
                  <a:srgbClr val="0B1D34"/>
                </a:solidFill>
                <a:latin typeface="Segoe UI"/>
              </a:rPr>
              <a:t>F9 ← ثم المفتاح</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57200" y="237744"/>
            <a:ext cx="5943600" cy="274320"/>
          </a:xfrm>
          <a:prstGeom prst="rect">
            <a:avLst/>
          </a:prstGeom>
          <a:noFill/>
        </p:spPr>
        <p:txBody>
          <a:bodyPr wrap="square" anchor="t" lIns="18288" rIns="18288" tIns="0" bIns="0">
            <a:spAutoFit/>
          </a:bodyPr>
          <a:lstStyle/>
          <a:p>
            <a:pPr algn="l" marL="0" indent="0" rtl="1">
              <a:lnSpc>
                <a:spcPct val="100000"/>
              </a:lnSpc>
              <a:spcAft>
                <a:spcPts val="600"/>
              </a:spcAft>
            </a:pPr>
            <a:r>
              <a:rPr sz="1200" b="0" lang="ar-SA" algn="l">
                <a:solidFill>
                  <a:srgbClr val="6C7C8C"/>
                </a:solidFill>
                <a:latin typeface="Consolas"/>
              </a:rPr>
              <a:t>08 · PROOF</a:t>
            </a:r>
          </a:p>
        </p:txBody>
      </p:sp>
      <p:sp>
        <p:nvSpPr>
          <p:cNvPr id="5" name="TextBox 4"/>
          <p:cNvSpPr txBox="1"/>
          <p:nvPr/>
        </p:nvSpPr>
        <p:spPr>
          <a:xfrm>
            <a:off x="5242255" y="182880"/>
            <a:ext cx="6492240" cy="566928"/>
          </a:xfrm>
          <a:prstGeom prst="rect">
            <a:avLst/>
          </a:prstGeom>
          <a:noFill/>
        </p:spPr>
        <p:txBody>
          <a:bodyPr wrap="square" anchor="t" lIns="18288" rIns="18288" tIns="0" bIns="0">
            <a:spAutoFit/>
          </a:bodyPr>
          <a:lstStyle/>
          <a:p>
            <a:pPr algn="r" marL="0" indent="0" rtl="1">
              <a:lnSpc>
                <a:spcPct val="100000"/>
              </a:lnSpc>
              <a:spcAft>
                <a:spcPts val="600"/>
              </a:spcAft>
            </a:pPr>
            <a:r>
              <a:rPr sz="3000" b="1" lang="ar-SA" algn="r">
                <a:solidFill>
                  <a:srgbClr val="0B1D34"/>
                </a:solidFill>
                <a:latin typeface="Segoe UI"/>
              </a:rPr>
              <a:t>الدليل السببي — ثلاث لقطات</a:t>
            </a:r>
          </a:p>
        </p:txBody>
      </p:sp>
      <p:sp>
        <p:nvSpPr>
          <p:cNvPr id="6" name="Rectangle 5"/>
          <p:cNvSpPr/>
          <p:nvPr/>
        </p:nvSpPr>
        <p:spPr>
          <a:xfrm>
            <a:off x="8899855" y="822960"/>
            <a:ext cx="2834640" cy="406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242255" y="914400"/>
            <a:ext cx="64922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6C7C8C"/>
                </a:solidFill>
                <a:latin typeface="Segoe UI"/>
              </a:rPr>
              <a:t>قبل / بعد / بعدُ الإغلاق</a:t>
            </a:r>
          </a:p>
        </p:txBody>
      </p:sp>
      <p:sp>
        <p:nvSpPr>
          <p:cNvPr id="8" name="Rectangle 7"/>
          <p:cNvSpPr/>
          <p:nvPr/>
        </p:nvSpPr>
        <p:spPr>
          <a:xfrm>
            <a:off x="514808" y="1389888"/>
            <a:ext cx="3611880" cy="2148840"/>
          </a:xfrm>
          <a:prstGeom prst="rect">
            <a:avLst/>
          </a:prstGeom>
          <a:solidFill>
            <a:srgbClr val="FFFFFF"/>
          </a:solidFill>
          <a:ln w="22225">
            <a:solidFill>
              <a:srgbClr val="B8242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14808" y="1389888"/>
            <a:ext cx="3611880" cy="384048"/>
          </a:xfrm>
          <a:prstGeom prst="rect">
            <a:avLst/>
          </a:prstGeom>
          <a:solidFill>
            <a:srgbClr val="B8242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97688" y="1444752"/>
            <a:ext cx="3200400" cy="320040"/>
          </a:xfrm>
          <a:prstGeom prst="rect">
            <a:avLst/>
          </a:prstGeom>
          <a:noFill/>
        </p:spPr>
        <p:txBody>
          <a:bodyPr wrap="square" anchor="t" lIns="18288" rIns="18288" tIns="0" bIns="0">
            <a:spAutoFit/>
          </a:bodyPr>
          <a:lstStyle/>
          <a:p>
            <a:pPr algn="r" marL="0" indent="0" rtl="1">
              <a:lnSpc>
                <a:spcPct val="100000"/>
              </a:lnSpc>
              <a:spcAft>
                <a:spcPts val="600"/>
              </a:spcAft>
            </a:pPr>
            <a:r>
              <a:rPr sz="1450" b="1" lang="ar-SA" algn="r">
                <a:solidFill>
                  <a:srgbClr val="FFFFFF"/>
                </a:solidFill>
                <a:latin typeface="Segoe UI"/>
              </a:rPr>
              <a:t>قبل الرتق</a:t>
            </a:r>
          </a:p>
        </p:txBody>
      </p:sp>
      <p:sp>
        <p:nvSpPr>
          <p:cNvPr id="11" name="TextBox 10"/>
          <p:cNvSpPr txBox="1"/>
          <p:nvPr/>
        </p:nvSpPr>
        <p:spPr>
          <a:xfrm>
            <a:off x="697688" y="1956816"/>
            <a:ext cx="3246120" cy="1371600"/>
          </a:xfrm>
          <a:prstGeom prst="rect">
            <a:avLst/>
          </a:prstGeom>
          <a:noFill/>
        </p:spPr>
        <p:txBody>
          <a:bodyPr wrap="square" anchor="t" lIns="18288" rIns="18288" tIns="0" bIns="0">
            <a:spAutoFit/>
          </a:bodyPr>
          <a:lstStyle/>
          <a:p>
            <a:pPr algn="r" marL="0" indent="0" rtl="1">
              <a:lnSpc>
                <a:spcPct val="120000"/>
              </a:lnSpc>
              <a:spcAft>
                <a:spcPts val="600"/>
              </a:spcAft>
            </a:pPr>
            <a:r>
              <a:rPr sz="1300" b="0" lang="ar-SA" algn="r">
                <a:solidFill>
                  <a:srgbClr val="1A202A"/>
                </a:solidFill>
                <a:latin typeface="Segoe UI"/>
              </a:rPr>
              <a:t>نفس المفتاح `5NOFK-…`
«مفتاح الترخيص غير صالح»</a:t>
            </a:r>
          </a:p>
        </p:txBody>
      </p:sp>
      <p:sp>
        <p:nvSpPr>
          <p:cNvPr id="12" name="Rectangle 11"/>
          <p:cNvSpPr/>
          <p:nvPr/>
        </p:nvSpPr>
        <p:spPr>
          <a:xfrm>
            <a:off x="4172407" y="1389888"/>
            <a:ext cx="3611880" cy="2148840"/>
          </a:xfrm>
          <a:prstGeom prst="rect">
            <a:avLst/>
          </a:prstGeom>
          <a:solidFill>
            <a:srgbClr val="FFFFFF"/>
          </a:solidFill>
          <a:ln w="22225">
            <a:solidFill>
              <a:srgbClr val="12784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4172407" y="1389888"/>
            <a:ext cx="3611880" cy="384048"/>
          </a:xfrm>
          <a:prstGeom prst="rect">
            <a:avLst/>
          </a:prstGeom>
          <a:solidFill>
            <a:srgbClr val="1278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355287" y="1444752"/>
            <a:ext cx="3200400" cy="320040"/>
          </a:xfrm>
          <a:prstGeom prst="rect">
            <a:avLst/>
          </a:prstGeom>
          <a:noFill/>
        </p:spPr>
        <p:txBody>
          <a:bodyPr wrap="square" anchor="t" lIns="18288" rIns="18288" tIns="0" bIns="0">
            <a:spAutoFit/>
          </a:bodyPr>
          <a:lstStyle/>
          <a:p>
            <a:pPr algn="r" marL="0" indent="0" rtl="1">
              <a:lnSpc>
                <a:spcPct val="100000"/>
              </a:lnSpc>
              <a:spcAft>
                <a:spcPts val="600"/>
              </a:spcAft>
            </a:pPr>
            <a:r>
              <a:rPr sz="1450" b="1" lang="ar-SA" algn="r">
                <a:solidFill>
                  <a:srgbClr val="FFFFFF"/>
                </a:solidFill>
                <a:latin typeface="Segoe UI"/>
              </a:rPr>
              <a:t>بعد بايت واحد</a:t>
            </a:r>
          </a:p>
        </p:txBody>
      </p:sp>
      <p:sp>
        <p:nvSpPr>
          <p:cNvPr id="15" name="TextBox 14"/>
          <p:cNvSpPr txBox="1"/>
          <p:nvPr/>
        </p:nvSpPr>
        <p:spPr>
          <a:xfrm>
            <a:off x="4355287" y="1956816"/>
            <a:ext cx="3246120" cy="1371600"/>
          </a:xfrm>
          <a:prstGeom prst="rect">
            <a:avLst/>
          </a:prstGeom>
          <a:noFill/>
        </p:spPr>
        <p:txBody>
          <a:bodyPr wrap="square" anchor="t" lIns="18288" rIns="18288" tIns="0" bIns="0">
            <a:spAutoFit/>
          </a:bodyPr>
          <a:lstStyle/>
          <a:p>
            <a:pPr algn="r" marL="0" indent="0" rtl="1">
              <a:lnSpc>
                <a:spcPct val="120000"/>
              </a:lnSpc>
              <a:spcAft>
                <a:spcPts val="600"/>
              </a:spcAft>
            </a:pPr>
            <a:r>
              <a:rPr sz="1300" b="0" lang="ar-SA" algn="r">
                <a:solidFill>
                  <a:srgbClr val="1A202A"/>
                </a:solidFill>
                <a:latin typeface="Segoe UI"/>
              </a:rPr>
              <a:t>«تم تفعيل ميزان Pro بنجاح!»
اللافتة PRO + `ActivationBlob` كُتب</a:t>
            </a:r>
          </a:p>
        </p:txBody>
      </p:sp>
      <p:sp>
        <p:nvSpPr>
          <p:cNvPr id="16" name="Rectangle 15"/>
          <p:cNvSpPr/>
          <p:nvPr/>
        </p:nvSpPr>
        <p:spPr>
          <a:xfrm>
            <a:off x="7830007" y="1389888"/>
            <a:ext cx="3611880" cy="2148840"/>
          </a:xfrm>
          <a:prstGeom prst="rect">
            <a:avLst/>
          </a:prstGeom>
          <a:solidFill>
            <a:srgbClr val="FFFFFF"/>
          </a:solidFill>
          <a:ln w="22225">
            <a:solidFill>
              <a:srgbClr val="0B1D3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7830007" y="1389888"/>
            <a:ext cx="3611880" cy="384048"/>
          </a:xfrm>
          <a:prstGeom prst="rect">
            <a:avLst/>
          </a:prstGeom>
          <a:solidFill>
            <a:srgbClr val="0B1D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012887" y="1444752"/>
            <a:ext cx="3200400" cy="320040"/>
          </a:xfrm>
          <a:prstGeom prst="rect">
            <a:avLst/>
          </a:prstGeom>
          <a:noFill/>
        </p:spPr>
        <p:txBody>
          <a:bodyPr wrap="square" anchor="t" lIns="18288" rIns="18288" tIns="0" bIns="0">
            <a:spAutoFit/>
          </a:bodyPr>
          <a:lstStyle/>
          <a:p>
            <a:pPr algn="r" marL="0" indent="0" rtl="1">
              <a:lnSpc>
                <a:spcPct val="100000"/>
              </a:lnSpc>
              <a:spcAft>
                <a:spcPts val="600"/>
              </a:spcAft>
            </a:pPr>
            <a:r>
              <a:rPr sz="1450" b="1" lang="ar-SA" algn="r">
                <a:solidFill>
                  <a:srgbClr val="FFFFFF"/>
                </a:solidFill>
                <a:latin typeface="Segoe UI"/>
              </a:rPr>
              <a:t>بعد إغلاق x32dbg</a:t>
            </a:r>
          </a:p>
        </p:txBody>
      </p:sp>
      <p:sp>
        <p:nvSpPr>
          <p:cNvPr id="19" name="TextBox 18"/>
          <p:cNvSpPr txBox="1"/>
          <p:nvPr/>
        </p:nvSpPr>
        <p:spPr>
          <a:xfrm>
            <a:off x="8012887" y="1956816"/>
            <a:ext cx="3246120" cy="1371600"/>
          </a:xfrm>
          <a:prstGeom prst="rect">
            <a:avLst/>
          </a:prstGeom>
          <a:noFill/>
        </p:spPr>
        <p:txBody>
          <a:bodyPr wrap="square" anchor="t" lIns="18288" rIns="18288" tIns="0" bIns="0">
            <a:spAutoFit/>
          </a:bodyPr>
          <a:lstStyle/>
          <a:p>
            <a:pPr algn="r" marL="0" indent="0" rtl="1">
              <a:lnSpc>
                <a:spcPct val="120000"/>
              </a:lnSpc>
              <a:spcAft>
                <a:spcPts val="600"/>
              </a:spcAft>
            </a:pPr>
            <a:r>
              <a:rPr sz="1300" b="0" lang="ar-SA" algn="r">
                <a:solidFill>
                  <a:srgbClr val="1A202A"/>
                </a:solidFill>
                <a:latin typeface="Segoe UI"/>
              </a:rPr>
              <a:t>نفس المفتاح **يُرفض** من جديد
(الملف على القرص لم يُمسّ)</a:t>
            </a:r>
          </a:p>
        </p:txBody>
      </p:sp>
      <p:sp>
        <p:nvSpPr>
          <p:cNvPr id="20" name="Rectangle 19"/>
          <p:cNvSpPr/>
          <p:nvPr/>
        </p:nvSpPr>
        <p:spPr>
          <a:xfrm>
            <a:off x="1127455" y="3675888"/>
            <a:ext cx="11064240" cy="868680"/>
          </a:xfrm>
          <a:prstGeom prst="rect">
            <a:avLst/>
          </a:prstGeom>
          <a:solidFill>
            <a:srgbClr val="F6F8FB"/>
          </a:solidFill>
          <a:ln w="15875">
            <a:solidFill>
              <a:srgbClr val="C594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356055" y="3785616"/>
            <a:ext cx="10607040" cy="685800"/>
          </a:xfrm>
          <a:prstGeom prst="rect">
            <a:avLst/>
          </a:prstGeom>
          <a:noFill/>
        </p:spPr>
        <p:txBody>
          <a:bodyPr wrap="square" anchor="t" lIns="18288" rIns="18288" tIns="0" bIns="0">
            <a:spAutoFit/>
          </a:bodyPr>
          <a:lstStyle/>
          <a:p>
            <a:pPr algn="r" marL="0" indent="0" rtl="1">
              <a:lnSpc>
                <a:spcPct val="100000"/>
              </a:lnSpc>
              <a:spcAft>
                <a:spcPts val="600"/>
              </a:spcAft>
            </a:pPr>
            <a:r>
              <a:rPr sz="1450" b="1" lang="ar-SA" algn="r">
                <a:solidFill>
                  <a:srgbClr val="0B1D34"/>
                </a:solidFill>
                <a:latin typeface="Segoe UI"/>
              </a:rPr>
              <a:t>لماذا هذا «كسر» وليس «خدعة شاشة»؟ </a:t>
            </a:r>
            <a:r>
              <a:rPr sz="1450" b="0" lang="ar-SA" algn="r">
                <a:solidFill>
                  <a:srgbClr val="1A202A"/>
                </a:solidFill>
                <a:latin typeface="Segoe UI"/>
              </a:rPr>
              <a:t>لأننا غيّرنا **معيار القبول** نفسه — أي مفتاح بنفس الصيغة صار مقبولاً، مع بقاء فحوص الطول والأبجدية تعمل. ولو سُئلت: «والمفتاح الطويل 21؟» ← ما زال مرفوضاً، وهذا يثبت أنك لم تُعطّل الدالة كلها.</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57200" y="237744"/>
            <a:ext cx="5943600" cy="274320"/>
          </a:xfrm>
          <a:prstGeom prst="rect">
            <a:avLst/>
          </a:prstGeom>
          <a:noFill/>
        </p:spPr>
        <p:txBody>
          <a:bodyPr wrap="square" anchor="t" lIns="18288" rIns="18288" tIns="0" bIns="0">
            <a:spAutoFit/>
          </a:bodyPr>
          <a:lstStyle/>
          <a:p>
            <a:pPr algn="l" marL="0" indent="0" rtl="1">
              <a:lnSpc>
                <a:spcPct val="100000"/>
              </a:lnSpc>
              <a:spcAft>
                <a:spcPts val="600"/>
              </a:spcAft>
            </a:pPr>
            <a:r>
              <a:rPr sz="1200" b="0" lang="ar-SA" algn="l">
                <a:solidFill>
                  <a:srgbClr val="6C7C8C"/>
                </a:solidFill>
                <a:latin typeface="Consolas"/>
              </a:rPr>
              <a:t>09 · THE TRAP</a:t>
            </a:r>
          </a:p>
        </p:txBody>
      </p:sp>
      <p:sp>
        <p:nvSpPr>
          <p:cNvPr id="5" name="TextBox 4"/>
          <p:cNvSpPr txBox="1"/>
          <p:nvPr/>
        </p:nvSpPr>
        <p:spPr>
          <a:xfrm>
            <a:off x="5242255" y="182880"/>
            <a:ext cx="6492240" cy="566928"/>
          </a:xfrm>
          <a:prstGeom prst="rect">
            <a:avLst/>
          </a:prstGeom>
          <a:noFill/>
        </p:spPr>
        <p:txBody>
          <a:bodyPr wrap="square" anchor="t" lIns="18288" rIns="18288" tIns="0" bIns="0">
            <a:spAutoFit/>
          </a:bodyPr>
          <a:lstStyle/>
          <a:p>
            <a:pPr algn="r" marL="0" indent="0" rtl="1">
              <a:lnSpc>
                <a:spcPct val="100000"/>
              </a:lnSpc>
              <a:spcAft>
                <a:spcPts val="600"/>
              </a:spcAft>
            </a:pPr>
            <a:r>
              <a:rPr sz="3000" b="1" lang="ar-SA" algn="r">
                <a:solidFill>
                  <a:srgbClr val="0B1D34"/>
                </a:solidFill>
                <a:latin typeface="Segoe UI"/>
              </a:rPr>
              <a:t>التجربة العكسية: لماذا رُفض المفتاح؟</a:t>
            </a:r>
          </a:p>
        </p:txBody>
      </p:sp>
      <p:sp>
        <p:nvSpPr>
          <p:cNvPr id="6" name="Rectangle 5"/>
          <p:cNvSpPr/>
          <p:nvPr/>
        </p:nvSpPr>
        <p:spPr>
          <a:xfrm>
            <a:off x="8899855" y="822960"/>
            <a:ext cx="2834640" cy="406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242255" y="914400"/>
            <a:ext cx="64922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6C7C8C"/>
                </a:solidFill>
                <a:latin typeface="Segoe UI"/>
              </a:rPr>
              <a:t>الفخ الذي يقع فيه 8 من 10 طلاب — ونحن صوّرناه</a:t>
            </a:r>
          </a:p>
        </p:txBody>
      </p:sp>
      <p:sp>
        <p:nvSpPr>
          <p:cNvPr id="8" name="TextBox 7"/>
          <p:cNvSpPr txBox="1"/>
          <p:nvPr/>
        </p:nvSpPr>
        <p:spPr>
          <a:xfrm>
            <a:off x="5790895" y="1389888"/>
            <a:ext cx="5943600" cy="2286000"/>
          </a:xfrm>
          <a:prstGeom prst="rect">
            <a:avLst/>
          </a:prstGeom>
          <a:noFill/>
        </p:spPr>
        <p:txBody>
          <a:bodyPr wrap="square" lIns="18288" rIns="18288" tIns="0" bIns="0">
            <a:spAutoFit/>
          </a:bodyPr>
          <a:lstStyle/>
          <a:p>
            <a:pPr algn="r" marL="0" indent="0" rtl="1">
              <a:lnSpc>
                <a:spcPct val="108000"/>
              </a:lnSpc>
              <a:spcAft>
                <a:spcPts val="600"/>
              </a:spcAft>
            </a:pPr>
            <a:r>
              <a:rPr sz="1450" b="1" lang="ar-SA" algn="r">
                <a:solidFill>
                  <a:srgbClr val="C59421"/>
                </a:solidFill>
                <a:latin typeface="Segoe UI"/>
              </a:rPr>
              <a:t>•  </a:t>
            </a:r>
            <a:r>
              <a:rPr sz="1450" b="0" lang="ar-SA" algn="r">
                <a:solidFill>
                  <a:srgbClr val="1A202A"/>
                </a:solidFill>
                <a:latin typeface="Segoe UI"/>
              </a:rPr>
              <a:t>التسلسل: فشل ← F12 ← رتق ← إعادة المحاولة</a:t>
            </a:r>
          </a:p>
          <a:p>
            <a:pPr algn="r" marL="0" indent="0" rtl="1">
              <a:lnSpc>
                <a:spcPct val="108000"/>
              </a:lnSpc>
              <a:spcAft>
                <a:spcPts val="600"/>
              </a:spcAft>
            </a:pPr>
            <a:r>
              <a:rPr sz="1450" b="1" lang="ar-SA" algn="r">
                <a:solidFill>
                  <a:srgbClr val="C59421"/>
                </a:solidFill>
                <a:latin typeface="Segoe UI"/>
              </a:rPr>
              <a:t>•  </a:t>
            </a:r>
            <a:r>
              <a:rPr sz="1450" b="0" lang="ar-SA" algn="r">
                <a:solidFill>
                  <a:srgbClr val="1A202A"/>
                </a:solidFill>
                <a:latin typeface="Segoe UI"/>
              </a:rPr>
              <a:t>النتيجة: </a:t>
            </a:r>
            <a:r>
              <a:rPr sz="1450" b="1" lang="ar-SA" algn="r">
                <a:solidFill>
                  <a:srgbClr val="1A202A"/>
                </a:solidFill>
                <a:latin typeface="Segoe UI"/>
              </a:rPr>
              <a:t>ما زال مرفوضاً</a:t>
            </a:r>
            <a:r>
              <a:rPr sz="1450" b="0" lang="ar-SA" algn="r">
                <a:solidFill>
                  <a:srgbClr val="1A202A"/>
                </a:solidFill>
                <a:latin typeface="Segoe UI"/>
              </a:rPr>
              <a:t> — رغم أن الـ Patches تعرض الرتق!</a:t>
            </a:r>
          </a:p>
          <a:p>
            <a:pPr algn="r" marL="0" indent="0" rtl="1">
              <a:lnSpc>
                <a:spcPct val="108000"/>
              </a:lnSpc>
              <a:spcAft>
                <a:spcPts val="600"/>
              </a:spcAft>
            </a:pPr>
            <a:r>
              <a:rPr sz="1450" b="1" lang="ar-SA" algn="r">
                <a:solidFill>
                  <a:srgbClr val="C59421"/>
                </a:solidFill>
                <a:latin typeface="Segoe UI"/>
              </a:rPr>
              <a:t>•  </a:t>
            </a:r>
            <a:r>
              <a:rPr sz="1450" b="0" lang="ar-SA" algn="r">
                <a:solidFill>
                  <a:srgbClr val="1A202A"/>
                </a:solidFill>
                <a:latin typeface="Segoe UI"/>
              </a:rPr>
              <a:t>السبب: </a:t>
            </a:r>
            <a:r>
              <a:rPr sz="1450" b="1" lang="ar-SA" algn="r">
                <a:solidFill>
                  <a:srgbClr val="8A5F0A"/>
                </a:solidFill>
                <a:latin typeface="Consolas"/>
              </a:rPr>
              <a:t>ParseAndVerify</a:t>
            </a:r>
            <a:r>
              <a:rPr sz="1450" b="0" lang="ar-SA" algn="r">
                <a:solidFill>
                  <a:srgbClr val="1A202A"/>
                </a:solidFill>
                <a:latin typeface="Segoe UI"/>
              </a:rPr>
              <a:t> تُرجمت إلى كود آلة من نسخة </a:t>
            </a:r>
            <a:r>
              <a:rPr sz="1450" b="1" lang="ar-SA" algn="r">
                <a:solidFill>
                  <a:srgbClr val="1A202A"/>
                </a:solidFill>
                <a:latin typeface="Segoe UI"/>
              </a:rPr>
              <a:t>IL القديمة</a:t>
            </a:r>
          </a:p>
          <a:p>
            <a:pPr algn="r" marL="0" indent="0" rtl="1">
              <a:lnSpc>
                <a:spcPct val="108000"/>
              </a:lnSpc>
              <a:spcAft>
                <a:spcPts val="600"/>
              </a:spcAft>
            </a:pPr>
            <a:r>
              <a:rPr sz="1450" b="1" lang="ar-SA" algn="r">
                <a:solidFill>
                  <a:srgbClr val="C59421"/>
                </a:solidFill>
                <a:latin typeface="Segoe UI"/>
              </a:rPr>
              <a:t>•  </a:t>
            </a:r>
            <a:r>
              <a:rPr sz="1450" b="0" lang="ar-SA" algn="r">
                <a:solidFill>
                  <a:srgbClr val="1A202A"/>
                </a:solidFill>
                <a:latin typeface="Segoe UI"/>
              </a:rPr>
              <a:t>العلاج: أعد التشغيل (Ctrl+F2) ورتق </a:t>
            </a:r>
            <a:r>
              <a:rPr sz="1450" b="1" lang="ar-SA" algn="r">
                <a:solidFill>
                  <a:srgbClr val="1A202A"/>
                </a:solidFill>
                <a:latin typeface="Segoe UI"/>
              </a:rPr>
              <a:t>قبل</a:t>
            </a:r>
            <a:r>
              <a:rPr sz="1450" b="0" lang="ar-SA" algn="r">
                <a:solidFill>
                  <a:srgbClr val="1A202A"/>
                </a:solidFill>
                <a:latin typeface="Segoe UI"/>
              </a:rPr>
              <a:t> أول استخدام</a:t>
            </a:r>
          </a:p>
          <a:p>
            <a:pPr algn="r" marL="0" indent="0" rtl="1">
              <a:lnSpc>
                <a:spcPct val="108000"/>
              </a:lnSpc>
              <a:spcAft>
                <a:spcPts val="600"/>
              </a:spcAft>
            </a:pPr>
            <a:r>
              <a:rPr sz="1450" b="1" lang="ar-SA" algn="r">
                <a:solidFill>
                  <a:srgbClr val="C59421"/>
                </a:solidFill>
                <a:latin typeface="Segoe UI"/>
              </a:rPr>
              <a:t>•  </a:t>
            </a:r>
            <a:r>
              <a:rPr sz="1450" b="0" lang="ar-SA" algn="r">
                <a:solidFill>
                  <a:srgbClr val="1A202A"/>
                </a:solidFill>
                <a:latin typeface="Segoe UI"/>
              </a:rPr>
              <a:t>البديل الأكيد: رتق الملف على القرص (HxD/dnSpy)</a:t>
            </a:r>
          </a:p>
        </p:txBody>
      </p:sp>
      <p:sp>
        <p:nvSpPr>
          <p:cNvPr id="9" name="Rounded Rectangle 8"/>
          <p:cNvSpPr/>
          <p:nvPr/>
        </p:nvSpPr>
        <p:spPr>
          <a:xfrm>
            <a:off x="566928" y="1389888"/>
            <a:ext cx="5074920" cy="2286000"/>
          </a:xfrm>
          <a:prstGeom prst="roundRect">
            <a:avLst/>
          </a:prstGeom>
          <a:solidFill>
            <a:srgbClr val="0B1D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1554480"/>
            <a:ext cx="4572000" cy="457200"/>
          </a:xfrm>
          <a:prstGeom prst="rect">
            <a:avLst/>
          </a:prstGeom>
          <a:noFill/>
        </p:spPr>
        <p:txBody>
          <a:bodyPr wrap="square" anchor="t" lIns="18288" rIns="18288" tIns="0" bIns="0">
            <a:spAutoFit/>
          </a:bodyPr>
          <a:lstStyle/>
          <a:p>
            <a:pPr algn="r" marL="0" indent="0" rtl="1">
              <a:lnSpc>
                <a:spcPct val="100000"/>
              </a:lnSpc>
              <a:spcAft>
                <a:spcPts val="600"/>
              </a:spcAft>
            </a:pPr>
            <a:r>
              <a:rPr sz="1500" b="1" lang="ar-SA" algn="r">
                <a:solidFill>
                  <a:srgbClr val="C59421"/>
                </a:solidFill>
                <a:latin typeface="Segoe UI"/>
              </a:rPr>
              <a:t>الخلاصة التي تُكتب في التقرير</a:t>
            </a:r>
          </a:p>
        </p:txBody>
      </p:sp>
      <p:sp>
        <p:nvSpPr>
          <p:cNvPr id="11" name="TextBox 10"/>
          <p:cNvSpPr txBox="1"/>
          <p:nvPr/>
        </p:nvSpPr>
        <p:spPr>
          <a:xfrm>
            <a:off x="822960" y="1956816"/>
            <a:ext cx="4572000" cy="1554480"/>
          </a:xfrm>
          <a:prstGeom prst="rect">
            <a:avLst/>
          </a:prstGeom>
          <a:noFill/>
        </p:spPr>
        <p:txBody>
          <a:bodyPr wrap="square" anchor="t" lIns="18288" rIns="18288" tIns="0" bIns="0">
            <a:spAutoFit/>
          </a:bodyPr>
          <a:lstStyle/>
          <a:p>
            <a:pPr algn="r" marL="0" indent="0" rtl="1">
              <a:lnSpc>
                <a:spcPct val="125000"/>
              </a:lnSpc>
              <a:spcAft>
                <a:spcPts val="600"/>
              </a:spcAft>
            </a:pPr>
            <a:r>
              <a:rPr sz="1400" b="0" lang="ar-SA" algn="r">
                <a:solidFill>
                  <a:srgbClr val="FFFFFF"/>
                </a:solidFill>
                <a:latin typeface="Segoe UI"/>
              </a:rPr>
              <a:t>«في بيئة مُدارة، تعديل الصورة المُدارة لا يكفي إن كانت الطريقة قد تُرجمت مسبقاً. التوقيت جزء من التهديد، والنسخة المُعدّة للعرض يجب أن تُبنى بحيث تُطبَّق الرتقة قبل أول استدعاء — أو تُطبَّق على القرص».</a:t>
            </a:r>
          </a:p>
        </p:txBody>
      </p:sp>
      <p:sp>
        <p:nvSpPr>
          <p:cNvPr id="12" name="Rectangle 11"/>
          <p:cNvSpPr/>
          <p:nvPr/>
        </p:nvSpPr>
        <p:spPr>
          <a:xfrm>
            <a:off x="566928" y="3813048"/>
            <a:ext cx="5074920" cy="310896"/>
          </a:xfrm>
          <a:prstGeom prst="rect">
            <a:avLst/>
          </a:prstGeom>
          <a:solidFill>
            <a:srgbClr val="142C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marL="0" indent="0" rtl="1"/>
            <a:r>
              <a:rPr sz="1200" b="1" lang="ar-SA" algn="ctr">
                <a:solidFill>
                  <a:srgbClr val="FFFFFF"/>
                </a:solidFill>
                <a:latin typeface="Segoe UI"/>
              </a:rPr>
              <a:t>شغّل `DOTNET_TieredCompilation=0` أثناء البروفة لتثبيت العناوين</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57200" y="237744"/>
            <a:ext cx="5943600" cy="274320"/>
          </a:xfrm>
          <a:prstGeom prst="rect">
            <a:avLst/>
          </a:prstGeom>
          <a:noFill/>
        </p:spPr>
        <p:txBody>
          <a:bodyPr wrap="square" anchor="t" lIns="18288" rIns="18288" tIns="0" bIns="0">
            <a:spAutoFit/>
          </a:bodyPr>
          <a:lstStyle/>
          <a:p>
            <a:pPr algn="l" marL="0" indent="0" rtl="1">
              <a:lnSpc>
                <a:spcPct val="100000"/>
              </a:lnSpc>
              <a:spcAft>
                <a:spcPts val="600"/>
              </a:spcAft>
            </a:pPr>
            <a:r>
              <a:rPr sz="1200" b="0" lang="ar-SA" algn="l">
                <a:solidFill>
                  <a:srgbClr val="6C7C8C"/>
                </a:solidFill>
                <a:latin typeface="Consolas"/>
              </a:rPr>
              <a:t>10 · CRACK №3 &amp; PERMANENT</a:t>
            </a:r>
          </a:p>
        </p:txBody>
      </p:sp>
      <p:sp>
        <p:nvSpPr>
          <p:cNvPr id="5" name="TextBox 4"/>
          <p:cNvSpPr txBox="1"/>
          <p:nvPr/>
        </p:nvSpPr>
        <p:spPr>
          <a:xfrm>
            <a:off x="5242255" y="182880"/>
            <a:ext cx="6492240" cy="566928"/>
          </a:xfrm>
          <a:prstGeom prst="rect">
            <a:avLst/>
          </a:prstGeom>
          <a:noFill/>
        </p:spPr>
        <p:txBody>
          <a:bodyPr wrap="square" anchor="t" lIns="18288" rIns="18288" tIns="0" bIns="0">
            <a:spAutoFit/>
          </a:bodyPr>
          <a:lstStyle/>
          <a:p>
            <a:pPr algn="r" marL="0" indent="0" rtl="1">
              <a:lnSpc>
                <a:spcPct val="100000"/>
              </a:lnSpc>
              <a:spcAft>
                <a:spcPts val="600"/>
              </a:spcAft>
            </a:pPr>
            <a:r>
              <a:rPr sz="3000" b="1" lang="ar-SA" algn="r">
                <a:solidFill>
                  <a:srgbClr val="0B1D34"/>
                </a:solidFill>
                <a:latin typeface="Segoe UI"/>
              </a:rPr>
              <a:t>تشريح API… ثم الرتق الدائم</a:t>
            </a:r>
          </a:p>
        </p:txBody>
      </p:sp>
      <p:sp>
        <p:nvSpPr>
          <p:cNvPr id="6" name="Rectangle 5"/>
          <p:cNvSpPr/>
          <p:nvPr/>
        </p:nvSpPr>
        <p:spPr>
          <a:xfrm>
            <a:off x="8899855" y="822960"/>
            <a:ext cx="2834640" cy="406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242255" y="914400"/>
            <a:ext cx="64922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6C7C8C"/>
                </a:solidFill>
                <a:latin typeface="Segoe UI"/>
              </a:rPr>
              <a:t>نفس الهدف بثلاث أدوات — وأمانة التسمية أمام الجمهور</a:t>
            </a:r>
          </a:p>
        </p:txBody>
      </p:sp>
      <p:sp>
        <p:nvSpPr>
          <p:cNvPr id="8" name="Rectangle 7"/>
          <p:cNvSpPr/>
          <p:nvPr/>
        </p:nvSpPr>
        <p:spPr>
          <a:xfrm>
            <a:off x="6430975" y="1344168"/>
            <a:ext cx="5303520" cy="3017520"/>
          </a:xfrm>
          <a:prstGeom prst="rect">
            <a:avLst/>
          </a:prstGeom>
          <a:solidFill>
            <a:srgbClr val="F6F8FB"/>
          </a:solidFill>
          <a:ln w="15240">
            <a:solidFill>
              <a:srgbClr val="0B1D3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6659575" y="1463040"/>
            <a:ext cx="4846320" cy="365760"/>
          </a:xfrm>
          <a:prstGeom prst="rect">
            <a:avLst/>
          </a:prstGeom>
          <a:noFill/>
        </p:spPr>
        <p:txBody>
          <a:bodyPr wrap="square" anchor="t" lIns="18288" rIns="18288" tIns="0" bIns="0">
            <a:spAutoFit/>
          </a:bodyPr>
          <a:lstStyle/>
          <a:p>
            <a:pPr algn="r" marL="0" indent="0" rtl="1">
              <a:lnSpc>
                <a:spcPct val="100000"/>
              </a:lnSpc>
              <a:spcAft>
                <a:spcPts val="600"/>
              </a:spcAft>
            </a:pPr>
            <a:r>
              <a:rPr sz="1600" b="1" lang="ar-SA" algn="r">
                <a:solidFill>
                  <a:srgbClr val="0B1D34"/>
                </a:solidFill>
                <a:latin typeface="Segoe UI"/>
              </a:rPr>
              <a:t>تشريح — لا كسر</a:t>
            </a:r>
          </a:p>
        </p:txBody>
      </p:sp>
      <p:sp>
        <p:nvSpPr>
          <p:cNvPr id="10" name="TextBox 9"/>
          <p:cNvSpPr txBox="1"/>
          <p:nvPr/>
        </p:nvSpPr>
        <p:spPr>
          <a:xfrm>
            <a:off x="6659575" y="1865376"/>
            <a:ext cx="4846320" cy="2286000"/>
          </a:xfrm>
          <a:prstGeom prst="rect">
            <a:avLst/>
          </a:prstGeom>
          <a:noFill/>
        </p:spPr>
        <p:txBody>
          <a:bodyPr wrap="square" lIns="18288" rIns="18288" tIns="0" bIns="0">
            <a:spAutoFit/>
          </a:bodyPr>
          <a:lstStyle/>
          <a:p>
            <a:pPr algn="r" marL="0" indent="0" rtl="1">
              <a:lnSpc>
                <a:spcPct val="108000"/>
              </a:lnSpc>
              <a:spcAft>
                <a:spcPts val="500"/>
              </a:spcAft>
            </a:pPr>
            <a:r>
              <a:rPr sz="1300" b="1" lang="ar-SA" algn="r">
                <a:solidFill>
                  <a:srgbClr val="C59421"/>
                </a:solidFill>
                <a:latin typeface="Segoe UI"/>
              </a:rPr>
              <a:t>•  </a:t>
            </a:r>
            <a:r>
              <a:rPr sz="1300" b="0" lang="ar-SA" algn="r">
                <a:solidFill>
                  <a:srgbClr val="1A202A"/>
                </a:solidFill>
                <a:latin typeface="Segoe UI"/>
              </a:rPr>
              <a:t>أنهِ التجربة: </a:t>
            </a:r>
            <a:r>
              <a:rPr sz="1300" b="1" lang="ar-SA" algn="r">
                <a:solidFill>
                  <a:srgbClr val="8A5F0A"/>
                </a:solidFill>
                <a:latin typeface="Consolas"/>
              </a:rPr>
              <a:t>InstallDate = 20250101</a:t>
            </a:r>
          </a:p>
          <a:p>
            <a:pPr algn="r" marL="0" indent="0" rtl="1">
              <a:lnSpc>
                <a:spcPct val="108000"/>
              </a:lnSpc>
              <a:spcAft>
                <a:spcPts val="500"/>
              </a:spcAft>
            </a:pPr>
            <a:r>
              <a:rPr sz="1300" b="1" lang="ar-SA" algn="r">
                <a:solidFill>
                  <a:srgbClr val="C59421"/>
                </a:solidFill>
                <a:latin typeface="Segoe UI"/>
              </a:rPr>
              <a:t>•  </a:t>
            </a:r>
            <a:r>
              <a:rPr sz="1300" b="1" lang="ar-SA" algn="r">
                <a:solidFill>
                  <a:srgbClr val="8A5F0A"/>
                </a:solidFill>
                <a:latin typeface="Consolas"/>
              </a:rPr>
              <a:t>bp user32.MessageBoxW</a:t>
            </a:r>
            <a:r>
              <a:rPr sz="1300" b="0" lang="ar-SA" algn="r">
                <a:solidFill>
                  <a:srgbClr val="1A202A"/>
                </a:solidFill>
                <a:latin typeface="Segoe UI"/>
              </a:rPr>
              <a:t> ← </a:t>
            </a:r>
            <a:r>
              <a:rPr sz="1300" b="1" lang="ar-SA" algn="r">
                <a:solidFill>
                  <a:srgbClr val="1A202A"/>
                </a:solidFill>
                <a:latin typeface="Segoe UI"/>
              </a:rPr>
              <a:t>F9</a:t>
            </a:r>
            <a:r>
              <a:rPr sz="1300" b="0" lang="ar-SA" algn="r">
                <a:solidFill>
                  <a:srgbClr val="1A202A"/>
                </a:solidFill>
                <a:latin typeface="Segoe UI"/>
              </a:rPr>
              <a:t> ← صندوق الرسالة</a:t>
            </a:r>
          </a:p>
          <a:p>
            <a:pPr algn="r" marL="0" indent="0" rtl="1">
              <a:lnSpc>
                <a:spcPct val="108000"/>
              </a:lnSpc>
              <a:spcAft>
                <a:spcPts val="500"/>
              </a:spcAft>
            </a:pPr>
            <a:r>
              <a:rPr sz="1300" b="1" lang="ar-SA" algn="r">
                <a:solidFill>
                  <a:srgbClr val="C59421"/>
                </a:solidFill>
                <a:latin typeface="Segoe UI"/>
              </a:rPr>
              <a:t>•  </a:t>
            </a:r>
            <a:r>
              <a:rPr sz="1300" b="0" lang="ar-SA" algn="r">
                <a:solidFill>
                  <a:srgbClr val="1A202A"/>
                </a:solidFill>
                <a:latin typeface="Segoe UI"/>
              </a:rPr>
              <a:t>Alt+K: الإطارات </a:t>
            </a:r>
            <a:r>
              <a:rPr sz="1300" b="1" lang="ar-SA" algn="r">
                <a:solidFill>
                  <a:srgbClr val="8A5F0A"/>
                </a:solidFill>
                <a:latin typeface="Consolas"/>
              </a:rPr>
              <a:t>user32</a:t>
            </a:r>
            <a:r>
              <a:rPr sz="1300" b="0" lang="ar-SA" algn="r">
                <a:solidFill>
                  <a:srgbClr val="1A202A"/>
                </a:solidFill>
                <a:latin typeface="Segoe UI"/>
              </a:rPr>
              <a:t> ← </a:t>
            </a:r>
            <a:r>
              <a:rPr sz="1300" b="1" lang="ar-SA" algn="r">
                <a:solidFill>
                  <a:srgbClr val="8A5F0A"/>
                </a:solidFill>
                <a:latin typeface="Consolas"/>
              </a:rPr>
              <a:t>coreclr.dll</a:t>
            </a:r>
            <a:r>
              <a:rPr sz="1300" b="0" lang="ar-SA" algn="r">
                <a:solidFill>
                  <a:srgbClr val="1A202A"/>
                </a:solidFill>
                <a:latin typeface="Segoe UI"/>
              </a:rPr>
              <a:t> ← </a:t>
            </a:r>
            <a:r>
              <a:rPr sz="1300" b="1" lang="ar-SA" algn="r">
                <a:solidFill>
                  <a:srgbClr val="8A5F0A"/>
                </a:solidFill>
                <a:latin typeface="Consolas"/>
              </a:rPr>
              <a:t>clrjit.dll</a:t>
            </a:r>
          </a:p>
          <a:p>
            <a:pPr algn="r" marL="0" indent="0" rtl="1">
              <a:lnSpc>
                <a:spcPct val="108000"/>
              </a:lnSpc>
              <a:spcAft>
                <a:spcPts val="500"/>
              </a:spcAft>
            </a:pPr>
            <a:r>
              <a:rPr sz="1300" b="1" lang="ar-SA" algn="r">
                <a:solidFill>
                  <a:srgbClr val="C59421"/>
                </a:solidFill>
                <a:latin typeface="Segoe UI"/>
              </a:rPr>
              <a:t>•  </a:t>
            </a:r>
            <a:r>
              <a:rPr sz="1300" b="0" lang="ar-SA" algn="r">
                <a:solidFill>
                  <a:srgbClr val="1A202A"/>
                </a:solidFill>
                <a:latin typeface="Segoe UI"/>
              </a:rPr>
              <a:t>Ctrl+F9 ← </a:t>
            </a:r>
            <a:r>
              <a:rPr sz="1300" b="1" lang="ar-SA" algn="r">
                <a:solidFill>
                  <a:srgbClr val="8A5F0A"/>
                </a:solidFill>
                <a:latin typeface="Consolas"/>
              </a:rPr>
              <a:t>EAX = 1</a:t>
            </a:r>
            <a:r>
              <a:rPr sz="1300" b="0" lang="ar-SA" algn="r">
                <a:solidFill>
                  <a:srgbClr val="1A202A"/>
                </a:solidFill>
                <a:latin typeface="Segoe UI"/>
              </a:rPr>
              <a:t> (IDOK) ← عدّله إلى 0</a:t>
            </a:r>
          </a:p>
          <a:p>
            <a:pPr algn="r" marL="0" indent="0" rtl="1">
              <a:lnSpc>
                <a:spcPct val="108000"/>
              </a:lnSpc>
              <a:spcAft>
                <a:spcPts val="500"/>
              </a:spcAft>
            </a:pPr>
            <a:r>
              <a:rPr sz="1300" b="1" lang="ar-SA" algn="r">
                <a:solidFill>
                  <a:srgbClr val="C59421"/>
                </a:solidFill>
                <a:latin typeface="Segoe UI"/>
              </a:rPr>
              <a:t>•  </a:t>
            </a:r>
            <a:r>
              <a:rPr sz="1300" b="0" lang="ar-SA" algn="r">
                <a:solidFill>
                  <a:srgbClr val="1A202A"/>
                </a:solidFill>
                <a:latin typeface="Segoe UI"/>
              </a:rPr>
              <a:t>**النتيجة: لا شيء يتغيّر** — لأن </a:t>
            </a:r>
            <a:r>
              <a:rPr sz="1300" b="1" lang="ar-SA" algn="r">
                <a:solidFill>
                  <a:srgbClr val="8A5F0A"/>
                </a:solidFill>
                <a:latin typeface="Consolas"/>
              </a:rPr>
              <a:t>App.xaml.cs</a:t>
            </a:r>
            <a:r>
              <a:rPr sz="1300" b="0" lang="ar-SA" algn="r">
                <a:solidFill>
                  <a:srgbClr val="1A202A"/>
                </a:solidFill>
                <a:latin typeface="Segoe UI"/>
              </a:rPr>
              <a:t> يتجاهل النتيجة</a:t>
            </a:r>
          </a:p>
          <a:p>
            <a:pPr algn="r" marL="0" indent="0" rtl="1">
              <a:lnSpc>
                <a:spcPct val="108000"/>
              </a:lnSpc>
              <a:spcAft>
                <a:spcPts val="500"/>
              </a:spcAft>
            </a:pPr>
            <a:r>
              <a:rPr sz="1300" b="1" lang="ar-SA" algn="r">
                <a:solidFill>
                  <a:srgbClr val="C59421"/>
                </a:solidFill>
                <a:latin typeface="Segoe UI"/>
              </a:rPr>
              <a:t>•  </a:t>
            </a:r>
            <a:r>
              <a:rPr sz="1300" b="0" lang="ar-SA" algn="r">
                <a:solidFill>
                  <a:srgbClr val="1A202A"/>
                </a:solidFill>
                <a:latin typeface="Segoe UI"/>
              </a:rPr>
              <a:t>الدرس: القرار قبل الصندوق — لا تُسمِّ تعديل العرض كسراً</a:t>
            </a:r>
          </a:p>
        </p:txBody>
      </p:sp>
      <p:sp>
        <p:nvSpPr>
          <p:cNvPr id="11" name="Rectangle 10"/>
          <p:cNvSpPr/>
          <p:nvPr/>
        </p:nvSpPr>
        <p:spPr>
          <a:xfrm>
            <a:off x="566928" y="1344168"/>
            <a:ext cx="5212080" cy="3017520"/>
          </a:xfrm>
          <a:prstGeom prst="rect">
            <a:avLst/>
          </a:prstGeom>
          <a:solidFill>
            <a:srgbClr val="141D2C"/>
          </a:solidFill>
          <a:ln w="15240">
            <a:solidFill>
              <a:srgbClr val="C594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22960" y="1463040"/>
            <a:ext cx="4709160" cy="365760"/>
          </a:xfrm>
          <a:prstGeom prst="rect">
            <a:avLst/>
          </a:prstGeom>
          <a:noFill/>
        </p:spPr>
        <p:txBody>
          <a:bodyPr wrap="square" anchor="t" lIns="18288" rIns="18288" tIns="0" bIns="0">
            <a:spAutoFit/>
          </a:bodyPr>
          <a:lstStyle/>
          <a:p>
            <a:pPr algn="r" marL="0" indent="0" rtl="1">
              <a:lnSpc>
                <a:spcPct val="100000"/>
              </a:lnSpc>
              <a:spcAft>
                <a:spcPts val="600"/>
              </a:spcAft>
            </a:pPr>
            <a:r>
              <a:rPr sz="1600" b="1" lang="ar-SA" algn="r">
                <a:solidFill>
                  <a:srgbClr val="C59421"/>
                </a:solidFill>
                <a:latin typeface="Segoe UI"/>
              </a:rPr>
              <a:t>الرتق الدائم — 3 خطوات</a:t>
            </a:r>
          </a:p>
        </p:txBody>
      </p:sp>
      <p:sp>
        <p:nvSpPr>
          <p:cNvPr id="13" name="Rectangle 12"/>
          <p:cNvSpPr/>
          <p:nvPr/>
        </p:nvSpPr>
        <p:spPr>
          <a:xfrm>
            <a:off x="822960" y="1865376"/>
            <a:ext cx="4709160" cy="2286000"/>
          </a:xfrm>
          <a:prstGeom prst="rect">
            <a:avLst/>
          </a:prstGeom>
          <a:solidFill>
            <a:srgbClr val="141D2C"/>
          </a:solidFill>
          <a:ln w="12700">
            <a:solidFill>
              <a:srgbClr val="C59421"/>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a:lstStyle/>
          <a:p>
            <a:pPr algn="l" marL="0" indent="0">
              <a:lnSpc>
                <a:spcPct val="102000"/>
              </a:lnSpc>
              <a:spcAft>
                <a:spcPts val="200"/>
              </a:spcAft>
            </a:pPr>
            <a:r>
              <a:rPr sz="1200" lang="ar-SA">
                <a:solidFill>
                  <a:srgbClr val="E2ECF8"/>
                </a:solidFill>
                <a:latin typeface="Consolas"/>
              </a:rPr>
              <a:t>copy MizanPro.dll MizanPro_cracked.dll</a:t>
            </a:r>
          </a:p>
          <a:p>
            <a:pPr algn="l" marL="0" indent="0">
              <a:lnSpc>
                <a:spcPct val="102000"/>
              </a:lnSpc>
              <a:spcAft>
                <a:spcPts val="200"/>
              </a:spcAft>
            </a:pPr>
            <a:r>
              <a:rPr sz="1200" lang="ar-SA">
                <a:solidFill>
                  <a:srgbClr val="E2ECF8"/>
                </a:solidFill>
                <a:latin typeface="Consolas"/>
              </a:rPr>
              <a:t>HxD → Ctrl+F → 1F 49 D0 → 49 ← 01 → Save</a:t>
            </a:r>
          </a:p>
          <a:p>
            <a:pPr algn="l" marL="0" indent="0">
              <a:lnSpc>
                <a:spcPct val="102000"/>
              </a:lnSpc>
              <a:spcAft>
                <a:spcPts val="200"/>
              </a:spcAft>
            </a:pPr>
            <a:r>
              <a:rPr sz="1200" lang="ar-SA">
                <a:solidFill>
                  <a:srgbClr val="E2ECF8"/>
                </a:solidFill>
                <a:latin typeface="Consolas"/>
              </a:rPr>
              <a:t>reset-license.bat</a:t>
            </a:r>
          </a:p>
          <a:p>
            <a:pPr algn="l" marL="0" indent="0">
              <a:lnSpc>
                <a:spcPct val="102000"/>
              </a:lnSpc>
              <a:spcAft>
                <a:spcPts val="200"/>
              </a:spcAft>
            </a:pPr>
            <a:r>
              <a:rPr sz="1200" lang="ar-SA">
                <a:solidFill>
                  <a:srgbClr val="E2ECF8"/>
                </a:solidFill>
                <a:latin typeface="Consolas"/>
              </a:rPr>
              <a:t>MizanPro.exe → 5NOFK-JQB1Z-7HSHF-NOP6D  ✓</a:t>
            </a:r>
          </a:p>
          <a:p>
            <a:pPr algn="l" marL="0" indent="0">
              <a:lnSpc>
                <a:spcPct val="102000"/>
              </a:lnSpc>
              <a:spcAft>
                <a:spcPts val="200"/>
              </a:spcAft>
            </a:pPr>
            <a:r>
              <a:rPr sz="1200" lang="ar-SA">
                <a:solidFill>
                  <a:srgbClr val="7CC49C"/>
                </a:solidFill>
                <a:latin typeface="Consolas"/>
              </a:rPr>
              <a:t># أو dnSpyEx: Edit IL Body ← 17 2A (ldc.i4.1; ret)</a:t>
            </a:r>
          </a:p>
          <a:p>
            <a:pPr algn="l" marL="0" indent="0">
              <a:lnSpc>
                <a:spcPct val="102000"/>
              </a:lnSpc>
              <a:spcAft>
                <a:spcPts val="200"/>
              </a:spcAft>
            </a:pPr>
            <a:r>
              <a:rPr sz="1200" lang="ar-SA">
                <a:solidFill>
                  <a:srgbClr val="7CC49C"/>
                </a:solidFill>
                <a:latin typeface="Consolas"/>
              </a:rPr>
              <a:t>#  ← ثم Save Module (يتطلب PublishSingleFile=false)</a:t>
            </a:r>
          </a:p>
        </p:txBody>
      </p:sp>
      <p:sp>
        <p:nvSpPr>
          <p:cNvPr id="14" name="TextBox 13"/>
          <p:cNvSpPr txBox="1"/>
          <p:nvPr/>
        </p:nvSpPr>
        <p:spPr>
          <a:xfrm>
            <a:off x="566928" y="4498848"/>
            <a:ext cx="11064240" cy="548640"/>
          </a:xfrm>
          <a:prstGeom prst="rect">
            <a:avLst/>
          </a:prstGeom>
          <a:noFill/>
        </p:spPr>
        <p:txBody>
          <a:bodyPr wrap="square" anchor="t" lIns="18288" rIns="18288" tIns="0" bIns="0">
            <a:spAutoFit/>
          </a:bodyPr>
          <a:lstStyle/>
          <a:p>
            <a:pPr algn="r" marL="0" indent="0" rtl="1">
              <a:lnSpc>
                <a:spcPct val="100000"/>
              </a:lnSpc>
              <a:spcAft>
                <a:spcPts val="600"/>
              </a:spcAft>
            </a:pPr>
            <a:r>
              <a:rPr sz="1500" b="1" lang="ar-SA" algn="r">
                <a:solidFill>
                  <a:srgbClr val="B82424"/>
                </a:solidFill>
                <a:latin typeface="Segoe UI"/>
              </a:rPr>
              <a:t>ملاحظة هندسية: </a:t>
            </a:r>
            <a:r>
              <a:rPr sz="1500" b="0" lang="ar-SA" algn="r">
                <a:solidFill>
                  <a:srgbClr val="1A202A"/>
                </a:solidFill>
                <a:latin typeface="Segoe UI"/>
              </a:rPr>
              <a:t>رتق القرص يبقى سارياً فقط لأن المشروع **غير موقّع (Strong Name)** ولا يفحص تكامله — وهذان أول توصيتين في صفحة الدفاع.</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57200" y="237744"/>
            <a:ext cx="5943600" cy="274320"/>
          </a:xfrm>
          <a:prstGeom prst="rect">
            <a:avLst/>
          </a:prstGeom>
          <a:noFill/>
        </p:spPr>
        <p:txBody>
          <a:bodyPr wrap="square" anchor="t" lIns="18288" rIns="18288" tIns="0" bIns="0">
            <a:spAutoFit/>
          </a:bodyPr>
          <a:lstStyle/>
          <a:p>
            <a:pPr algn="l" marL="0" indent="0" rtl="1">
              <a:lnSpc>
                <a:spcPct val="100000"/>
              </a:lnSpc>
              <a:spcAft>
                <a:spcPts val="600"/>
              </a:spcAft>
            </a:pPr>
            <a:r>
              <a:rPr sz="1200" b="0" lang="ar-SA" algn="l">
                <a:solidFill>
                  <a:srgbClr val="6C7C8C"/>
                </a:solidFill>
                <a:latin typeface="Consolas"/>
              </a:rPr>
              <a:t>11 · KEYGEN</a:t>
            </a:r>
          </a:p>
        </p:txBody>
      </p:sp>
      <p:sp>
        <p:nvSpPr>
          <p:cNvPr id="5" name="TextBox 4"/>
          <p:cNvSpPr txBox="1"/>
          <p:nvPr/>
        </p:nvSpPr>
        <p:spPr>
          <a:xfrm>
            <a:off x="5242255" y="182880"/>
            <a:ext cx="6492240" cy="566928"/>
          </a:xfrm>
          <a:prstGeom prst="rect">
            <a:avLst/>
          </a:prstGeom>
          <a:noFill/>
        </p:spPr>
        <p:txBody>
          <a:bodyPr wrap="square" anchor="t" lIns="18288" rIns="18288" tIns="0" bIns="0">
            <a:spAutoFit/>
          </a:bodyPr>
          <a:lstStyle/>
          <a:p>
            <a:pPr algn="r" marL="0" indent="0" rtl="1">
              <a:lnSpc>
                <a:spcPct val="100000"/>
              </a:lnSpc>
              <a:spcAft>
                <a:spcPts val="600"/>
              </a:spcAft>
            </a:pPr>
            <a:r>
              <a:rPr sz="3000" b="1" lang="ar-SA" algn="r">
                <a:solidFill>
                  <a:srgbClr val="0B1D34"/>
                </a:solidFill>
                <a:latin typeface="Segoe UI"/>
              </a:rPr>
              <a:t>المفتاح بلا كسر: رياضيات 20 محرفاً</a:t>
            </a:r>
          </a:p>
        </p:txBody>
      </p:sp>
      <p:sp>
        <p:nvSpPr>
          <p:cNvPr id="6" name="Rectangle 5"/>
          <p:cNvSpPr/>
          <p:nvPr/>
        </p:nvSpPr>
        <p:spPr>
          <a:xfrm>
            <a:off x="8899855" y="822960"/>
            <a:ext cx="2834640" cy="406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242255" y="914400"/>
            <a:ext cx="64922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6C7C8C"/>
                </a:solidFill>
                <a:latin typeface="Segoe UI"/>
              </a:rPr>
              <a:t>و«قاعدة الـ 146» التي لم تكتبها ورقة العمل</a:t>
            </a:r>
          </a:p>
        </p:txBody>
      </p:sp>
      <p:sp>
        <p:nvSpPr>
          <p:cNvPr id="8" name="Rectangle 7"/>
          <p:cNvSpPr/>
          <p:nvPr/>
        </p:nvSpPr>
        <p:spPr>
          <a:xfrm>
            <a:off x="566928" y="1344168"/>
            <a:ext cx="5120640" cy="2971800"/>
          </a:xfrm>
          <a:prstGeom prst="rect">
            <a:avLst/>
          </a:prstGeom>
          <a:solidFill>
            <a:srgbClr val="F6F8FB"/>
          </a:solidFill>
          <a:ln w="15240">
            <a:solidFill>
              <a:srgbClr val="0B1D3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22960" y="1481328"/>
            <a:ext cx="4663440" cy="365760"/>
          </a:xfrm>
          <a:prstGeom prst="rect">
            <a:avLst/>
          </a:prstGeom>
          <a:noFill/>
        </p:spPr>
        <p:txBody>
          <a:bodyPr wrap="square" anchor="t" lIns="18288" rIns="18288" tIns="0" bIns="0">
            <a:spAutoFit/>
          </a:bodyPr>
          <a:lstStyle/>
          <a:p>
            <a:pPr algn="r" marL="0" indent="0" rtl="1">
              <a:lnSpc>
                <a:spcPct val="100000"/>
              </a:lnSpc>
              <a:spcAft>
                <a:spcPts val="600"/>
              </a:spcAft>
            </a:pPr>
            <a:r>
              <a:rPr sz="1550" b="1" lang="ar-SA" algn="r">
                <a:solidFill>
                  <a:srgbClr val="0B1D34"/>
                </a:solidFill>
                <a:latin typeface="Segoe UI"/>
              </a:rPr>
              <a:t>الشرطان كما في الكود</a:t>
            </a:r>
          </a:p>
        </p:txBody>
      </p:sp>
      <p:sp>
        <p:nvSpPr>
          <p:cNvPr id="10" name="Rectangle 9"/>
          <p:cNvSpPr/>
          <p:nvPr/>
        </p:nvSpPr>
        <p:spPr>
          <a:xfrm>
            <a:off x="822960" y="1892808"/>
            <a:ext cx="4663440" cy="1417320"/>
          </a:xfrm>
          <a:prstGeom prst="rect">
            <a:avLst/>
          </a:prstGeom>
          <a:solidFill>
            <a:srgbClr val="141D2C"/>
          </a:solidFill>
          <a:ln w="12700">
            <a:solidFill>
              <a:srgbClr val="C59421"/>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a:lstStyle/>
          <a:p>
            <a:pPr algn="l" marL="0" indent="0">
              <a:lnSpc>
                <a:spcPct val="102000"/>
              </a:lnSpc>
              <a:spcAft>
                <a:spcPts val="200"/>
              </a:spcAft>
            </a:pPr>
            <a:r>
              <a:rPr sz="1300" lang="ar-SA">
                <a:solidFill>
                  <a:srgbClr val="E2ECF8"/>
                </a:solidFill>
                <a:latin typeface="Consolas"/>
              </a:rPr>
              <a:t>Σ ASCII % 73 == 0</a:t>
            </a:r>
          </a:p>
          <a:p>
            <a:pPr algn="l" marL="0" indent="0">
              <a:lnSpc>
                <a:spcPct val="102000"/>
              </a:lnSpc>
              <a:spcAft>
                <a:spcPts val="200"/>
              </a:spcAft>
            </a:pPr>
            <a:r>
              <a:rPr sz="1300" lang="ar-SA">
                <a:solidFill>
                  <a:srgbClr val="E2ECF8"/>
                </a:solidFill>
                <a:latin typeface="Consolas"/>
              </a:rPr>
              <a:t>XOR of all chars == 0x0A</a:t>
            </a:r>
          </a:p>
          <a:p>
            <a:pPr algn="l" marL="0" indent="0">
              <a:lnSpc>
                <a:spcPct val="102000"/>
              </a:lnSpc>
              <a:spcAft>
                <a:spcPts val="200"/>
              </a:spcAft>
            </a:pPr>
            <a:r>
              <a:rPr sz="1300" lang="ar-SA">
                <a:solidFill>
                  <a:srgbClr val="7CC49C"/>
                </a:solidFill>
                <a:latin typeface="Consolas"/>
              </a:rPr>
              <a:t># مثال: sum = 1314 = 73 × 18</a:t>
            </a:r>
          </a:p>
        </p:txBody>
      </p:sp>
      <p:sp>
        <p:nvSpPr>
          <p:cNvPr id="11" name="TextBox 10"/>
          <p:cNvSpPr txBox="1"/>
          <p:nvPr/>
        </p:nvSpPr>
        <p:spPr>
          <a:xfrm>
            <a:off x="822960" y="3401568"/>
            <a:ext cx="4617720" cy="914400"/>
          </a:xfrm>
          <a:prstGeom prst="rect">
            <a:avLst/>
          </a:prstGeom>
          <a:noFill/>
        </p:spPr>
        <p:txBody>
          <a:bodyPr wrap="square" lIns="18288" rIns="18288" tIns="0" bIns="0">
            <a:spAutoFit/>
          </a:bodyPr>
          <a:lstStyle/>
          <a:p>
            <a:pPr algn="r" marL="0" indent="0" rtl="1">
              <a:lnSpc>
                <a:spcPct val="108000"/>
              </a:lnSpc>
              <a:spcAft>
                <a:spcPts val="400"/>
              </a:spcAft>
            </a:pPr>
            <a:r>
              <a:rPr sz="1300" b="1" lang="ar-SA" algn="r">
                <a:solidFill>
                  <a:srgbClr val="C59421"/>
                </a:solidFill>
                <a:latin typeface="Segoe UI"/>
              </a:rPr>
              <a:t>•  </a:t>
            </a:r>
            <a:r>
              <a:rPr sz="1300" b="0" lang="ar-SA" algn="r">
                <a:solidFill>
                  <a:srgbClr val="1A202A"/>
                </a:solidFill>
                <a:latin typeface="Segoe UI"/>
              </a:rPr>
              <a:t>بتّا XOR مربوطان ⇒ </a:t>
            </a:r>
            <a:r>
              <a:rPr sz="1300" b="1" lang="ar-SA" algn="r">
                <a:solidFill>
                  <a:srgbClr val="8A5F0A"/>
                </a:solidFill>
                <a:latin typeface="Consolas"/>
              </a:rPr>
              <a:t>0x2A</a:t>
            </a:r>
            <a:r>
              <a:rPr sz="1300" b="0" lang="ar-SA" algn="r">
                <a:solidFill>
                  <a:srgbClr val="1A202A"/>
                </a:solidFill>
                <a:latin typeface="Segoe UI"/>
              </a:rPr>
              <a:t> **مستحيلة** (لهذا صارت </a:t>
            </a:r>
            <a:r>
              <a:rPr sz="1300" b="1" lang="ar-SA" algn="r">
                <a:solidFill>
                  <a:srgbClr val="8A5F0A"/>
                </a:solidFill>
                <a:latin typeface="Consolas"/>
              </a:rPr>
              <a:t>0x0A</a:t>
            </a:r>
            <a:r>
              <a:rPr sz="1300" b="0" lang="ar-SA" algn="r">
                <a:solidFill>
                  <a:srgbClr val="1A202A"/>
                </a:solidFill>
                <a:latin typeface="Segoe UI"/>
              </a:rPr>
              <a:t>)</a:t>
            </a:r>
          </a:p>
          <a:p>
            <a:pPr algn="r" marL="0" indent="0" rtl="1">
              <a:lnSpc>
                <a:spcPct val="108000"/>
              </a:lnSpc>
              <a:spcAft>
                <a:spcPts val="400"/>
              </a:spcAft>
            </a:pPr>
            <a:r>
              <a:rPr sz="1300" b="1" lang="ar-SA" algn="r">
                <a:solidFill>
                  <a:srgbClr val="C59421"/>
                </a:solidFill>
                <a:latin typeface="Segoe UI"/>
              </a:rPr>
              <a:t>•  </a:t>
            </a:r>
            <a:r>
              <a:rPr sz="1300" b="0" lang="ar-SA" algn="r">
                <a:solidFill>
                  <a:srgbClr val="1A202A"/>
                </a:solidFill>
                <a:latin typeface="Segoe UI"/>
              </a:rPr>
              <a:t>⇒ المجموع زوجي ⇒ اللازم مضاعف </a:t>
            </a:r>
            <a:r>
              <a:rPr sz="1300" b="1" lang="ar-SA" algn="r">
                <a:solidFill>
                  <a:srgbClr val="1A202A"/>
                </a:solidFill>
                <a:latin typeface="Segoe UI"/>
              </a:rPr>
              <a:t>146</a:t>
            </a:r>
            <a:r>
              <a:rPr sz="1300" b="0" lang="ar-SA" algn="r">
                <a:solidFill>
                  <a:srgbClr val="1A202A"/>
                </a:solidFill>
                <a:latin typeface="Segoe UI"/>
              </a:rPr>
              <a:t> لا 73</a:t>
            </a:r>
          </a:p>
        </p:txBody>
      </p:sp>
      <p:sp>
        <p:nvSpPr>
          <p:cNvPr id="12" name="Rectangle 11"/>
          <p:cNvSpPr/>
          <p:nvPr/>
        </p:nvSpPr>
        <p:spPr>
          <a:xfrm>
            <a:off x="5745175" y="1344168"/>
            <a:ext cx="5989320" cy="2971800"/>
          </a:xfrm>
          <a:prstGeom prst="rect">
            <a:avLst/>
          </a:prstGeom>
          <a:solidFill>
            <a:srgbClr val="141D2C"/>
          </a:solidFill>
          <a:ln w="12700">
            <a:solidFill>
              <a:srgbClr val="C59421"/>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a:lstStyle/>
          <a:p>
            <a:pPr algn="ctr">
              <a:spcAft>
                <a:spcPts val="600"/>
              </a:spcAft>
            </a:pPr>
            <a:r>
              <a:rPr sz="950" b="1">
                <a:solidFill>
                  <a:srgbClr val="8CACD0"/>
                </a:solidFill>
                <a:latin typeface="Consolas"/>
              </a:rPr>
              <a:t>keygen.py — مجرَّب: ~4.7 ألف محاولة في المتوسط</a:t>
            </a:r>
          </a:p>
          <a:p>
            <a:pPr algn="l" marL="0" indent="0">
              <a:lnSpc>
                <a:spcPct val="102000"/>
              </a:lnSpc>
              <a:spcAft>
                <a:spcPts val="200"/>
              </a:spcAft>
            </a:pPr>
            <a:r>
              <a:rPr sz="1150" lang="ar-SA">
                <a:solidFill>
                  <a:srgbClr val="E2ECF8"/>
                </a:solidFill>
                <a:latin typeface="Consolas"/>
              </a:rPr>
              <a:t>def verify(k):</a:t>
            </a:r>
          </a:p>
          <a:p>
            <a:pPr algn="l" marL="0" indent="0">
              <a:lnSpc>
                <a:spcPct val="102000"/>
              </a:lnSpc>
              <a:spcAft>
                <a:spcPts val="200"/>
              </a:spcAft>
            </a:pPr>
            <a:r>
              <a:rPr sz="1150" lang="ar-SA">
                <a:solidFill>
                  <a:srgbClr val="E2ECF8"/>
                </a:solidFill>
                <a:latin typeface="Consolas"/>
              </a:rPr>
              <a:t>    c = k.replace("-","").upper()</a:t>
            </a:r>
          </a:p>
          <a:p>
            <a:pPr algn="l" marL="0" indent="0">
              <a:lnSpc>
                <a:spcPct val="102000"/>
              </a:lnSpc>
              <a:spcAft>
                <a:spcPts val="200"/>
              </a:spcAft>
            </a:pPr>
            <a:r>
              <a:rPr sz="1150" lang="ar-SA">
                <a:solidFill>
                  <a:srgbClr val="E2ECF8"/>
                </a:solidFill>
                <a:latin typeface="Consolas"/>
              </a:rPr>
              <a:t>    s, x = sum(map(ord, c)), 0</a:t>
            </a:r>
          </a:p>
          <a:p>
            <a:pPr algn="l" marL="0" indent="0">
              <a:lnSpc>
                <a:spcPct val="102000"/>
              </a:lnSpc>
              <a:spcAft>
                <a:spcPts val="200"/>
              </a:spcAft>
            </a:pPr>
            <a:r>
              <a:rPr sz="1150" lang="ar-SA">
                <a:solidFill>
                  <a:srgbClr val="E2ECF8"/>
                </a:solidFill>
                <a:latin typeface="Consolas"/>
              </a:rPr>
              <a:t>    for ch in c: x ^= ord(ch)</a:t>
            </a:r>
          </a:p>
          <a:p>
            <a:pPr algn="l" marL="0" indent="0">
              <a:lnSpc>
                <a:spcPct val="102000"/>
              </a:lnSpc>
              <a:spcAft>
                <a:spcPts val="200"/>
              </a:spcAft>
            </a:pPr>
            <a:r>
              <a:rPr sz="1150" lang="ar-SA">
                <a:solidFill>
                  <a:srgbClr val="E2ECF8"/>
                </a:solidFill>
                <a:latin typeface="Consolas"/>
              </a:rPr>
              <a:t>    return (len(c) == 20</a:t>
            </a:r>
          </a:p>
          <a:p>
            <a:pPr algn="l" marL="0" indent="0">
              <a:lnSpc>
                <a:spcPct val="102000"/>
              </a:lnSpc>
              <a:spcAft>
                <a:spcPts val="200"/>
              </a:spcAft>
            </a:pPr>
            <a:r>
              <a:rPr sz="1150" lang="ar-SA">
                <a:solidFill>
                  <a:srgbClr val="E2ECF8"/>
                </a:solidFill>
                <a:latin typeface="Consolas"/>
              </a:rPr>
              <a:t>            and s % 73 == 0</a:t>
            </a:r>
          </a:p>
          <a:p>
            <a:pPr algn="l" marL="0" indent="0">
              <a:lnSpc>
                <a:spcPct val="102000"/>
              </a:lnSpc>
              <a:spcAft>
                <a:spcPts val="200"/>
              </a:spcAft>
            </a:pPr>
            <a:r>
              <a:rPr sz="1150" lang="ar-SA">
                <a:solidFill>
                  <a:srgbClr val="E2ECF8"/>
                </a:solidFill>
                <a:latin typeface="Consolas"/>
              </a:rPr>
              <a:t>            and x == 0x0A)</a:t>
            </a:r>
          </a:p>
          <a:p>
            <a:pPr algn="l" marL="0" indent="0">
              <a:lnSpc>
                <a:spcPct val="102000"/>
              </a:lnSpc>
              <a:spcAft>
                <a:spcPts val="200"/>
              </a:spcAft>
            </a:pPr>
            <a:r>
              <a:rPr sz="1150" lang="ar-SA">
                <a:solidFill>
                  <a:srgbClr val="E2ECF8"/>
                </a:solidFill>
                <a:latin typeface="Consolas"/>
              </a:rPr>
              <a:t/>
            </a:r>
          </a:p>
          <a:p>
            <a:pPr algn="l" marL="0" indent="0">
              <a:lnSpc>
                <a:spcPct val="102000"/>
              </a:lnSpc>
              <a:spcAft>
                <a:spcPts val="200"/>
              </a:spcAft>
            </a:pPr>
            <a:r>
              <a:rPr sz="1150" lang="ar-SA">
                <a:solidFill>
                  <a:srgbClr val="E2ECF8"/>
                </a:solidFill>
                <a:latin typeface="Consolas"/>
              </a:rPr>
              <a:t>def vanity(prefix, tail=5):   # ثبّت 15 وجرّب ذيل</a:t>
            </a:r>
          </a:p>
          <a:p>
            <a:pPr algn="l" marL="0" indent="0">
              <a:lnSpc>
                <a:spcPct val="102000"/>
              </a:lnSpc>
              <a:spcAft>
                <a:spcPts val="200"/>
              </a:spcAft>
            </a:pPr>
            <a:r>
              <a:rPr sz="1150" lang="ar-SA">
                <a:solidFill>
                  <a:srgbClr val="E2ECF8"/>
                </a:solidFill>
                <a:latin typeface="Consolas"/>
              </a:rPr>
              <a:t>    p = prefix[:15].ljust(15, "X")</a:t>
            </a:r>
          </a:p>
          <a:p>
            <a:pPr algn="l" marL="0" indent="0">
              <a:lnSpc>
                <a:spcPct val="102000"/>
              </a:lnSpc>
              <a:spcAft>
                <a:spcPts val="200"/>
              </a:spcAft>
            </a:pPr>
            <a:r>
              <a:rPr sz="1150" lang="ar-SA">
                <a:solidFill>
                  <a:srgbClr val="E2ECF8"/>
                </a:solidFill>
                <a:latin typeface="Consolas"/>
              </a:rPr>
              <a:t>    while not verify(k := p + rand(tail)):</a:t>
            </a:r>
          </a:p>
          <a:p>
            <a:pPr algn="l" marL="0" indent="0">
              <a:lnSpc>
                <a:spcPct val="102000"/>
              </a:lnSpc>
              <a:spcAft>
                <a:spcPts val="200"/>
              </a:spcAft>
            </a:pPr>
            <a:r>
              <a:rPr sz="1150" lang="ar-SA">
                <a:solidFill>
                  <a:srgbClr val="E2ECF8"/>
                </a:solidFill>
                <a:latin typeface="Consolas"/>
              </a:rPr>
              <a:t>        pass</a:t>
            </a:r>
          </a:p>
          <a:p>
            <a:pPr algn="l" marL="0" indent="0">
              <a:lnSpc>
                <a:spcPct val="102000"/>
              </a:lnSpc>
              <a:spcAft>
                <a:spcPts val="200"/>
              </a:spcAft>
            </a:pPr>
            <a:r>
              <a:rPr sz="1150" lang="ar-SA">
                <a:solidFill>
                  <a:srgbClr val="E2ECF8"/>
                </a:solidFill>
                <a:latin typeface="Consolas"/>
              </a:rPr>
              <a:t>    return fmt(k)</a:t>
            </a:r>
          </a:p>
        </p:txBody>
      </p:sp>
      <p:sp>
        <p:nvSpPr>
          <p:cNvPr id="13" name="Rounded Rectangle 12"/>
          <p:cNvSpPr/>
          <p:nvPr/>
        </p:nvSpPr>
        <p:spPr>
          <a:xfrm>
            <a:off x="566928" y="4453128"/>
            <a:ext cx="11064240" cy="658368"/>
          </a:xfrm>
          <a:prstGeom prst="roundRect">
            <a:avLst/>
          </a:prstGeom>
          <a:solidFill>
            <a:srgbClr val="0B1D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22960" y="4553712"/>
            <a:ext cx="10607040" cy="502920"/>
          </a:xfrm>
          <a:prstGeom prst="rect">
            <a:avLst/>
          </a:prstGeom>
          <a:noFill/>
        </p:spPr>
        <p:txBody>
          <a:bodyPr wrap="square" anchor="t" lIns="18288" rIns="18288" tIns="0" bIns="0">
            <a:spAutoFit/>
          </a:bodyPr>
          <a:lstStyle/>
          <a:p>
            <a:pPr algn="r" marL="0" indent="0" rtl="1">
              <a:lnSpc>
                <a:spcPct val="100000"/>
              </a:lnSpc>
              <a:spcAft>
                <a:spcPts val="600"/>
              </a:spcAft>
            </a:pPr>
            <a:r>
              <a:rPr sz="1300" b="1" lang="ar-SA" algn="r">
                <a:solidFill>
                  <a:srgbClr val="C59421"/>
                </a:solidFill>
                <a:latin typeface="Segoe UI"/>
              </a:rPr>
              <a:t>مفاتيح جاهزة: </a:t>
            </a:r>
            <a:r>
              <a:rPr sz="1300" b="0" lang="ar-SA" algn="r">
                <a:solidFill>
                  <a:srgbClr val="FFFFFF"/>
                </a:solidFill>
                <a:latin typeface="Consolas"/>
              </a:rPr>
              <a:t>M1Z4N-2025P-ROM4S-T3R01  ·  MIZAN-2026X-32DBG-B36SQ  ·  CRACK-MEWOR-KSHOP-BY0A5  ·  5NOFK-JQB1Z-7HSHF-NOP6D (بعد الرتق فقط)</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57200" y="237744"/>
            <a:ext cx="5943600" cy="274320"/>
          </a:xfrm>
          <a:prstGeom prst="rect">
            <a:avLst/>
          </a:prstGeom>
          <a:noFill/>
        </p:spPr>
        <p:txBody>
          <a:bodyPr wrap="square" anchor="t" lIns="18288" rIns="18288" tIns="0" bIns="0">
            <a:spAutoFit/>
          </a:bodyPr>
          <a:lstStyle/>
          <a:p>
            <a:pPr algn="l" marL="0" indent="0" rtl="1">
              <a:lnSpc>
                <a:spcPct val="100000"/>
              </a:lnSpc>
              <a:spcAft>
                <a:spcPts val="600"/>
              </a:spcAft>
            </a:pPr>
            <a:r>
              <a:rPr sz="1200" b="0" lang="ar-SA" algn="l">
                <a:solidFill>
                  <a:srgbClr val="6C7C8C"/>
                </a:solidFill>
                <a:latin typeface="Consolas"/>
              </a:rPr>
              <a:t>12 · WORKSHOP</a:t>
            </a:r>
          </a:p>
        </p:txBody>
      </p:sp>
      <p:sp>
        <p:nvSpPr>
          <p:cNvPr id="5" name="TextBox 4"/>
          <p:cNvSpPr txBox="1"/>
          <p:nvPr/>
        </p:nvSpPr>
        <p:spPr>
          <a:xfrm>
            <a:off x="5242255" y="182880"/>
            <a:ext cx="6492240" cy="566928"/>
          </a:xfrm>
          <a:prstGeom prst="rect">
            <a:avLst/>
          </a:prstGeom>
          <a:noFill/>
        </p:spPr>
        <p:txBody>
          <a:bodyPr wrap="square" anchor="t" lIns="18288" rIns="18288" tIns="0" bIns="0">
            <a:spAutoFit/>
          </a:bodyPr>
          <a:lstStyle/>
          <a:p>
            <a:pPr algn="r" marL="0" indent="0" rtl="1">
              <a:lnSpc>
                <a:spcPct val="100000"/>
              </a:lnSpc>
              <a:spcAft>
                <a:spcPts val="600"/>
              </a:spcAft>
            </a:pPr>
            <a:r>
              <a:rPr sz="3000" b="1" lang="ar-SA" algn="r">
                <a:solidFill>
                  <a:srgbClr val="0B1D34"/>
                </a:solidFill>
                <a:latin typeface="Segoe UI"/>
              </a:rPr>
              <a:t>غداً: أنت تُشرف — لا تُحاضر</a:t>
            </a:r>
          </a:p>
        </p:txBody>
      </p:sp>
      <p:sp>
        <p:nvSpPr>
          <p:cNvPr id="6" name="Rectangle 5"/>
          <p:cNvSpPr/>
          <p:nvPr/>
        </p:nvSpPr>
        <p:spPr>
          <a:xfrm>
            <a:off x="8899855" y="822960"/>
            <a:ext cx="2834640" cy="406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242255" y="914400"/>
            <a:ext cx="64922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6C7C8C"/>
                </a:solidFill>
                <a:latin typeface="Segoe UI"/>
              </a:rPr>
              <a:t>كيف نُدير 3 مجموعات في 40 دقيقة</a:t>
            </a:r>
          </a:p>
        </p:txBody>
      </p:sp>
      <p:sp>
        <p:nvSpPr>
          <p:cNvPr id="8" name="Rectangle 7"/>
          <p:cNvSpPr/>
          <p:nvPr/>
        </p:nvSpPr>
        <p:spPr>
          <a:xfrm>
            <a:off x="566928" y="1298448"/>
            <a:ext cx="5440680" cy="1261872"/>
          </a:xfrm>
          <a:prstGeom prst="rect">
            <a:avLst/>
          </a:prstGeom>
          <a:solidFill>
            <a:srgbClr val="FFFFFF"/>
          </a:solidFill>
          <a:ln w="12700">
            <a:solidFill>
              <a:srgbClr val="DEE6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41848" y="1298448"/>
            <a:ext cx="365760" cy="1261872"/>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95528" y="1408176"/>
            <a:ext cx="548640" cy="457200"/>
          </a:xfrm>
          <a:prstGeom prst="rect">
            <a:avLst/>
          </a:prstGeom>
          <a:noFill/>
        </p:spPr>
        <p:txBody>
          <a:bodyPr wrap="square" anchor="t" lIns="18288" rIns="18288" tIns="0" bIns="0">
            <a:spAutoFit/>
          </a:bodyPr>
          <a:lstStyle/>
          <a:p>
            <a:pPr algn="l" marL="0" indent="0" rtl="1">
              <a:lnSpc>
                <a:spcPct val="100000"/>
              </a:lnSpc>
              <a:spcAft>
                <a:spcPts val="600"/>
              </a:spcAft>
            </a:pPr>
            <a:r>
              <a:rPr sz="2600" b="1" lang="ar-SA" algn="l">
                <a:solidFill>
                  <a:srgbClr val="C59421"/>
                </a:solidFill>
                <a:latin typeface="Consolas"/>
              </a:rPr>
              <a:t>١</a:t>
            </a:r>
          </a:p>
        </p:txBody>
      </p:sp>
      <p:sp>
        <p:nvSpPr>
          <p:cNvPr id="11" name="TextBox 10"/>
          <p:cNvSpPr txBox="1"/>
          <p:nvPr/>
        </p:nvSpPr>
        <p:spPr>
          <a:xfrm>
            <a:off x="1435608" y="1426464"/>
            <a:ext cx="4114800" cy="365760"/>
          </a:xfrm>
          <a:prstGeom prst="rect">
            <a:avLst/>
          </a:prstGeom>
          <a:noFill/>
        </p:spPr>
        <p:txBody>
          <a:bodyPr wrap="square" anchor="t" lIns="18288" rIns="18288" tIns="0" bIns="0">
            <a:spAutoFit/>
          </a:bodyPr>
          <a:lstStyle/>
          <a:p>
            <a:pPr algn="r" marL="0" indent="0" rtl="1">
              <a:lnSpc>
                <a:spcPct val="100000"/>
              </a:lnSpc>
              <a:spcAft>
                <a:spcPts val="600"/>
              </a:spcAft>
            </a:pPr>
            <a:r>
              <a:rPr sz="1650" b="1" lang="ar-SA" algn="r">
                <a:solidFill>
                  <a:srgbClr val="0B1D34"/>
                </a:solidFill>
                <a:latin typeface="Segoe UI"/>
              </a:rPr>
              <a:t>قاعدة البداية</a:t>
            </a:r>
          </a:p>
        </p:txBody>
      </p:sp>
      <p:sp>
        <p:nvSpPr>
          <p:cNvPr id="12" name="TextBox 11"/>
          <p:cNvSpPr txBox="1"/>
          <p:nvPr/>
        </p:nvSpPr>
        <p:spPr>
          <a:xfrm>
            <a:off x="1435608" y="1847088"/>
            <a:ext cx="4069080" cy="640080"/>
          </a:xfrm>
          <a:prstGeom prst="rect">
            <a:avLst/>
          </a:prstGeom>
          <a:noFill/>
        </p:spPr>
        <p:txBody>
          <a:bodyPr wrap="square" anchor="t" lIns="18288" rIns="18288" tIns="0" bIns="0">
            <a:spAutoFit/>
          </a:bodyPr>
          <a:lstStyle/>
          <a:p>
            <a:pPr algn="r" marL="0" indent="0" rtl="1">
              <a:lnSpc>
                <a:spcPct val="115000"/>
              </a:lnSpc>
              <a:spcAft>
                <a:spcPts val="600"/>
              </a:spcAft>
            </a:pPr>
            <a:r>
              <a:rPr sz="1350" b="0" lang="ar-SA" algn="r">
                <a:solidFill>
                  <a:srgbClr val="1A202A"/>
                </a:solidFill>
                <a:latin typeface="Segoe UI"/>
              </a:rPr>
              <a:t>لا تفتح أداة قبل أن تجيب: أين دالة القرار؟ وما الذي ستُثبته؟</a:t>
            </a:r>
          </a:p>
        </p:txBody>
      </p:sp>
      <p:sp>
        <p:nvSpPr>
          <p:cNvPr id="13" name="Rectangle 12"/>
          <p:cNvSpPr/>
          <p:nvPr/>
        </p:nvSpPr>
        <p:spPr>
          <a:xfrm>
            <a:off x="6254496" y="1298448"/>
            <a:ext cx="5440680" cy="1261872"/>
          </a:xfrm>
          <a:prstGeom prst="rect">
            <a:avLst/>
          </a:prstGeom>
          <a:solidFill>
            <a:srgbClr val="FFFFFF"/>
          </a:solidFill>
          <a:ln w="12700">
            <a:solidFill>
              <a:srgbClr val="DEE6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11329416" y="1298448"/>
            <a:ext cx="365760" cy="1261872"/>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6483096" y="1408176"/>
            <a:ext cx="548640" cy="457200"/>
          </a:xfrm>
          <a:prstGeom prst="rect">
            <a:avLst/>
          </a:prstGeom>
          <a:noFill/>
        </p:spPr>
        <p:txBody>
          <a:bodyPr wrap="square" anchor="t" lIns="18288" rIns="18288" tIns="0" bIns="0">
            <a:spAutoFit/>
          </a:bodyPr>
          <a:lstStyle/>
          <a:p>
            <a:pPr algn="l" marL="0" indent="0" rtl="1">
              <a:lnSpc>
                <a:spcPct val="100000"/>
              </a:lnSpc>
              <a:spcAft>
                <a:spcPts val="600"/>
              </a:spcAft>
            </a:pPr>
            <a:r>
              <a:rPr sz="2600" b="1" lang="ar-SA" algn="l">
                <a:solidFill>
                  <a:srgbClr val="C59421"/>
                </a:solidFill>
                <a:latin typeface="Consolas"/>
              </a:rPr>
              <a:t>٢</a:t>
            </a:r>
          </a:p>
        </p:txBody>
      </p:sp>
      <p:sp>
        <p:nvSpPr>
          <p:cNvPr id="16" name="TextBox 15"/>
          <p:cNvSpPr txBox="1"/>
          <p:nvPr/>
        </p:nvSpPr>
        <p:spPr>
          <a:xfrm>
            <a:off x="7123176" y="1426464"/>
            <a:ext cx="4114800" cy="365760"/>
          </a:xfrm>
          <a:prstGeom prst="rect">
            <a:avLst/>
          </a:prstGeom>
          <a:noFill/>
        </p:spPr>
        <p:txBody>
          <a:bodyPr wrap="square" anchor="t" lIns="18288" rIns="18288" tIns="0" bIns="0">
            <a:spAutoFit/>
          </a:bodyPr>
          <a:lstStyle/>
          <a:p>
            <a:pPr algn="r" marL="0" indent="0" rtl="1">
              <a:lnSpc>
                <a:spcPct val="100000"/>
              </a:lnSpc>
              <a:spcAft>
                <a:spcPts val="600"/>
              </a:spcAft>
            </a:pPr>
            <a:r>
              <a:rPr sz="1650" b="1" lang="ar-SA" algn="r">
                <a:solidFill>
                  <a:srgbClr val="0B1D34"/>
                </a:solidFill>
                <a:latin typeface="Segoe UI"/>
              </a:rPr>
              <a:t>توزيع الأدوات</a:t>
            </a:r>
          </a:p>
        </p:txBody>
      </p:sp>
      <p:sp>
        <p:nvSpPr>
          <p:cNvPr id="17" name="TextBox 16"/>
          <p:cNvSpPr txBox="1"/>
          <p:nvPr/>
        </p:nvSpPr>
        <p:spPr>
          <a:xfrm>
            <a:off x="7123176" y="1847088"/>
            <a:ext cx="4069080" cy="640080"/>
          </a:xfrm>
          <a:prstGeom prst="rect">
            <a:avLst/>
          </a:prstGeom>
          <a:noFill/>
        </p:spPr>
        <p:txBody>
          <a:bodyPr wrap="square" anchor="t" lIns="18288" rIns="18288" tIns="0" bIns="0">
            <a:spAutoFit/>
          </a:bodyPr>
          <a:lstStyle/>
          <a:p>
            <a:pPr algn="r" marL="0" indent="0" rtl="1">
              <a:lnSpc>
                <a:spcPct val="115000"/>
              </a:lnSpc>
              <a:spcAft>
                <a:spcPts val="600"/>
              </a:spcAft>
            </a:pPr>
            <a:r>
              <a:rPr sz="1350" b="0" lang="ar-SA" algn="r">
                <a:solidFill>
                  <a:srgbClr val="1A202A"/>
                </a:solidFill>
                <a:latin typeface="Segoe UI"/>
              </a:rPr>
              <a:t>مجموعة dnSpy (IL)، مجموعة x32dbg (ذاكرة)، مجموعة Procmon (سلوك)</a:t>
            </a:r>
          </a:p>
        </p:txBody>
      </p:sp>
      <p:sp>
        <p:nvSpPr>
          <p:cNvPr id="18" name="Rectangle 17"/>
          <p:cNvSpPr/>
          <p:nvPr/>
        </p:nvSpPr>
        <p:spPr>
          <a:xfrm>
            <a:off x="566928" y="2715768"/>
            <a:ext cx="5440680" cy="1261872"/>
          </a:xfrm>
          <a:prstGeom prst="rect">
            <a:avLst/>
          </a:prstGeom>
          <a:solidFill>
            <a:srgbClr val="FFFFFF"/>
          </a:solidFill>
          <a:ln w="12700">
            <a:solidFill>
              <a:srgbClr val="DEE6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5641848" y="2715768"/>
            <a:ext cx="365760" cy="1261872"/>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95528" y="2825496"/>
            <a:ext cx="548640" cy="457200"/>
          </a:xfrm>
          <a:prstGeom prst="rect">
            <a:avLst/>
          </a:prstGeom>
          <a:noFill/>
        </p:spPr>
        <p:txBody>
          <a:bodyPr wrap="square" anchor="t" lIns="18288" rIns="18288" tIns="0" bIns="0">
            <a:spAutoFit/>
          </a:bodyPr>
          <a:lstStyle/>
          <a:p>
            <a:pPr algn="l" marL="0" indent="0" rtl="1">
              <a:lnSpc>
                <a:spcPct val="100000"/>
              </a:lnSpc>
              <a:spcAft>
                <a:spcPts val="600"/>
              </a:spcAft>
            </a:pPr>
            <a:r>
              <a:rPr sz="2600" b="1" lang="ar-SA" algn="l">
                <a:solidFill>
                  <a:srgbClr val="C59421"/>
                </a:solidFill>
                <a:latin typeface="Consolas"/>
              </a:rPr>
              <a:t>٣</a:t>
            </a:r>
          </a:p>
        </p:txBody>
      </p:sp>
      <p:sp>
        <p:nvSpPr>
          <p:cNvPr id="21" name="TextBox 20"/>
          <p:cNvSpPr txBox="1"/>
          <p:nvPr/>
        </p:nvSpPr>
        <p:spPr>
          <a:xfrm>
            <a:off x="1435608" y="2843784"/>
            <a:ext cx="4114800" cy="365760"/>
          </a:xfrm>
          <a:prstGeom prst="rect">
            <a:avLst/>
          </a:prstGeom>
          <a:noFill/>
        </p:spPr>
        <p:txBody>
          <a:bodyPr wrap="square" anchor="t" lIns="18288" rIns="18288" tIns="0" bIns="0">
            <a:spAutoFit/>
          </a:bodyPr>
          <a:lstStyle/>
          <a:p>
            <a:pPr algn="r" marL="0" indent="0" rtl="1">
              <a:lnSpc>
                <a:spcPct val="100000"/>
              </a:lnSpc>
              <a:spcAft>
                <a:spcPts val="600"/>
              </a:spcAft>
            </a:pPr>
            <a:r>
              <a:rPr sz="1650" b="1" lang="ar-SA" algn="r">
                <a:solidFill>
                  <a:srgbClr val="0B1D34"/>
                </a:solidFill>
                <a:latin typeface="Segoe UI"/>
              </a:rPr>
              <a:t>٣ أخطاء نتوقعها</a:t>
            </a:r>
          </a:p>
        </p:txBody>
      </p:sp>
      <p:sp>
        <p:nvSpPr>
          <p:cNvPr id="22" name="TextBox 21"/>
          <p:cNvSpPr txBox="1"/>
          <p:nvPr/>
        </p:nvSpPr>
        <p:spPr>
          <a:xfrm>
            <a:off x="1435608" y="3264408"/>
            <a:ext cx="4069080" cy="640080"/>
          </a:xfrm>
          <a:prstGeom prst="rect">
            <a:avLst/>
          </a:prstGeom>
          <a:noFill/>
        </p:spPr>
        <p:txBody>
          <a:bodyPr wrap="square" anchor="t" lIns="18288" rIns="18288" tIns="0" bIns="0">
            <a:spAutoFit/>
          </a:bodyPr>
          <a:lstStyle/>
          <a:p>
            <a:pPr algn="r" marL="0" indent="0" rtl="1">
              <a:lnSpc>
                <a:spcPct val="115000"/>
              </a:lnSpc>
              <a:spcAft>
                <a:spcPts val="600"/>
              </a:spcAft>
            </a:pPr>
            <a:r>
              <a:rPr sz="1350" b="0" lang="ar-SA" algn="r">
                <a:solidFill>
                  <a:srgbClr val="1A202A"/>
                </a:solidFill>
                <a:latin typeface="Segoe UI"/>
              </a:rPr>
              <a:t>exe أحادي الملف · بحث في `MizanPro.exe` · `bp Namespace.Method`</a:t>
            </a:r>
          </a:p>
        </p:txBody>
      </p:sp>
      <p:sp>
        <p:nvSpPr>
          <p:cNvPr id="23" name="Rectangle 22"/>
          <p:cNvSpPr/>
          <p:nvPr/>
        </p:nvSpPr>
        <p:spPr>
          <a:xfrm>
            <a:off x="6254496" y="2715768"/>
            <a:ext cx="5440680" cy="1261872"/>
          </a:xfrm>
          <a:prstGeom prst="rect">
            <a:avLst/>
          </a:prstGeom>
          <a:solidFill>
            <a:srgbClr val="FFFFFF"/>
          </a:solidFill>
          <a:ln w="12700">
            <a:solidFill>
              <a:srgbClr val="DEE6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11329416" y="2715768"/>
            <a:ext cx="365760" cy="1261872"/>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483096" y="2825496"/>
            <a:ext cx="548640" cy="457200"/>
          </a:xfrm>
          <a:prstGeom prst="rect">
            <a:avLst/>
          </a:prstGeom>
          <a:noFill/>
        </p:spPr>
        <p:txBody>
          <a:bodyPr wrap="square" anchor="t" lIns="18288" rIns="18288" tIns="0" bIns="0">
            <a:spAutoFit/>
          </a:bodyPr>
          <a:lstStyle/>
          <a:p>
            <a:pPr algn="l" marL="0" indent="0" rtl="1">
              <a:lnSpc>
                <a:spcPct val="100000"/>
              </a:lnSpc>
              <a:spcAft>
                <a:spcPts val="600"/>
              </a:spcAft>
            </a:pPr>
            <a:r>
              <a:rPr sz="2600" b="1" lang="ar-SA" algn="l">
                <a:solidFill>
                  <a:srgbClr val="C59421"/>
                </a:solidFill>
                <a:latin typeface="Consolas"/>
              </a:rPr>
              <a:t>٤</a:t>
            </a:r>
          </a:p>
        </p:txBody>
      </p:sp>
      <p:sp>
        <p:nvSpPr>
          <p:cNvPr id="26" name="TextBox 25"/>
          <p:cNvSpPr txBox="1"/>
          <p:nvPr/>
        </p:nvSpPr>
        <p:spPr>
          <a:xfrm>
            <a:off x="7123176" y="2843784"/>
            <a:ext cx="4114800" cy="365760"/>
          </a:xfrm>
          <a:prstGeom prst="rect">
            <a:avLst/>
          </a:prstGeom>
          <a:noFill/>
        </p:spPr>
        <p:txBody>
          <a:bodyPr wrap="square" anchor="t" lIns="18288" rIns="18288" tIns="0" bIns="0">
            <a:spAutoFit/>
          </a:bodyPr>
          <a:lstStyle/>
          <a:p>
            <a:pPr algn="r" marL="0" indent="0" rtl="1">
              <a:lnSpc>
                <a:spcPct val="100000"/>
              </a:lnSpc>
              <a:spcAft>
                <a:spcPts val="600"/>
              </a:spcAft>
            </a:pPr>
            <a:r>
              <a:rPr sz="1650" b="1" lang="ar-SA" algn="r">
                <a:solidFill>
                  <a:srgbClr val="0B1D34"/>
                </a:solidFill>
                <a:latin typeface="Segoe UI"/>
              </a:rPr>
              <a:t>سلم التقدير</a:t>
            </a:r>
          </a:p>
        </p:txBody>
      </p:sp>
      <p:sp>
        <p:nvSpPr>
          <p:cNvPr id="27" name="TextBox 26"/>
          <p:cNvSpPr txBox="1"/>
          <p:nvPr/>
        </p:nvSpPr>
        <p:spPr>
          <a:xfrm>
            <a:off x="7123176" y="3264408"/>
            <a:ext cx="4069080" cy="640080"/>
          </a:xfrm>
          <a:prstGeom prst="rect">
            <a:avLst/>
          </a:prstGeom>
          <a:noFill/>
        </p:spPr>
        <p:txBody>
          <a:bodyPr wrap="square" anchor="t" lIns="18288" rIns="18288" tIns="0" bIns="0">
            <a:spAutoFit/>
          </a:bodyPr>
          <a:lstStyle/>
          <a:p>
            <a:pPr algn="r" marL="0" indent="0" rtl="1">
              <a:lnSpc>
                <a:spcPct val="115000"/>
              </a:lnSpc>
              <a:spcAft>
                <a:spcPts val="600"/>
              </a:spcAft>
            </a:pPr>
            <a:r>
              <a:rPr sz="1350" b="0" lang="ar-SA" algn="r">
                <a:solidFill>
                  <a:srgbClr val="1A202A"/>
                </a:solidFill>
                <a:latin typeface="Segoe UI"/>
              </a:rPr>
              <a:t>٣٠٪ تحليل · ٢٥٪ إثبات سببي · ٢٠٪ أداة بتبرير · ١٥٪ دفاع · ١٠٪ عرض</a:t>
            </a:r>
          </a:p>
        </p:txBody>
      </p:sp>
      <p:sp>
        <p:nvSpPr>
          <p:cNvPr id="28" name="Rectangle 27"/>
          <p:cNvSpPr/>
          <p:nvPr/>
        </p:nvSpPr>
        <p:spPr>
          <a:xfrm>
            <a:off x="566928" y="4270248"/>
            <a:ext cx="11064240" cy="310896"/>
          </a:xfrm>
          <a:prstGeom prst="rect">
            <a:avLst/>
          </a:prstGeom>
          <a:solidFill>
            <a:srgbClr val="142C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marL="0" indent="0" rtl="1"/>
            <a:r>
              <a:rPr sz="1200" b="1" lang="ar-SA" algn="ctr">
                <a:solidFill>
                  <a:srgbClr val="FFFFFF"/>
                </a:solidFill>
                <a:latin typeface="Segoe UI"/>
              </a:rPr>
              <a:t>أول 10 دقائق مع كل مجموعة: تحقّق من هذه الثلاثة — ثم اتركهم يخبطون رؤوسهم 5 دقائق (إنها الطريقة التي يتعلمون بها)</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57200" y="237744"/>
            <a:ext cx="5943600" cy="274320"/>
          </a:xfrm>
          <a:prstGeom prst="rect">
            <a:avLst/>
          </a:prstGeom>
          <a:noFill/>
        </p:spPr>
        <p:txBody>
          <a:bodyPr wrap="square" anchor="t" lIns="18288" rIns="18288" tIns="0" bIns="0">
            <a:spAutoFit/>
          </a:bodyPr>
          <a:lstStyle/>
          <a:p>
            <a:pPr algn="l" marL="0" indent="0" rtl="1">
              <a:lnSpc>
                <a:spcPct val="100000"/>
              </a:lnSpc>
              <a:spcAft>
                <a:spcPts val="600"/>
              </a:spcAft>
            </a:pPr>
            <a:r>
              <a:rPr sz="1200" b="0" lang="ar-SA" algn="l">
                <a:solidFill>
                  <a:srgbClr val="6C7C8C"/>
                </a:solidFill>
                <a:latin typeface="Consolas"/>
              </a:rPr>
              <a:t>13 · SELF-AUDIT</a:t>
            </a:r>
          </a:p>
        </p:txBody>
      </p:sp>
      <p:sp>
        <p:nvSpPr>
          <p:cNvPr id="5" name="TextBox 4"/>
          <p:cNvSpPr txBox="1"/>
          <p:nvPr/>
        </p:nvSpPr>
        <p:spPr>
          <a:xfrm>
            <a:off x="5242255" y="182880"/>
            <a:ext cx="6492240" cy="566928"/>
          </a:xfrm>
          <a:prstGeom prst="rect">
            <a:avLst/>
          </a:prstGeom>
          <a:noFill/>
        </p:spPr>
        <p:txBody>
          <a:bodyPr wrap="square" anchor="t" lIns="18288" rIns="18288" tIns="0" bIns="0">
            <a:spAutoFit/>
          </a:bodyPr>
          <a:lstStyle/>
          <a:p>
            <a:pPr algn="r" marL="0" indent="0" rtl="1">
              <a:lnSpc>
                <a:spcPct val="100000"/>
              </a:lnSpc>
              <a:spcAft>
                <a:spcPts val="600"/>
              </a:spcAft>
            </a:pPr>
            <a:r>
              <a:rPr sz="3000" b="1" lang="ar-SA" algn="r">
                <a:solidFill>
                  <a:srgbClr val="0B1D34"/>
                </a:solidFill>
                <a:latin typeface="Segoe UI"/>
              </a:rPr>
              <a:t>دقّقنا في برنامجنا قبل أن نُدرّس</a:t>
            </a:r>
          </a:p>
        </p:txBody>
      </p:sp>
      <p:sp>
        <p:nvSpPr>
          <p:cNvPr id="6" name="Rectangle 5"/>
          <p:cNvSpPr/>
          <p:nvPr/>
        </p:nvSpPr>
        <p:spPr>
          <a:xfrm>
            <a:off x="8899855" y="822960"/>
            <a:ext cx="2834640" cy="406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242255" y="914400"/>
            <a:ext cx="64922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6C7C8C"/>
                </a:solidFill>
                <a:latin typeface="Segoe UI"/>
              </a:rPr>
              <a:t>7 لقطات = 4 أعطال حقيقية من جذرين</a:t>
            </a:r>
          </a:p>
        </p:txBody>
      </p:sp>
      <p:sp>
        <p:nvSpPr>
          <p:cNvPr id="8" name="TextBox 7"/>
          <p:cNvSpPr txBox="1"/>
          <p:nvPr/>
        </p:nvSpPr>
        <p:spPr>
          <a:xfrm>
            <a:off x="5790895" y="1344168"/>
            <a:ext cx="5989320" cy="3200400"/>
          </a:xfrm>
          <a:prstGeom prst="rect">
            <a:avLst/>
          </a:prstGeom>
          <a:noFill/>
        </p:spPr>
        <p:txBody>
          <a:bodyPr wrap="square" lIns="18288" rIns="18288" tIns="0" bIns="0">
            <a:spAutoFit/>
          </a:bodyPr>
          <a:lstStyle/>
          <a:p>
            <a:pPr algn="r" marL="0" indent="0" rtl="1">
              <a:lnSpc>
                <a:spcPct val="108000"/>
              </a:lnSpc>
              <a:spcAft>
                <a:spcPts val="500"/>
              </a:spcAft>
            </a:pPr>
            <a:r>
              <a:rPr sz="1350" b="1" lang="ar-SA" algn="r">
                <a:solidFill>
                  <a:srgbClr val="C59421"/>
                </a:solidFill>
                <a:latin typeface="Segoe UI"/>
              </a:rPr>
              <a:t>•  </a:t>
            </a:r>
            <a:r>
              <a:rPr sz="1350" b="0" lang="ar-SA" algn="r">
                <a:solidFill>
                  <a:srgbClr val="1A202A"/>
                </a:solidFill>
                <a:latin typeface="Segoe UI"/>
              </a:rPr>
              <a:t>**جذر ١**: أحداث XAML تعمل أثناء </a:t>
            </a:r>
            <a:r>
              <a:rPr sz="1350" b="1" lang="ar-SA" algn="r">
                <a:solidFill>
                  <a:srgbClr val="8A5F0A"/>
                </a:solidFill>
                <a:latin typeface="Consolas"/>
              </a:rPr>
              <a:t>InitializeComponent</a:t>
            </a:r>
            <a:r>
              <a:rPr sz="1350" b="0" lang="ar-SA" algn="r">
                <a:solidFill>
                  <a:srgbClr val="1A202A"/>
                </a:solidFill>
                <a:latin typeface="Segoe UI"/>
              </a:rPr>
              <a:t> ⇒ </a:t>
            </a:r>
            <a:r>
              <a:rPr sz="1350" b="1" lang="ar-SA" algn="r">
                <a:solidFill>
                  <a:srgbClr val="8A5F0A"/>
                </a:solidFill>
                <a:latin typeface="Consolas"/>
              </a:rPr>
              <a:t>NullReferenceException</a:t>
            </a:r>
          </a:p>
          <a:p>
            <a:pPr algn="r" marL="0" indent="0" rtl="1">
              <a:lnSpc>
                <a:spcPct val="108000"/>
              </a:lnSpc>
              <a:spcAft>
                <a:spcPts val="500"/>
              </a:spcAft>
            </a:pPr>
            <a:r>
              <a:rPr sz="1350" b="1" lang="ar-SA" algn="r">
                <a:solidFill>
                  <a:srgbClr val="C59421"/>
                </a:solidFill>
                <a:latin typeface="Segoe UI"/>
              </a:rPr>
              <a:t>•  </a:t>
            </a:r>
            <a:r>
              <a:rPr sz="1350" b="0" lang="ar-SA" algn="r">
                <a:solidFill>
                  <a:srgbClr val="1A202A"/>
                </a:solidFill>
                <a:latin typeface="Segoe UI"/>
              </a:rPr>
              <a:t>⇒ «حدث خطأ غير متوقع» عند فتح العملاء (لقطة 3)</a:t>
            </a:r>
          </a:p>
          <a:p>
            <a:pPr algn="r" marL="0" indent="0" rtl="1">
              <a:lnSpc>
                <a:spcPct val="108000"/>
              </a:lnSpc>
              <a:spcAft>
                <a:spcPts val="500"/>
              </a:spcAft>
            </a:pPr>
            <a:r>
              <a:rPr sz="1350" b="1" lang="ar-SA" algn="r">
                <a:solidFill>
                  <a:srgbClr val="C59421"/>
                </a:solidFill>
                <a:latin typeface="Segoe UI"/>
              </a:rPr>
              <a:t>•  </a:t>
            </a:r>
            <a:r>
              <a:rPr sz="1350" b="0" lang="ar-SA" algn="r">
                <a:solidFill>
                  <a:srgbClr val="1A202A"/>
                </a:solidFill>
                <a:latin typeface="Segoe UI"/>
              </a:rPr>
              <a:t>⇒ </a:t>
            </a:r>
            <a:r>
              <a:rPr sz="1350" b="1" lang="ar-SA" algn="r">
                <a:solidFill>
                  <a:srgbClr val="8A5F0A"/>
                </a:solidFill>
                <a:latin typeface="Consolas"/>
              </a:rPr>
              <a:t>_loading</a:t>
            </a:r>
            <a:r>
              <a:rPr sz="1350" b="0" lang="ar-SA" algn="r">
                <a:solidFill>
                  <a:srgbClr val="1A202A"/>
                </a:solidFill>
                <a:latin typeface="Segoe UI"/>
              </a:rPr>
              <a:t> يعلق ⇒ جداول الفواتير والمنتجات </a:t>
            </a:r>
            <a:r>
              <a:rPr sz="1350" b="1" lang="ar-SA" algn="r">
                <a:solidFill>
                  <a:srgbClr val="1A202A"/>
                </a:solidFill>
                <a:latin typeface="Segoe UI"/>
              </a:rPr>
              <a:t>فاضية</a:t>
            </a:r>
            <a:r>
              <a:rPr sz="1350" b="0" lang="ar-SA" algn="r">
                <a:solidFill>
                  <a:srgbClr val="1A202A"/>
                </a:solidFill>
                <a:latin typeface="Segoe UI"/>
              </a:rPr>
              <a:t> (3 و4)</a:t>
            </a:r>
          </a:p>
          <a:p>
            <a:pPr algn="r" marL="0" indent="0" rtl="1">
              <a:lnSpc>
                <a:spcPct val="108000"/>
              </a:lnSpc>
              <a:spcAft>
                <a:spcPts val="500"/>
              </a:spcAft>
            </a:pPr>
            <a:r>
              <a:rPr sz="1350" b="1" lang="ar-SA" algn="r">
                <a:solidFill>
                  <a:srgbClr val="C59421"/>
                </a:solidFill>
                <a:latin typeface="Segoe UI"/>
              </a:rPr>
              <a:t>•  </a:t>
            </a:r>
            <a:r>
              <a:rPr sz="1350" b="0" lang="ar-SA" algn="r">
                <a:solidFill>
                  <a:srgbClr val="1A202A"/>
                </a:solidFill>
                <a:latin typeface="Segoe UI"/>
              </a:rPr>
              <a:t>⇒ «فاتورة جديدة» ينهار — زر لن نضغطه على المسرح</a:t>
            </a:r>
          </a:p>
          <a:p>
            <a:pPr algn="r" marL="0" indent="0" rtl="1">
              <a:lnSpc>
                <a:spcPct val="108000"/>
              </a:lnSpc>
              <a:spcAft>
                <a:spcPts val="500"/>
              </a:spcAft>
            </a:pPr>
            <a:r>
              <a:rPr sz="1350" b="1" lang="ar-SA" algn="r">
                <a:solidFill>
                  <a:srgbClr val="C59421"/>
                </a:solidFill>
                <a:latin typeface="Segoe UI"/>
              </a:rPr>
              <a:t>•  </a:t>
            </a:r>
            <a:r>
              <a:rPr sz="1350" b="0" lang="ar-SA" algn="r">
                <a:solidFill>
                  <a:srgbClr val="1A202A"/>
                </a:solidFill>
                <a:latin typeface="Segoe UI"/>
              </a:rPr>
              <a:t>**جذر ٢**: مع </a:t>
            </a:r>
            <a:r>
              <a:rPr sz="1350" b="1" lang="ar-SA" algn="r">
                <a:solidFill>
                  <a:srgbClr val="8A5F0A"/>
                </a:solidFill>
                <a:latin typeface="Consolas"/>
              </a:rPr>
              <a:t>RightToLeft</a:t>
            </a:r>
            <a:r>
              <a:rPr sz="1350" b="0" lang="ar-SA" algn="r">
                <a:solidFill>
                  <a:srgbClr val="1A202A"/>
                </a:solidFill>
                <a:latin typeface="Segoe UI"/>
              </a:rPr>
              <a:t> تُقلب </a:t>
            </a:r>
            <a:r>
              <a:rPr sz="1350" b="1" lang="ar-SA" algn="r">
                <a:solidFill>
                  <a:srgbClr val="8A5F0A"/>
                </a:solidFill>
                <a:latin typeface="Consolas"/>
              </a:rPr>
              <a:t>HorizontalAlignment="Left"</a:t>
            </a:r>
            <a:r>
              <a:rPr sz="1350" b="0" lang="ar-SA" algn="r">
                <a:solidFill>
                  <a:srgbClr val="1A202A"/>
                </a:solidFill>
                <a:latin typeface="Segoe UI"/>
              </a:rPr>
              <a:t> يميناً</a:t>
            </a:r>
          </a:p>
          <a:p>
            <a:pPr algn="r" marL="0" indent="0" rtl="1">
              <a:lnSpc>
                <a:spcPct val="108000"/>
              </a:lnSpc>
              <a:spcAft>
                <a:spcPts val="500"/>
              </a:spcAft>
            </a:pPr>
            <a:r>
              <a:rPr sz="1350" b="1" lang="ar-SA" algn="r">
                <a:solidFill>
                  <a:srgbClr val="C59421"/>
                </a:solidFill>
                <a:latin typeface="Segoe UI"/>
              </a:rPr>
              <a:t>•  </a:t>
            </a:r>
            <a:r>
              <a:rPr sz="1350" b="0" lang="ar-SA" algn="r">
                <a:solidFill>
                  <a:srgbClr val="1A202A"/>
                </a:solidFill>
                <a:latin typeface="Segoe UI"/>
              </a:rPr>
              <a:t>⇒ الأزرار والصناديق </a:t>
            </a:r>
            <a:r>
              <a:rPr sz="1350" b="1" lang="ar-SA" algn="r">
                <a:solidFill>
                  <a:srgbClr val="1A202A"/>
                </a:solidFill>
                <a:latin typeface="Segoe UI"/>
              </a:rPr>
              <a:t>فوق العنوان</a:t>
            </a:r>
            <a:r>
              <a:rPr sz="1350" b="0" lang="ar-SA" algn="r">
                <a:solidFill>
                  <a:srgbClr val="1A202A"/>
                </a:solidFill>
                <a:latin typeface="Segoe UI"/>
              </a:rPr>
              <a:t> (لقطات 2، 4، 5)</a:t>
            </a:r>
          </a:p>
          <a:p>
            <a:pPr algn="r" marL="0" indent="0" rtl="1">
              <a:lnSpc>
                <a:spcPct val="108000"/>
              </a:lnSpc>
              <a:spcAft>
                <a:spcPts val="500"/>
              </a:spcAft>
            </a:pPr>
            <a:r>
              <a:rPr sz="1350" b="1" lang="ar-SA" algn="r">
                <a:solidFill>
                  <a:srgbClr val="C59421"/>
                </a:solidFill>
                <a:latin typeface="Segoe UI"/>
              </a:rPr>
              <a:t>•  </a:t>
            </a:r>
            <a:r>
              <a:rPr sz="1350" b="0" lang="ar-SA" algn="r">
                <a:solidFill>
                  <a:srgbClr val="1A202A"/>
                </a:solidFill>
                <a:latin typeface="Segoe UI"/>
              </a:rPr>
              <a:t>وأخرى: </a:t>
            </a:r>
            <a:r>
              <a:rPr sz="1350" b="1" lang="ar-SA" algn="r">
                <a:solidFill>
                  <a:srgbClr val="8A5F0A"/>
                </a:solidFill>
                <a:latin typeface="Consolas"/>
              </a:rPr>
              <a:t>Select a date</a:t>
            </a:r>
            <a:r>
              <a:rPr sz="1350" b="0" lang="ar-SA" algn="r">
                <a:solidFill>
                  <a:srgbClr val="1A202A"/>
                </a:solidFill>
                <a:latin typeface="Segoe UI"/>
              </a:rPr>
              <a:t>، لا مشتريات في البذور، وأرصدة لا تتحدث</a:t>
            </a:r>
          </a:p>
        </p:txBody>
      </p:sp>
      <p:sp>
        <p:nvSpPr>
          <p:cNvPr id="9" name="Rectangle 8"/>
          <p:cNvSpPr/>
          <p:nvPr/>
        </p:nvSpPr>
        <p:spPr>
          <a:xfrm>
            <a:off x="566928" y="1344168"/>
            <a:ext cx="5029200" cy="3108960"/>
          </a:xfrm>
          <a:prstGeom prst="rect">
            <a:avLst/>
          </a:prstGeom>
          <a:solidFill>
            <a:srgbClr val="F6F8FB"/>
          </a:solidFill>
          <a:ln w="19050">
            <a:solidFill>
              <a:srgbClr val="B8242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22960" y="1481328"/>
            <a:ext cx="4572000" cy="365760"/>
          </a:xfrm>
          <a:prstGeom prst="rect">
            <a:avLst/>
          </a:prstGeom>
          <a:noFill/>
        </p:spPr>
        <p:txBody>
          <a:bodyPr wrap="square" anchor="t" lIns="18288" rIns="18288" tIns="0" bIns="0">
            <a:spAutoFit/>
          </a:bodyPr>
          <a:lstStyle/>
          <a:p>
            <a:pPr algn="r" marL="0" indent="0" rtl="1">
              <a:lnSpc>
                <a:spcPct val="100000"/>
              </a:lnSpc>
              <a:spcAft>
                <a:spcPts val="600"/>
              </a:spcAft>
            </a:pPr>
            <a:r>
              <a:rPr sz="1600" b="1" lang="ar-SA" algn="r">
                <a:solidFill>
                  <a:srgbClr val="B82424"/>
                </a:solidFill>
                <a:latin typeface="Segoe UI"/>
              </a:rPr>
              <a:t>لماذا هذا في عرض كسر؟</a:t>
            </a:r>
          </a:p>
        </p:txBody>
      </p:sp>
      <p:sp>
        <p:nvSpPr>
          <p:cNvPr id="11" name="TextBox 10"/>
          <p:cNvSpPr txBox="1"/>
          <p:nvPr/>
        </p:nvSpPr>
        <p:spPr>
          <a:xfrm>
            <a:off x="822960" y="1865376"/>
            <a:ext cx="4572000" cy="2468880"/>
          </a:xfrm>
          <a:prstGeom prst="rect">
            <a:avLst/>
          </a:prstGeom>
          <a:noFill/>
        </p:spPr>
        <p:txBody>
          <a:bodyPr wrap="square" lIns="18288" rIns="18288" tIns="0" bIns="0">
            <a:spAutoFit/>
          </a:bodyPr>
          <a:lstStyle/>
          <a:p>
            <a:pPr algn="r" marL="0" indent="0" rtl="1">
              <a:lnSpc>
                <a:spcPct val="108000"/>
              </a:lnSpc>
              <a:spcAft>
                <a:spcPts val="600"/>
              </a:spcAft>
            </a:pPr>
            <a:r>
              <a:rPr sz="1250" b="1" lang="ar-SA" algn="r">
                <a:solidFill>
                  <a:srgbClr val="C59421"/>
                </a:solidFill>
                <a:latin typeface="Segoe UI"/>
              </a:rPr>
              <a:t>•  </a:t>
            </a:r>
            <a:r>
              <a:rPr sz="1250" b="0" lang="ar-SA" algn="r">
                <a:solidFill>
                  <a:srgbClr val="1A202A"/>
                </a:solidFill>
                <a:latin typeface="Segoe UI"/>
              </a:rPr>
              <a:t>الطبقة التي تشرحها يجب أن تُجرَّب — CI كانت خضراء</a:t>
            </a:r>
          </a:p>
          <a:p>
            <a:pPr algn="r" marL="0" indent="0" rtl="1">
              <a:lnSpc>
                <a:spcPct val="108000"/>
              </a:lnSpc>
              <a:spcAft>
                <a:spcPts val="600"/>
              </a:spcAft>
            </a:pPr>
            <a:r>
              <a:rPr sz="1250" b="1" lang="ar-SA" algn="r">
                <a:solidFill>
                  <a:srgbClr val="C59421"/>
                </a:solidFill>
                <a:latin typeface="Segoe UI"/>
              </a:rPr>
              <a:t>•  </a:t>
            </a:r>
            <a:r>
              <a:rPr sz="1250" b="0" lang="ar-SA" algn="r">
                <a:solidFill>
                  <a:srgbClr val="1A202A"/>
                </a:solidFill>
                <a:latin typeface="Segoe UI"/>
              </a:rPr>
              <a:t>CI تغطي المحرك (50 فحصاً) ولا تلمس XAML/التخطيط</a:t>
            </a:r>
          </a:p>
          <a:p>
            <a:pPr algn="r" marL="0" indent="0" rtl="1">
              <a:lnSpc>
                <a:spcPct val="108000"/>
              </a:lnSpc>
              <a:spcAft>
                <a:spcPts val="600"/>
              </a:spcAft>
            </a:pPr>
            <a:r>
              <a:rPr sz="1250" b="1" lang="ar-SA" algn="r">
                <a:solidFill>
                  <a:srgbClr val="C59421"/>
                </a:solidFill>
                <a:latin typeface="Segoe UI"/>
              </a:rPr>
              <a:t>•  </a:t>
            </a:r>
            <a:r>
              <a:rPr sz="1250" b="0" lang="ar-SA" algn="r">
                <a:solidFill>
                  <a:srgbClr val="1A202A"/>
                </a:solidFill>
                <a:latin typeface="Segoe UI"/>
              </a:rPr>
              <a:t>الدرس للطلاب: «افحص طبقة العرض بيدك، لا بالاختبارات»</a:t>
            </a:r>
          </a:p>
          <a:p>
            <a:pPr algn="r" marL="0" indent="0" rtl="1">
              <a:lnSpc>
                <a:spcPct val="108000"/>
              </a:lnSpc>
              <a:spcAft>
                <a:spcPts val="600"/>
              </a:spcAft>
            </a:pPr>
            <a:r>
              <a:rPr sz="1250" b="1" lang="ar-SA" algn="r">
                <a:solidFill>
                  <a:srgbClr val="C59421"/>
                </a:solidFill>
                <a:latin typeface="Segoe UI"/>
              </a:rPr>
              <a:t>•  </a:t>
            </a:r>
            <a:r>
              <a:rPr sz="1250" b="0" lang="ar-SA" algn="r">
                <a:solidFill>
                  <a:srgbClr val="1A202A"/>
                </a:solidFill>
                <a:latin typeface="Segoe UI"/>
              </a:rPr>
              <a:t>كل رقم مُثبت بملف وسطر — </a:t>
            </a:r>
            <a:r>
              <a:rPr sz="1250" b="1" lang="ar-SA" algn="r">
                <a:solidFill>
                  <a:srgbClr val="8A5F0A"/>
                </a:solidFill>
                <a:latin typeface="Consolas"/>
              </a:rPr>
              <a:t>AUDIT_AND_FIXES.md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57200" y="237744"/>
            <a:ext cx="5943600" cy="274320"/>
          </a:xfrm>
          <a:prstGeom prst="rect">
            <a:avLst/>
          </a:prstGeom>
          <a:noFill/>
        </p:spPr>
        <p:txBody>
          <a:bodyPr wrap="square" anchor="t" lIns="18288" rIns="18288" tIns="0" bIns="0">
            <a:spAutoFit/>
          </a:bodyPr>
          <a:lstStyle/>
          <a:p>
            <a:pPr algn="l" marL="0" indent="0" rtl="1">
              <a:lnSpc>
                <a:spcPct val="100000"/>
              </a:lnSpc>
              <a:spcAft>
                <a:spcPts val="600"/>
              </a:spcAft>
            </a:pPr>
            <a:r>
              <a:rPr sz="1200" b="0" lang="ar-SA" algn="l">
                <a:solidFill>
                  <a:srgbClr val="6C7C8C"/>
                </a:solidFill>
                <a:latin typeface="Consolas"/>
              </a:rPr>
              <a:t>14 · DEFENSE</a:t>
            </a:r>
          </a:p>
        </p:txBody>
      </p:sp>
      <p:sp>
        <p:nvSpPr>
          <p:cNvPr id="5" name="TextBox 4"/>
          <p:cNvSpPr txBox="1"/>
          <p:nvPr/>
        </p:nvSpPr>
        <p:spPr>
          <a:xfrm>
            <a:off x="5242255" y="182880"/>
            <a:ext cx="6492240" cy="566928"/>
          </a:xfrm>
          <a:prstGeom prst="rect">
            <a:avLst/>
          </a:prstGeom>
          <a:noFill/>
        </p:spPr>
        <p:txBody>
          <a:bodyPr wrap="square" anchor="t" lIns="18288" rIns="18288" tIns="0" bIns="0">
            <a:spAutoFit/>
          </a:bodyPr>
          <a:lstStyle/>
          <a:p>
            <a:pPr algn="r" marL="0" indent="0" rtl="1">
              <a:lnSpc>
                <a:spcPct val="100000"/>
              </a:lnSpc>
              <a:spcAft>
                <a:spcPts val="600"/>
              </a:spcAft>
            </a:pPr>
            <a:r>
              <a:rPr sz="3000" b="1" lang="ar-SA" algn="r">
                <a:solidFill>
                  <a:srgbClr val="0B1D34"/>
                </a:solidFill>
                <a:latin typeface="Segoe UI"/>
              </a:rPr>
              <a:t>كيف نحمي ميزان Pro فعلاً</a:t>
            </a:r>
          </a:p>
        </p:txBody>
      </p:sp>
      <p:sp>
        <p:nvSpPr>
          <p:cNvPr id="6" name="Rectangle 5"/>
          <p:cNvSpPr/>
          <p:nvPr/>
        </p:nvSpPr>
        <p:spPr>
          <a:xfrm>
            <a:off x="8899855" y="822960"/>
            <a:ext cx="2834640" cy="406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242255" y="914400"/>
            <a:ext cx="64922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6C7C8C"/>
                </a:solidFill>
                <a:latin typeface="Segoe UI"/>
              </a:rPr>
              <a:t>كل ثغرة استغللناها ← إصلاح بحجمه</a:t>
            </a:r>
          </a:p>
        </p:txBody>
      </p:sp>
      <p:sp>
        <p:nvSpPr>
          <p:cNvPr id="8" name="Rectangle 7"/>
          <p:cNvSpPr/>
          <p:nvPr/>
        </p:nvSpPr>
        <p:spPr>
          <a:xfrm>
            <a:off x="566928" y="1344168"/>
            <a:ext cx="11064240" cy="384048"/>
          </a:xfrm>
          <a:prstGeom prst="rect">
            <a:avLst/>
          </a:prstGeom>
          <a:solidFill>
            <a:srgbClr val="0B1D34"/>
          </a:solidFill>
          <a:ln w="6350">
            <a:solidFill>
              <a:srgbClr val="E4EA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732520" y="1408176"/>
            <a:ext cx="2834640" cy="320040"/>
          </a:xfrm>
          <a:prstGeom prst="rect">
            <a:avLst/>
          </a:prstGeom>
          <a:noFill/>
        </p:spPr>
        <p:txBody>
          <a:bodyPr wrap="square" anchor="t" lIns="18288" rIns="18288" tIns="0" bIns="0">
            <a:spAutoFit/>
          </a:bodyPr>
          <a:lstStyle/>
          <a:p>
            <a:pPr algn="r" marL="0" indent="0" rtl="1">
              <a:lnSpc>
                <a:spcPct val="100000"/>
              </a:lnSpc>
              <a:spcAft>
                <a:spcPts val="600"/>
              </a:spcAft>
            </a:pPr>
            <a:r>
              <a:rPr sz="1250" b="1" lang="ar-SA" algn="r">
                <a:solidFill>
                  <a:srgbClr val="FFFFFF"/>
                </a:solidFill>
                <a:latin typeface="Segoe UI"/>
              </a:rPr>
              <a:t>الثغرة التي استغللناها</a:t>
            </a:r>
          </a:p>
        </p:txBody>
      </p:sp>
      <p:sp>
        <p:nvSpPr>
          <p:cNvPr id="10" name="TextBox 9"/>
          <p:cNvSpPr txBox="1"/>
          <p:nvPr/>
        </p:nvSpPr>
        <p:spPr>
          <a:xfrm>
            <a:off x="3063240" y="1408176"/>
            <a:ext cx="5532120" cy="320040"/>
          </a:xfrm>
          <a:prstGeom prst="rect">
            <a:avLst/>
          </a:prstGeom>
          <a:noFill/>
        </p:spPr>
        <p:txBody>
          <a:bodyPr wrap="square" anchor="t" lIns="18288" rIns="18288" tIns="0" bIns="0">
            <a:spAutoFit/>
          </a:bodyPr>
          <a:lstStyle/>
          <a:p>
            <a:pPr algn="r" marL="0" indent="0" rtl="1">
              <a:lnSpc>
                <a:spcPct val="100000"/>
              </a:lnSpc>
              <a:spcAft>
                <a:spcPts val="600"/>
              </a:spcAft>
            </a:pPr>
            <a:r>
              <a:rPr sz="1250" b="1" lang="ar-SA" algn="r">
                <a:solidFill>
                  <a:srgbClr val="FFFFFF"/>
                </a:solidFill>
                <a:latin typeface="Segoe UI"/>
              </a:rPr>
              <a:t>الإصلاح</a:t>
            </a:r>
          </a:p>
        </p:txBody>
      </p:sp>
      <p:sp>
        <p:nvSpPr>
          <p:cNvPr id="11" name="TextBox 10"/>
          <p:cNvSpPr txBox="1"/>
          <p:nvPr/>
        </p:nvSpPr>
        <p:spPr>
          <a:xfrm>
            <a:off x="685800" y="1408176"/>
            <a:ext cx="2286000" cy="320040"/>
          </a:xfrm>
          <a:prstGeom prst="rect">
            <a:avLst/>
          </a:prstGeom>
          <a:noFill/>
        </p:spPr>
        <p:txBody>
          <a:bodyPr wrap="square" anchor="t" lIns="18288" rIns="18288" tIns="0" bIns="0">
            <a:spAutoFit/>
          </a:bodyPr>
          <a:lstStyle/>
          <a:p>
            <a:pPr algn="r" marL="0" indent="0" rtl="1">
              <a:lnSpc>
                <a:spcPct val="100000"/>
              </a:lnSpc>
              <a:spcAft>
                <a:spcPts val="600"/>
              </a:spcAft>
            </a:pPr>
            <a:r>
              <a:rPr sz="1200" b="1" lang="ar-SA" algn="r">
                <a:solidFill>
                  <a:srgbClr val="C59421"/>
                </a:solidFill>
                <a:latin typeface="Segoe UI"/>
              </a:rPr>
              <a:t>الكلفة</a:t>
            </a:r>
          </a:p>
        </p:txBody>
      </p:sp>
      <p:sp>
        <p:nvSpPr>
          <p:cNvPr id="12" name="Rectangle 11"/>
          <p:cNvSpPr/>
          <p:nvPr/>
        </p:nvSpPr>
        <p:spPr>
          <a:xfrm>
            <a:off x="566928" y="1746504"/>
            <a:ext cx="11064240" cy="457200"/>
          </a:xfrm>
          <a:prstGeom prst="rect">
            <a:avLst/>
          </a:prstGeom>
          <a:solidFill>
            <a:srgbClr val="F6F8FB"/>
          </a:solidFill>
          <a:ln w="6350">
            <a:solidFill>
              <a:srgbClr val="E4EA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732520" y="1810512"/>
            <a:ext cx="2834640" cy="320040"/>
          </a:xfrm>
          <a:prstGeom prst="rect">
            <a:avLst/>
          </a:prstGeom>
          <a:noFill/>
        </p:spPr>
        <p:txBody>
          <a:bodyPr wrap="square" anchor="t" lIns="18288" rIns="18288" tIns="0" bIns="0">
            <a:spAutoFit/>
          </a:bodyPr>
          <a:lstStyle/>
          <a:p>
            <a:pPr algn="r" marL="0" indent="0" rtl="1">
              <a:lnSpc>
                <a:spcPct val="100000"/>
              </a:lnSpc>
              <a:spcAft>
                <a:spcPts val="600"/>
              </a:spcAft>
            </a:pPr>
            <a:r>
              <a:rPr sz="1250" b="0" lang="ar-SA" algn="r">
                <a:solidFill>
                  <a:srgbClr val="0B1D34"/>
                </a:solidFill>
                <a:latin typeface="Segoe UI"/>
              </a:rPr>
              <a:t>مفتاح يعمل على أي جهاز</a:t>
            </a:r>
          </a:p>
        </p:txBody>
      </p:sp>
      <p:sp>
        <p:nvSpPr>
          <p:cNvPr id="14" name="TextBox 13"/>
          <p:cNvSpPr txBox="1"/>
          <p:nvPr/>
        </p:nvSpPr>
        <p:spPr>
          <a:xfrm>
            <a:off x="3063240" y="1810512"/>
            <a:ext cx="5532120" cy="320040"/>
          </a:xfrm>
          <a:prstGeom prst="rect">
            <a:avLst/>
          </a:prstGeom>
          <a:noFill/>
        </p:spPr>
        <p:txBody>
          <a:bodyPr wrap="square" anchor="t" lIns="18288" rIns="18288" tIns="0" bIns="0">
            <a:spAutoFit/>
          </a:bodyPr>
          <a:lstStyle/>
          <a:p>
            <a:pPr algn="r" marL="0" indent="0" rtl="1">
              <a:lnSpc>
                <a:spcPct val="100000"/>
              </a:lnSpc>
              <a:spcAft>
                <a:spcPts val="600"/>
              </a:spcAft>
            </a:pPr>
            <a:r>
              <a:rPr sz="1250" b="0" lang="ar-SA" algn="r">
                <a:solidFill>
                  <a:srgbClr val="1A202A"/>
                </a:solidFill>
                <a:latin typeface="Segoe UI"/>
              </a:rPr>
              <a:t>توقيع ECDSA على `{key|HWID|expiry}` بمفتاح البائع</a:t>
            </a:r>
          </a:p>
        </p:txBody>
      </p:sp>
      <p:sp>
        <p:nvSpPr>
          <p:cNvPr id="15" name="TextBox 14"/>
          <p:cNvSpPr txBox="1"/>
          <p:nvPr/>
        </p:nvSpPr>
        <p:spPr>
          <a:xfrm>
            <a:off x="685800" y="1810512"/>
            <a:ext cx="2286000" cy="32004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متوسطة</a:t>
            </a:r>
          </a:p>
        </p:txBody>
      </p:sp>
      <p:sp>
        <p:nvSpPr>
          <p:cNvPr id="16" name="Rectangle 15"/>
          <p:cNvSpPr/>
          <p:nvPr/>
        </p:nvSpPr>
        <p:spPr>
          <a:xfrm>
            <a:off x="566928" y="2221992"/>
            <a:ext cx="11064240" cy="457200"/>
          </a:xfrm>
          <a:prstGeom prst="rect">
            <a:avLst/>
          </a:prstGeom>
          <a:solidFill>
            <a:srgbClr val="FFFFFF"/>
          </a:solidFill>
          <a:ln w="6350">
            <a:solidFill>
              <a:srgbClr val="E4EA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732520" y="2286000"/>
            <a:ext cx="2834640" cy="320040"/>
          </a:xfrm>
          <a:prstGeom prst="rect">
            <a:avLst/>
          </a:prstGeom>
          <a:noFill/>
        </p:spPr>
        <p:txBody>
          <a:bodyPr wrap="square" anchor="t" lIns="18288" rIns="18288" tIns="0" bIns="0">
            <a:spAutoFit/>
          </a:bodyPr>
          <a:lstStyle/>
          <a:p>
            <a:pPr algn="r" marL="0" indent="0" rtl="1">
              <a:lnSpc>
                <a:spcPct val="100000"/>
              </a:lnSpc>
              <a:spcAft>
                <a:spcPts val="600"/>
              </a:spcAft>
            </a:pPr>
            <a:r>
              <a:rPr sz="1250" b="0" lang="ar-SA" algn="r">
                <a:solidFill>
                  <a:srgbClr val="0B1D34"/>
                </a:solidFill>
                <a:latin typeface="Segoe UI"/>
              </a:rPr>
              <a:t>قرار `bool` في دالة واحدة</a:t>
            </a:r>
          </a:p>
        </p:txBody>
      </p:sp>
      <p:sp>
        <p:nvSpPr>
          <p:cNvPr id="18" name="TextBox 17"/>
          <p:cNvSpPr txBox="1"/>
          <p:nvPr/>
        </p:nvSpPr>
        <p:spPr>
          <a:xfrm>
            <a:off x="3063240" y="2286000"/>
            <a:ext cx="5532120" cy="320040"/>
          </a:xfrm>
          <a:prstGeom prst="rect">
            <a:avLst/>
          </a:prstGeom>
          <a:noFill/>
        </p:spPr>
        <p:txBody>
          <a:bodyPr wrap="square" anchor="t" lIns="18288" rIns="18288" tIns="0" bIns="0">
            <a:spAutoFit/>
          </a:bodyPr>
          <a:lstStyle/>
          <a:p>
            <a:pPr algn="r" marL="0" indent="0" rtl="1">
              <a:lnSpc>
                <a:spcPct val="100000"/>
              </a:lnSpc>
              <a:spcAft>
                <a:spcPts val="600"/>
              </a:spcAft>
            </a:pPr>
            <a:r>
              <a:rPr sz="1250" b="0" lang="ar-SA" algn="r">
                <a:solidFill>
                  <a:srgbClr val="1A202A"/>
                </a:solidFill>
                <a:latin typeface="Segoe UI"/>
              </a:rPr>
              <a:t>أعِد **مفتاح تشفير وظيفة** بدل `true/false`</a:t>
            </a:r>
          </a:p>
        </p:txBody>
      </p:sp>
      <p:sp>
        <p:nvSpPr>
          <p:cNvPr id="19" name="TextBox 18"/>
          <p:cNvSpPr txBox="1"/>
          <p:nvPr/>
        </p:nvSpPr>
        <p:spPr>
          <a:xfrm>
            <a:off x="685800" y="2286000"/>
            <a:ext cx="2286000" cy="32004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عالية — الأكثر فاعلية</a:t>
            </a:r>
          </a:p>
        </p:txBody>
      </p:sp>
      <p:sp>
        <p:nvSpPr>
          <p:cNvPr id="20" name="Rectangle 19"/>
          <p:cNvSpPr/>
          <p:nvPr/>
        </p:nvSpPr>
        <p:spPr>
          <a:xfrm>
            <a:off x="566928" y="2697480"/>
            <a:ext cx="11064240" cy="457200"/>
          </a:xfrm>
          <a:prstGeom prst="rect">
            <a:avLst/>
          </a:prstGeom>
          <a:solidFill>
            <a:srgbClr val="F6F8FB"/>
          </a:solidFill>
          <a:ln w="6350">
            <a:solidFill>
              <a:srgbClr val="E4EA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8732520" y="2761488"/>
            <a:ext cx="2834640" cy="320040"/>
          </a:xfrm>
          <a:prstGeom prst="rect">
            <a:avLst/>
          </a:prstGeom>
          <a:noFill/>
        </p:spPr>
        <p:txBody>
          <a:bodyPr wrap="square" anchor="t" lIns="18288" rIns="18288" tIns="0" bIns="0">
            <a:spAutoFit/>
          </a:bodyPr>
          <a:lstStyle/>
          <a:p>
            <a:pPr algn="r" marL="0" indent="0" rtl="1">
              <a:lnSpc>
                <a:spcPct val="100000"/>
              </a:lnSpc>
              <a:spcAft>
                <a:spcPts val="600"/>
              </a:spcAft>
            </a:pPr>
            <a:r>
              <a:rPr sz="1250" b="0" lang="ar-SA" algn="r">
                <a:solidFill>
                  <a:srgbClr val="0B1D34"/>
                </a:solidFill>
                <a:latin typeface="Segoe UI"/>
              </a:rPr>
              <a:t>حالة قابلة للتحرير في `HKCU`</a:t>
            </a:r>
          </a:p>
        </p:txBody>
      </p:sp>
      <p:sp>
        <p:nvSpPr>
          <p:cNvPr id="22" name="TextBox 21"/>
          <p:cNvSpPr txBox="1"/>
          <p:nvPr/>
        </p:nvSpPr>
        <p:spPr>
          <a:xfrm>
            <a:off x="3063240" y="2761488"/>
            <a:ext cx="5532120" cy="320040"/>
          </a:xfrm>
          <a:prstGeom prst="rect">
            <a:avLst/>
          </a:prstGeom>
          <a:noFill/>
        </p:spPr>
        <p:txBody>
          <a:bodyPr wrap="square" anchor="t" lIns="18288" rIns="18288" tIns="0" bIns="0">
            <a:spAutoFit/>
          </a:bodyPr>
          <a:lstStyle/>
          <a:p>
            <a:pPr algn="r" marL="0" indent="0" rtl="1">
              <a:lnSpc>
                <a:spcPct val="100000"/>
              </a:lnSpc>
              <a:spcAft>
                <a:spcPts val="600"/>
              </a:spcAft>
            </a:pPr>
            <a:r>
              <a:rPr sz="1250" b="0" lang="ar-SA" algn="r">
                <a:solidFill>
                  <a:srgbClr val="1A202A"/>
                </a:solidFill>
                <a:latin typeface="Segoe UI"/>
              </a:rPr>
              <a:t>DPAPI (`ProtectedData`) + HMAC + عدّاد مضاد للتراجع</a:t>
            </a:r>
          </a:p>
        </p:txBody>
      </p:sp>
      <p:sp>
        <p:nvSpPr>
          <p:cNvPr id="23" name="TextBox 22"/>
          <p:cNvSpPr txBox="1"/>
          <p:nvPr/>
        </p:nvSpPr>
        <p:spPr>
          <a:xfrm>
            <a:off x="685800" y="2761488"/>
            <a:ext cx="2286000" cy="32004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منخفضة</a:t>
            </a:r>
          </a:p>
        </p:txBody>
      </p:sp>
      <p:sp>
        <p:nvSpPr>
          <p:cNvPr id="24" name="Rectangle 23"/>
          <p:cNvSpPr/>
          <p:nvPr/>
        </p:nvSpPr>
        <p:spPr>
          <a:xfrm>
            <a:off x="566928" y="3172968"/>
            <a:ext cx="11064240" cy="457200"/>
          </a:xfrm>
          <a:prstGeom prst="rect">
            <a:avLst/>
          </a:prstGeom>
          <a:solidFill>
            <a:srgbClr val="FFFFFF"/>
          </a:solidFill>
          <a:ln w="6350">
            <a:solidFill>
              <a:srgbClr val="E4EA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732520" y="3236976"/>
            <a:ext cx="2834640" cy="320040"/>
          </a:xfrm>
          <a:prstGeom prst="rect">
            <a:avLst/>
          </a:prstGeom>
          <a:noFill/>
        </p:spPr>
        <p:txBody>
          <a:bodyPr wrap="square" anchor="t" lIns="18288" rIns="18288" tIns="0" bIns="0">
            <a:spAutoFit/>
          </a:bodyPr>
          <a:lstStyle/>
          <a:p>
            <a:pPr algn="r" marL="0" indent="0" rtl="1">
              <a:lnSpc>
                <a:spcPct val="100000"/>
              </a:lnSpc>
              <a:spcAft>
                <a:spcPts val="600"/>
              </a:spcAft>
            </a:pPr>
            <a:r>
              <a:rPr sz="1250" b="0" lang="ar-SA" algn="r">
                <a:solidFill>
                  <a:srgbClr val="0B1D34"/>
                </a:solidFill>
                <a:latin typeface="Segoe UI"/>
              </a:rPr>
              <a:t>AES بمفتاح داخل الحزمة</a:t>
            </a:r>
          </a:p>
        </p:txBody>
      </p:sp>
      <p:sp>
        <p:nvSpPr>
          <p:cNvPr id="26" name="TextBox 25"/>
          <p:cNvSpPr txBox="1"/>
          <p:nvPr/>
        </p:nvSpPr>
        <p:spPr>
          <a:xfrm>
            <a:off x="3063240" y="3236976"/>
            <a:ext cx="5532120" cy="320040"/>
          </a:xfrm>
          <a:prstGeom prst="rect">
            <a:avLst/>
          </a:prstGeom>
          <a:noFill/>
        </p:spPr>
        <p:txBody>
          <a:bodyPr wrap="square" anchor="t" lIns="18288" rIns="18288" tIns="0" bIns="0">
            <a:spAutoFit/>
          </a:bodyPr>
          <a:lstStyle/>
          <a:p>
            <a:pPr algn="r" marL="0" indent="0" rtl="1">
              <a:lnSpc>
                <a:spcPct val="100000"/>
              </a:lnSpc>
              <a:spcAft>
                <a:spcPts val="600"/>
              </a:spcAft>
            </a:pPr>
            <a:r>
              <a:rPr sz="1250" b="0" lang="ar-SA" algn="r">
                <a:solidFill>
                  <a:srgbClr val="1A202A"/>
                </a:solidFill>
                <a:latin typeface="Segoe UI"/>
              </a:rPr>
              <a:t>لا مفتاح ثابت: اشتقاق من الترخيص أو خادم</a:t>
            </a:r>
          </a:p>
        </p:txBody>
      </p:sp>
      <p:sp>
        <p:nvSpPr>
          <p:cNvPr id="27" name="TextBox 26"/>
          <p:cNvSpPr txBox="1"/>
          <p:nvPr/>
        </p:nvSpPr>
        <p:spPr>
          <a:xfrm>
            <a:off x="685800" y="3236976"/>
            <a:ext cx="2286000" cy="32004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منخفضة</a:t>
            </a:r>
          </a:p>
        </p:txBody>
      </p:sp>
      <p:sp>
        <p:nvSpPr>
          <p:cNvPr id="28" name="Rectangle 27"/>
          <p:cNvSpPr/>
          <p:nvPr/>
        </p:nvSpPr>
        <p:spPr>
          <a:xfrm>
            <a:off x="566928" y="3648456"/>
            <a:ext cx="11064240" cy="457200"/>
          </a:xfrm>
          <a:prstGeom prst="rect">
            <a:avLst/>
          </a:prstGeom>
          <a:solidFill>
            <a:srgbClr val="F6F8FB"/>
          </a:solidFill>
          <a:ln w="6350">
            <a:solidFill>
              <a:srgbClr val="E4EA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732520" y="3712464"/>
            <a:ext cx="2834640" cy="320040"/>
          </a:xfrm>
          <a:prstGeom prst="rect">
            <a:avLst/>
          </a:prstGeom>
          <a:noFill/>
        </p:spPr>
        <p:txBody>
          <a:bodyPr wrap="square" anchor="t" lIns="18288" rIns="18288" tIns="0" bIns="0">
            <a:spAutoFit/>
          </a:bodyPr>
          <a:lstStyle/>
          <a:p>
            <a:pPr algn="r" marL="0" indent="0" rtl="1">
              <a:lnSpc>
                <a:spcPct val="100000"/>
              </a:lnSpc>
              <a:spcAft>
                <a:spcPts val="600"/>
              </a:spcAft>
            </a:pPr>
            <a:r>
              <a:rPr sz="1250" b="0" lang="ar-SA" algn="r">
                <a:solidFill>
                  <a:srgbClr val="0B1D34"/>
                </a:solidFill>
                <a:latin typeface="Segoe UI"/>
              </a:rPr>
              <a:t>`InstallDate` وحده</a:t>
            </a:r>
          </a:p>
        </p:txBody>
      </p:sp>
      <p:sp>
        <p:nvSpPr>
          <p:cNvPr id="30" name="TextBox 29"/>
          <p:cNvSpPr txBox="1"/>
          <p:nvPr/>
        </p:nvSpPr>
        <p:spPr>
          <a:xfrm>
            <a:off x="3063240" y="3712464"/>
            <a:ext cx="5532120" cy="320040"/>
          </a:xfrm>
          <a:prstGeom prst="rect">
            <a:avLst/>
          </a:prstGeom>
          <a:noFill/>
        </p:spPr>
        <p:txBody>
          <a:bodyPr wrap="square" anchor="t" lIns="18288" rIns="18288" tIns="0" bIns="0">
            <a:spAutoFit/>
          </a:bodyPr>
          <a:lstStyle/>
          <a:p>
            <a:pPr algn="r" marL="0" indent="0" rtl="1">
              <a:lnSpc>
                <a:spcPct val="100000"/>
              </a:lnSpc>
              <a:spcAft>
                <a:spcPts val="600"/>
              </a:spcAft>
            </a:pPr>
            <a:r>
              <a:rPr sz="1250" b="0" lang="ar-SA" algn="r">
                <a:solidFill>
                  <a:srgbClr val="1A202A"/>
                </a:solidFill>
                <a:latin typeface="Segoe UI"/>
              </a:rPr>
              <a:t>`max(last_seen, now)` في مكانين + `GetSystemTimePreciseAsFileTime`</a:t>
            </a:r>
          </a:p>
        </p:txBody>
      </p:sp>
      <p:sp>
        <p:nvSpPr>
          <p:cNvPr id="31" name="TextBox 30"/>
          <p:cNvSpPr txBox="1"/>
          <p:nvPr/>
        </p:nvSpPr>
        <p:spPr>
          <a:xfrm>
            <a:off x="685800" y="3712464"/>
            <a:ext cx="2286000" cy="32004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منخفضة</a:t>
            </a:r>
          </a:p>
        </p:txBody>
      </p:sp>
      <p:sp>
        <p:nvSpPr>
          <p:cNvPr id="32" name="Rectangle 31"/>
          <p:cNvSpPr/>
          <p:nvPr/>
        </p:nvSpPr>
        <p:spPr>
          <a:xfrm>
            <a:off x="566928" y="4123944"/>
            <a:ext cx="11064240" cy="457200"/>
          </a:xfrm>
          <a:prstGeom prst="rect">
            <a:avLst/>
          </a:prstGeom>
          <a:solidFill>
            <a:srgbClr val="FFFFFF"/>
          </a:solidFill>
          <a:ln w="6350">
            <a:solidFill>
              <a:srgbClr val="E4EA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8732520" y="4187952"/>
            <a:ext cx="2834640" cy="320040"/>
          </a:xfrm>
          <a:prstGeom prst="rect">
            <a:avLst/>
          </a:prstGeom>
          <a:noFill/>
        </p:spPr>
        <p:txBody>
          <a:bodyPr wrap="square" anchor="t" lIns="18288" rIns="18288" tIns="0" bIns="0">
            <a:spAutoFit/>
          </a:bodyPr>
          <a:lstStyle/>
          <a:p>
            <a:pPr algn="r" marL="0" indent="0" rtl="1">
              <a:lnSpc>
                <a:spcPct val="100000"/>
              </a:lnSpc>
              <a:spcAft>
                <a:spcPts val="600"/>
              </a:spcAft>
            </a:pPr>
            <a:r>
              <a:rPr sz="1250" b="0" lang="ar-SA" algn="r">
                <a:solidFill>
                  <a:srgbClr val="0B1D34"/>
                </a:solidFill>
                <a:latin typeface="Segoe UI"/>
              </a:rPr>
              <a:t>IL نظيف بلا تشويش</a:t>
            </a:r>
          </a:p>
        </p:txBody>
      </p:sp>
      <p:sp>
        <p:nvSpPr>
          <p:cNvPr id="34" name="TextBox 33"/>
          <p:cNvSpPr txBox="1"/>
          <p:nvPr/>
        </p:nvSpPr>
        <p:spPr>
          <a:xfrm>
            <a:off x="3063240" y="4187952"/>
            <a:ext cx="5532120" cy="320040"/>
          </a:xfrm>
          <a:prstGeom prst="rect">
            <a:avLst/>
          </a:prstGeom>
          <a:noFill/>
        </p:spPr>
        <p:txBody>
          <a:bodyPr wrap="square" anchor="t" lIns="18288" rIns="18288" tIns="0" bIns="0">
            <a:spAutoFit/>
          </a:bodyPr>
          <a:lstStyle/>
          <a:p>
            <a:pPr algn="r" marL="0" indent="0" rtl="1">
              <a:lnSpc>
                <a:spcPct val="100000"/>
              </a:lnSpc>
              <a:spcAft>
                <a:spcPts val="600"/>
              </a:spcAft>
            </a:pPr>
            <a:r>
              <a:rPr sz="1250" b="0" lang="ar-SA" algn="r">
                <a:solidFill>
                  <a:srgbClr val="1A202A"/>
                </a:solidFill>
                <a:latin typeface="Segoe UI"/>
              </a:rPr>
              <a:t>Obfuscation + `PublishAot` (لا IL إطلاقاً ⇒ رتق الفصل 7 يستحيل)</a:t>
            </a:r>
          </a:p>
        </p:txBody>
      </p:sp>
      <p:sp>
        <p:nvSpPr>
          <p:cNvPr id="35" name="TextBox 34"/>
          <p:cNvSpPr txBox="1"/>
          <p:nvPr/>
        </p:nvSpPr>
        <p:spPr>
          <a:xfrm>
            <a:off x="685800" y="4187952"/>
            <a:ext cx="2286000" cy="32004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متوسطة</a:t>
            </a:r>
          </a:p>
        </p:txBody>
      </p:sp>
      <p:sp>
        <p:nvSpPr>
          <p:cNvPr id="36" name="Rectangle 35"/>
          <p:cNvSpPr/>
          <p:nvPr/>
        </p:nvSpPr>
        <p:spPr>
          <a:xfrm>
            <a:off x="566928" y="4599432"/>
            <a:ext cx="11064240" cy="457200"/>
          </a:xfrm>
          <a:prstGeom prst="rect">
            <a:avLst/>
          </a:prstGeom>
          <a:solidFill>
            <a:srgbClr val="F6F8FB"/>
          </a:solidFill>
          <a:ln w="6350">
            <a:solidFill>
              <a:srgbClr val="E4EA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732520" y="4663440"/>
            <a:ext cx="2834640" cy="320040"/>
          </a:xfrm>
          <a:prstGeom prst="rect">
            <a:avLst/>
          </a:prstGeom>
          <a:noFill/>
        </p:spPr>
        <p:txBody>
          <a:bodyPr wrap="square" anchor="t" lIns="18288" rIns="18288" tIns="0" bIns="0">
            <a:spAutoFit/>
          </a:bodyPr>
          <a:lstStyle/>
          <a:p>
            <a:pPr algn="r" marL="0" indent="0" rtl="1">
              <a:lnSpc>
                <a:spcPct val="100000"/>
              </a:lnSpc>
              <a:spcAft>
                <a:spcPts val="600"/>
              </a:spcAft>
            </a:pPr>
            <a:r>
              <a:rPr sz="1250" b="0" lang="ar-SA" algn="r">
                <a:solidFill>
                  <a:srgbClr val="0B1D34"/>
                </a:solidFill>
                <a:latin typeface="Segoe UI"/>
              </a:rPr>
              <a:t>لا فحص تكامل ولا كشف منقِّح</a:t>
            </a:r>
          </a:p>
        </p:txBody>
      </p:sp>
      <p:sp>
        <p:nvSpPr>
          <p:cNvPr id="38" name="TextBox 37"/>
          <p:cNvSpPr txBox="1"/>
          <p:nvPr/>
        </p:nvSpPr>
        <p:spPr>
          <a:xfrm>
            <a:off x="3063240" y="4663440"/>
            <a:ext cx="5532120" cy="320040"/>
          </a:xfrm>
          <a:prstGeom prst="rect">
            <a:avLst/>
          </a:prstGeom>
          <a:noFill/>
        </p:spPr>
        <p:txBody>
          <a:bodyPr wrap="square" anchor="t" lIns="18288" rIns="18288" tIns="0" bIns="0">
            <a:spAutoFit/>
          </a:bodyPr>
          <a:lstStyle/>
          <a:p>
            <a:pPr algn="r" marL="0" indent="0" rtl="1">
              <a:lnSpc>
                <a:spcPct val="100000"/>
              </a:lnSpc>
              <a:spcAft>
                <a:spcPts val="600"/>
              </a:spcAft>
            </a:pPr>
            <a:r>
              <a:rPr sz="1250" b="0" lang="ar-SA" algn="r">
                <a:solidFill>
                  <a:srgbClr val="1A202A"/>
                </a:solidFill>
                <a:latin typeface="Segoe UI"/>
              </a:rPr>
              <a:t>`SHA256` للحزمة + تجاهل الوظائف الحرجة عند الاختلاف</a:t>
            </a:r>
          </a:p>
        </p:txBody>
      </p:sp>
      <p:sp>
        <p:nvSpPr>
          <p:cNvPr id="39" name="TextBox 38"/>
          <p:cNvSpPr txBox="1"/>
          <p:nvPr/>
        </p:nvSpPr>
        <p:spPr>
          <a:xfrm>
            <a:off x="685800" y="4663440"/>
            <a:ext cx="2286000" cy="32004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منخفضة</a:t>
            </a:r>
          </a:p>
        </p:txBody>
      </p:sp>
      <p:sp>
        <p:nvSpPr>
          <p:cNvPr id="40" name="TextBox 39"/>
          <p:cNvSpPr txBox="1"/>
          <p:nvPr/>
        </p:nvSpPr>
        <p:spPr>
          <a:xfrm>
            <a:off x="566928" y="5093208"/>
            <a:ext cx="11064240" cy="566928"/>
          </a:xfrm>
          <a:prstGeom prst="rect">
            <a:avLst/>
          </a:prstGeom>
          <a:noFill/>
        </p:spPr>
        <p:txBody>
          <a:bodyPr wrap="square" anchor="t" lIns="18288" rIns="18288" tIns="0" bIns="0">
            <a:spAutoFit/>
          </a:bodyPr>
          <a:lstStyle/>
          <a:p>
            <a:pPr algn="r" marL="0" indent="0" rtl="1">
              <a:lnSpc>
                <a:spcPct val="100000"/>
              </a:lnSpc>
              <a:spcAft>
                <a:spcPts val="600"/>
              </a:spcAft>
            </a:pPr>
            <a:r>
              <a:rPr sz="1350" b="1" lang="ar-SA" algn="r">
                <a:solidFill>
                  <a:srgbClr val="0B1D34"/>
                </a:solidFill>
                <a:latin typeface="Segoe UI"/>
              </a:rPr>
              <a:t>الجملة الختامية: </a:t>
            </a:r>
            <a:r>
              <a:rPr sz="1350" b="0" lang="ar-SA" algn="r">
                <a:solidFill>
                  <a:srgbClr val="1A202A"/>
                </a:solidFill>
                <a:latin typeface="Segoe UI"/>
              </a:rPr>
              <a:t>«أقوى حماية تُخرج القرار من الجهاز» — لا طول مفتاح ولا تشفير يحصّنان ترخيصاً محلياً؛ نقترح تفعيل قصير العمر من خادم. </a:t>
            </a:r>
            <a:r>
              <a:rPr sz="1350" b="1" lang="ar-SA" algn="r">
                <a:solidFill>
                  <a:srgbClr val="B82424"/>
                </a:solidFill>
                <a:latin typeface="Segoe UI"/>
              </a:rPr>
              <a:t>تحذير: `PublishAot` يلغي `System.Management` (WMI) في .NET 6 — البصمة تحتاج P/Invoke.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57200" y="237744"/>
            <a:ext cx="5943600" cy="274320"/>
          </a:xfrm>
          <a:prstGeom prst="rect">
            <a:avLst/>
          </a:prstGeom>
          <a:noFill/>
        </p:spPr>
        <p:txBody>
          <a:bodyPr wrap="square" anchor="t" lIns="18288" rIns="18288" tIns="0" bIns="0">
            <a:spAutoFit/>
          </a:bodyPr>
          <a:lstStyle/>
          <a:p>
            <a:pPr algn="l" marL="0" indent="0" rtl="1">
              <a:lnSpc>
                <a:spcPct val="100000"/>
              </a:lnSpc>
              <a:spcAft>
                <a:spcPts val="600"/>
              </a:spcAft>
            </a:pPr>
            <a:r>
              <a:rPr sz="1200" b="0" lang="ar-SA" algn="l">
                <a:solidFill>
                  <a:srgbClr val="6C7C8C"/>
                </a:solidFill>
                <a:latin typeface="Consolas"/>
              </a:rPr>
              <a:t>15 · RUN OF SHOW</a:t>
            </a:r>
          </a:p>
        </p:txBody>
      </p:sp>
      <p:sp>
        <p:nvSpPr>
          <p:cNvPr id="5" name="TextBox 4"/>
          <p:cNvSpPr txBox="1"/>
          <p:nvPr/>
        </p:nvSpPr>
        <p:spPr>
          <a:xfrm>
            <a:off x="5242255" y="182880"/>
            <a:ext cx="6492240" cy="566928"/>
          </a:xfrm>
          <a:prstGeom prst="rect">
            <a:avLst/>
          </a:prstGeom>
          <a:noFill/>
        </p:spPr>
        <p:txBody>
          <a:bodyPr wrap="square" anchor="t" lIns="18288" rIns="18288" tIns="0" bIns="0">
            <a:spAutoFit/>
          </a:bodyPr>
          <a:lstStyle/>
          <a:p>
            <a:pPr algn="r" marL="0" indent="0" rtl="1">
              <a:lnSpc>
                <a:spcPct val="100000"/>
              </a:lnSpc>
              <a:spcAft>
                <a:spcPts val="600"/>
              </a:spcAft>
            </a:pPr>
            <a:r>
              <a:rPr sz="3000" b="1" lang="ar-SA" algn="r">
                <a:solidFill>
                  <a:srgbClr val="0B1D34"/>
                </a:solidFill>
                <a:latin typeface="Segoe UI"/>
              </a:rPr>
              <a:t>38 دقيقة — دقيقة بدقيقة</a:t>
            </a:r>
          </a:p>
        </p:txBody>
      </p:sp>
      <p:sp>
        <p:nvSpPr>
          <p:cNvPr id="6" name="Rectangle 5"/>
          <p:cNvSpPr/>
          <p:nvPr/>
        </p:nvSpPr>
        <p:spPr>
          <a:xfrm>
            <a:off x="8899855" y="822960"/>
            <a:ext cx="2834640" cy="406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242255" y="914400"/>
            <a:ext cx="64922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6C7C8C"/>
                </a:solidFill>
                <a:latin typeface="Segoe UI"/>
              </a:rPr>
              <a:t>من يتكلم، على أي شاشة، وما الخطة البديلة</a:t>
            </a:r>
          </a:p>
        </p:txBody>
      </p:sp>
      <p:sp>
        <p:nvSpPr>
          <p:cNvPr id="8" name="Rectangle 7"/>
          <p:cNvSpPr/>
          <p:nvPr/>
        </p:nvSpPr>
        <p:spPr>
          <a:xfrm>
            <a:off x="566928" y="1344168"/>
            <a:ext cx="6949440" cy="384048"/>
          </a:xfrm>
          <a:prstGeom prst="rect">
            <a:avLst/>
          </a:prstGeom>
          <a:solidFill>
            <a:srgbClr val="FFFFFF"/>
          </a:solidFill>
          <a:ln w="6350">
            <a:solidFill>
              <a:srgbClr val="E4EA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989320" y="1399032"/>
            <a:ext cx="1417320" cy="274320"/>
          </a:xfrm>
          <a:prstGeom prst="rect">
            <a:avLst/>
          </a:prstGeom>
          <a:noFill/>
        </p:spPr>
        <p:txBody>
          <a:bodyPr wrap="square" anchor="t" lIns="18288" rIns="18288" tIns="0" bIns="0">
            <a:spAutoFit/>
          </a:bodyPr>
          <a:lstStyle/>
          <a:p>
            <a:pPr algn="l" marL="0" indent="0" rtl="1">
              <a:lnSpc>
                <a:spcPct val="100000"/>
              </a:lnSpc>
              <a:spcAft>
                <a:spcPts val="600"/>
              </a:spcAft>
            </a:pPr>
            <a:r>
              <a:rPr sz="1300" b="1" lang="ar-SA" algn="l">
                <a:solidFill>
                  <a:srgbClr val="0B1D34"/>
                </a:solidFill>
                <a:latin typeface="Consolas"/>
              </a:rPr>
              <a:t>0–3</a:t>
            </a:r>
          </a:p>
        </p:txBody>
      </p:sp>
      <p:sp>
        <p:nvSpPr>
          <p:cNvPr id="10" name="TextBox 9"/>
          <p:cNvSpPr txBox="1"/>
          <p:nvPr/>
        </p:nvSpPr>
        <p:spPr>
          <a:xfrm>
            <a:off x="2286000" y="1399032"/>
            <a:ext cx="3657600" cy="274320"/>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1A202A"/>
                </a:solidFill>
                <a:latin typeface="Segoe UI"/>
              </a:rPr>
              <a:t>المشكلة والهدف</a:t>
            </a:r>
          </a:p>
        </p:txBody>
      </p:sp>
      <p:sp>
        <p:nvSpPr>
          <p:cNvPr id="11" name="TextBox 10"/>
          <p:cNvSpPr txBox="1"/>
          <p:nvPr/>
        </p:nvSpPr>
        <p:spPr>
          <a:xfrm>
            <a:off x="685800" y="1408176"/>
            <a:ext cx="1463040" cy="27432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علي</a:t>
            </a:r>
          </a:p>
        </p:txBody>
      </p:sp>
      <p:sp>
        <p:nvSpPr>
          <p:cNvPr id="12" name="Rectangle 11"/>
          <p:cNvSpPr/>
          <p:nvPr/>
        </p:nvSpPr>
        <p:spPr>
          <a:xfrm>
            <a:off x="566928" y="1755648"/>
            <a:ext cx="6949440" cy="384048"/>
          </a:xfrm>
          <a:prstGeom prst="rect">
            <a:avLst/>
          </a:prstGeom>
          <a:solidFill>
            <a:srgbClr val="F6F8FB"/>
          </a:solidFill>
          <a:ln w="6350">
            <a:solidFill>
              <a:srgbClr val="E4EA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989320" y="1810512"/>
            <a:ext cx="1417320" cy="274320"/>
          </a:xfrm>
          <a:prstGeom prst="rect">
            <a:avLst/>
          </a:prstGeom>
          <a:noFill/>
        </p:spPr>
        <p:txBody>
          <a:bodyPr wrap="square" anchor="t" lIns="18288" rIns="18288" tIns="0" bIns="0">
            <a:spAutoFit/>
          </a:bodyPr>
          <a:lstStyle/>
          <a:p>
            <a:pPr algn="l" marL="0" indent="0" rtl="1">
              <a:lnSpc>
                <a:spcPct val="100000"/>
              </a:lnSpc>
              <a:spcAft>
                <a:spcPts val="600"/>
              </a:spcAft>
            </a:pPr>
            <a:r>
              <a:rPr sz="1300" b="1" lang="ar-SA" algn="l">
                <a:solidFill>
                  <a:srgbClr val="0B1D34"/>
                </a:solidFill>
                <a:latin typeface="Consolas"/>
              </a:rPr>
              <a:t>3–7</a:t>
            </a:r>
          </a:p>
        </p:txBody>
      </p:sp>
      <p:sp>
        <p:nvSpPr>
          <p:cNvPr id="14" name="TextBox 13"/>
          <p:cNvSpPr txBox="1"/>
          <p:nvPr/>
        </p:nvSpPr>
        <p:spPr>
          <a:xfrm>
            <a:off x="2286000" y="1810512"/>
            <a:ext cx="3657600" cy="274320"/>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1A202A"/>
                </a:solidFill>
                <a:latin typeface="Segoe UI"/>
              </a:rPr>
              <a:t>كيف بُنيت الحماية + الأرقام</a:t>
            </a:r>
          </a:p>
        </p:txBody>
      </p:sp>
      <p:sp>
        <p:nvSpPr>
          <p:cNvPr id="15" name="TextBox 14"/>
          <p:cNvSpPr txBox="1"/>
          <p:nvPr/>
        </p:nvSpPr>
        <p:spPr>
          <a:xfrm>
            <a:off x="685800" y="1819656"/>
            <a:ext cx="1463040" cy="27432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ماجد</a:t>
            </a:r>
          </a:p>
        </p:txBody>
      </p:sp>
      <p:sp>
        <p:nvSpPr>
          <p:cNvPr id="16" name="Rectangle 15"/>
          <p:cNvSpPr/>
          <p:nvPr/>
        </p:nvSpPr>
        <p:spPr>
          <a:xfrm>
            <a:off x="566928" y="2167128"/>
            <a:ext cx="6949440" cy="384048"/>
          </a:xfrm>
          <a:prstGeom prst="rect">
            <a:avLst/>
          </a:prstGeom>
          <a:solidFill>
            <a:srgbClr val="FFFFFF"/>
          </a:solidFill>
          <a:ln w="6350">
            <a:solidFill>
              <a:srgbClr val="E4EA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5989320" y="2221992"/>
            <a:ext cx="1417320" cy="274320"/>
          </a:xfrm>
          <a:prstGeom prst="rect">
            <a:avLst/>
          </a:prstGeom>
          <a:noFill/>
        </p:spPr>
        <p:txBody>
          <a:bodyPr wrap="square" anchor="t" lIns="18288" rIns="18288" tIns="0" bIns="0">
            <a:spAutoFit/>
          </a:bodyPr>
          <a:lstStyle/>
          <a:p>
            <a:pPr algn="l" marL="0" indent="0" rtl="1">
              <a:lnSpc>
                <a:spcPct val="100000"/>
              </a:lnSpc>
              <a:spcAft>
                <a:spcPts val="600"/>
              </a:spcAft>
            </a:pPr>
            <a:r>
              <a:rPr sz="1300" b="1" lang="ar-SA" algn="l">
                <a:solidFill>
                  <a:srgbClr val="0B1D34"/>
                </a:solidFill>
                <a:latin typeface="Consolas"/>
              </a:rPr>
              <a:t>7–11</a:t>
            </a:r>
          </a:p>
        </p:txBody>
      </p:sp>
      <p:sp>
        <p:nvSpPr>
          <p:cNvPr id="18" name="TextBox 17"/>
          <p:cNvSpPr txBox="1"/>
          <p:nvPr/>
        </p:nvSpPr>
        <p:spPr>
          <a:xfrm>
            <a:off x="2286000" y="2221992"/>
            <a:ext cx="3657600" cy="274320"/>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1A202A"/>
                </a:solidFill>
                <a:latin typeface="Segoe UI"/>
              </a:rPr>
              <a:t>IL/‏JIT + لماذا لا «ملف واحد»</a:t>
            </a:r>
          </a:p>
        </p:txBody>
      </p:sp>
      <p:sp>
        <p:nvSpPr>
          <p:cNvPr id="19" name="TextBox 18"/>
          <p:cNvSpPr txBox="1"/>
          <p:nvPr/>
        </p:nvSpPr>
        <p:spPr>
          <a:xfrm>
            <a:off x="685800" y="2231136"/>
            <a:ext cx="1463040" cy="27432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المعتصم</a:t>
            </a:r>
          </a:p>
        </p:txBody>
      </p:sp>
      <p:sp>
        <p:nvSpPr>
          <p:cNvPr id="20" name="Rectangle 19"/>
          <p:cNvSpPr/>
          <p:nvPr/>
        </p:nvSpPr>
        <p:spPr>
          <a:xfrm>
            <a:off x="566928" y="2578608"/>
            <a:ext cx="6949440" cy="384048"/>
          </a:xfrm>
          <a:prstGeom prst="rect">
            <a:avLst/>
          </a:prstGeom>
          <a:solidFill>
            <a:srgbClr val="F6F8FB"/>
          </a:solidFill>
          <a:ln w="6350">
            <a:solidFill>
              <a:srgbClr val="E4EA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989320" y="2633472"/>
            <a:ext cx="1417320" cy="274320"/>
          </a:xfrm>
          <a:prstGeom prst="rect">
            <a:avLst/>
          </a:prstGeom>
          <a:noFill/>
        </p:spPr>
        <p:txBody>
          <a:bodyPr wrap="square" anchor="t" lIns="18288" rIns="18288" tIns="0" bIns="0">
            <a:spAutoFit/>
          </a:bodyPr>
          <a:lstStyle/>
          <a:p>
            <a:pPr algn="l" marL="0" indent="0" rtl="1">
              <a:lnSpc>
                <a:spcPct val="100000"/>
              </a:lnSpc>
              <a:spcAft>
                <a:spcPts val="600"/>
              </a:spcAft>
            </a:pPr>
            <a:r>
              <a:rPr sz="1300" b="1" lang="ar-SA" algn="l">
                <a:solidFill>
                  <a:srgbClr val="0B1D34"/>
                </a:solidFill>
                <a:latin typeface="Consolas"/>
              </a:rPr>
              <a:t>11–14</a:t>
            </a:r>
          </a:p>
        </p:txBody>
      </p:sp>
      <p:sp>
        <p:nvSpPr>
          <p:cNvPr id="22" name="TextBox 21"/>
          <p:cNvSpPr txBox="1"/>
          <p:nvPr/>
        </p:nvSpPr>
        <p:spPr>
          <a:xfrm>
            <a:off x="2286000" y="2633472"/>
            <a:ext cx="3657600" cy="274320"/>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1A202A"/>
                </a:solidFill>
                <a:latin typeface="Segoe UI"/>
              </a:rPr>
              <a:t>كسر 1: تزوير التخزين</a:t>
            </a:r>
          </a:p>
        </p:txBody>
      </p:sp>
      <p:sp>
        <p:nvSpPr>
          <p:cNvPr id="23" name="TextBox 22"/>
          <p:cNvSpPr txBox="1"/>
          <p:nvPr/>
        </p:nvSpPr>
        <p:spPr>
          <a:xfrm>
            <a:off x="685800" y="2642616"/>
            <a:ext cx="1463040" cy="27432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ماجد</a:t>
            </a:r>
          </a:p>
        </p:txBody>
      </p:sp>
      <p:sp>
        <p:nvSpPr>
          <p:cNvPr id="24" name="Rectangle 23"/>
          <p:cNvSpPr/>
          <p:nvPr/>
        </p:nvSpPr>
        <p:spPr>
          <a:xfrm>
            <a:off x="566928" y="2990088"/>
            <a:ext cx="6949440" cy="384048"/>
          </a:xfrm>
          <a:prstGeom prst="rect">
            <a:avLst/>
          </a:prstGeom>
          <a:solidFill>
            <a:srgbClr val="0B1D34"/>
          </a:solidFill>
          <a:ln w="6350">
            <a:solidFill>
              <a:srgbClr val="E4EA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5989320" y="3044952"/>
            <a:ext cx="1417320" cy="274320"/>
          </a:xfrm>
          <a:prstGeom prst="rect">
            <a:avLst/>
          </a:prstGeom>
          <a:noFill/>
        </p:spPr>
        <p:txBody>
          <a:bodyPr wrap="square" anchor="t" lIns="18288" rIns="18288" tIns="0" bIns="0">
            <a:spAutoFit/>
          </a:bodyPr>
          <a:lstStyle/>
          <a:p>
            <a:pPr algn="l" marL="0" indent="0" rtl="1">
              <a:lnSpc>
                <a:spcPct val="100000"/>
              </a:lnSpc>
              <a:spcAft>
                <a:spcPts val="600"/>
              </a:spcAft>
            </a:pPr>
            <a:r>
              <a:rPr sz="1300" b="1" lang="ar-SA" algn="l">
                <a:solidFill>
                  <a:srgbClr val="C59421"/>
                </a:solidFill>
                <a:latin typeface="Consolas"/>
              </a:rPr>
              <a:t>14–24</a:t>
            </a:r>
          </a:p>
        </p:txBody>
      </p:sp>
      <p:sp>
        <p:nvSpPr>
          <p:cNvPr id="26" name="TextBox 25"/>
          <p:cNvSpPr txBox="1"/>
          <p:nvPr/>
        </p:nvSpPr>
        <p:spPr>
          <a:xfrm>
            <a:off x="2286000" y="3044952"/>
            <a:ext cx="3657600" cy="274320"/>
          </a:xfrm>
          <a:prstGeom prst="rect">
            <a:avLst/>
          </a:prstGeom>
          <a:noFill/>
        </p:spPr>
        <p:txBody>
          <a:bodyPr wrap="square" anchor="t" lIns="18288" rIns="18288" tIns="0" bIns="0">
            <a:spAutoFit/>
          </a:bodyPr>
          <a:lstStyle/>
          <a:p>
            <a:pPr algn="r" marL="0" indent="0" rtl="1">
              <a:lnSpc>
                <a:spcPct val="100000"/>
              </a:lnSpc>
              <a:spcAft>
                <a:spcPts val="600"/>
              </a:spcAft>
            </a:pPr>
            <a:r>
              <a:rPr sz="1350" b="1" lang="ar-SA" algn="r">
                <a:solidFill>
                  <a:srgbClr val="FFFFFF"/>
                </a:solidFill>
                <a:latin typeface="Segoe UI"/>
              </a:rPr>
              <a:t>كسر 2: رتق IL في x32dbg ★</a:t>
            </a:r>
          </a:p>
        </p:txBody>
      </p:sp>
      <p:sp>
        <p:nvSpPr>
          <p:cNvPr id="27" name="TextBox 26"/>
          <p:cNvSpPr txBox="1"/>
          <p:nvPr/>
        </p:nvSpPr>
        <p:spPr>
          <a:xfrm>
            <a:off x="685800" y="3054096"/>
            <a:ext cx="1463040" cy="27432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المعتصم + علي</a:t>
            </a:r>
          </a:p>
        </p:txBody>
      </p:sp>
      <p:sp>
        <p:nvSpPr>
          <p:cNvPr id="28" name="Rectangle 27"/>
          <p:cNvSpPr/>
          <p:nvPr/>
        </p:nvSpPr>
        <p:spPr>
          <a:xfrm>
            <a:off x="566928" y="3401568"/>
            <a:ext cx="6949440" cy="384048"/>
          </a:xfrm>
          <a:prstGeom prst="rect">
            <a:avLst/>
          </a:prstGeom>
          <a:solidFill>
            <a:srgbClr val="F6F8FB"/>
          </a:solidFill>
          <a:ln w="6350">
            <a:solidFill>
              <a:srgbClr val="E4EA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5989320" y="3456432"/>
            <a:ext cx="1417320" cy="274320"/>
          </a:xfrm>
          <a:prstGeom prst="rect">
            <a:avLst/>
          </a:prstGeom>
          <a:noFill/>
        </p:spPr>
        <p:txBody>
          <a:bodyPr wrap="square" anchor="t" lIns="18288" rIns="18288" tIns="0" bIns="0">
            <a:spAutoFit/>
          </a:bodyPr>
          <a:lstStyle/>
          <a:p>
            <a:pPr algn="l" marL="0" indent="0" rtl="1">
              <a:lnSpc>
                <a:spcPct val="100000"/>
              </a:lnSpc>
              <a:spcAft>
                <a:spcPts val="600"/>
              </a:spcAft>
            </a:pPr>
            <a:r>
              <a:rPr sz="1300" b="1" lang="ar-SA" algn="l">
                <a:solidFill>
                  <a:srgbClr val="0B1D34"/>
                </a:solidFill>
                <a:latin typeface="Consolas"/>
              </a:rPr>
              <a:t>24–28</a:t>
            </a:r>
          </a:p>
        </p:txBody>
      </p:sp>
      <p:sp>
        <p:nvSpPr>
          <p:cNvPr id="30" name="TextBox 29"/>
          <p:cNvSpPr txBox="1"/>
          <p:nvPr/>
        </p:nvSpPr>
        <p:spPr>
          <a:xfrm>
            <a:off x="2286000" y="3456432"/>
            <a:ext cx="3657600" cy="274320"/>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1A202A"/>
                </a:solidFill>
                <a:latin typeface="Segoe UI"/>
              </a:rPr>
              <a:t>درس التوقيت (JIT)</a:t>
            </a:r>
          </a:p>
        </p:txBody>
      </p:sp>
      <p:sp>
        <p:nvSpPr>
          <p:cNvPr id="31" name="TextBox 30"/>
          <p:cNvSpPr txBox="1"/>
          <p:nvPr/>
        </p:nvSpPr>
        <p:spPr>
          <a:xfrm>
            <a:off x="685800" y="3465576"/>
            <a:ext cx="1463040" cy="27432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علي</a:t>
            </a:r>
          </a:p>
        </p:txBody>
      </p:sp>
      <p:sp>
        <p:nvSpPr>
          <p:cNvPr id="32" name="Rectangle 31"/>
          <p:cNvSpPr/>
          <p:nvPr/>
        </p:nvSpPr>
        <p:spPr>
          <a:xfrm>
            <a:off x="566928" y="3813048"/>
            <a:ext cx="6949440" cy="384048"/>
          </a:xfrm>
          <a:prstGeom prst="rect">
            <a:avLst/>
          </a:prstGeom>
          <a:solidFill>
            <a:srgbClr val="FFFFFF"/>
          </a:solidFill>
          <a:ln w="6350">
            <a:solidFill>
              <a:srgbClr val="E4EA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5989320" y="3867912"/>
            <a:ext cx="1417320" cy="274320"/>
          </a:xfrm>
          <a:prstGeom prst="rect">
            <a:avLst/>
          </a:prstGeom>
          <a:noFill/>
        </p:spPr>
        <p:txBody>
          <a:bodyPr wrap="square" anchor="t" lIns="18288" rIns="18288" tIns="0" bIns="0">
            <a:spAutoFit/>
          </a:bodyPr>
          <a:lstStyle/>
          <a:p>
            <a:pPr algn="l" marL="0" indent="0" rtl="1">
              <a:lnSpc>
                <a:spcPct val="100000"/>
              </a:lnSpc>
              <a:spcAft>
                <a:spcPts val="600"/>
              </a:spcAft>
            </a:pPr>
            <a:r>
              <a:rPr sz="1300" b="1" lang="ar-SA" algn="l">
                <a:solidFill>
                  <a:srgbClr val="0B1D34"/>
                </a:solidFill>
                <a:latin typeface="Consolas"/>
              </a:rPr>
              <a:t>28–31</a:t>
            </a:r>
          </a:p>
        </p:txBody>
      </p:sp>
      <p:sp>
        <p:nvSpPr>
          <p:cNvPr id="34" name="TextBox 33"/>
          <p:cNvSpPr txBox="1"/>
          <p:nvPr/>
        </p:nvSpPr>
        <p:spPr>
          <a:xfrm>
            <a:off x="2286000" y="3867912"/>
            <a:ext cx="3657600" cy="274320"/>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1A202A"/>
                </a:solidFill>
                <a:latin typeface="Segoe UI"/>
              </a:rPr>
              <a:t>كسر 3: EAX/Call stack = تشريح</a:t>
            </a:r>
          </a:p>
        </p:txBody>
      </p:sp>
      <p:sp>
        <p:nvSpPr>
          <p:cNvPr id="35" name="TextBox 34"/>
          <p:cNvSpPr txBox="1"/>
          <p:nvPr/>
        </p:nvSpPr>
        <p:spPr>
          <a:xfrm>
            <a:off x="685800" y="3877056"/>
            <a:ext cx="1463040" cy="27432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ماجد</a:t>
            </a:r>
          </a:p>
        </p:txBody>
      </p:sp>
      <p:sp>
        <p:nvSpPr>
          <p:cNvPr id="36" name="Rectangle 35"/>
          <p:cNvSpPr/>
          <p:nvPr/>
        </p:nvSpPr>
        <p:spPr>
          <a:xfrm>
            <a:off x="566928" y="4224528"/>
            <a:ext cx="6949440" cy="384048"/>
          </a:xfrm>
          <a:prstGeom prst="rect">
            <a:avLst/>
          </a:prstGeom>
          <a:solidFill>
            <a:srgbClr val="F6F8FB"/>
          </a:solidFill>
          <a:ln w="6350">
            <a:solidFill>
              <a:srgbClr val="E4EA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989320" y="4279392"/>
            <a:ext cx="1417320" cy="274320"/>
          </a:xfrm>
          <a:prstGeom prst="rect">
            <a:avLst/>
          </a:prstGeom>
          <a:noFill/>
        </p:spPr>
        <p:txBody>
          <a:bodyPr wrap="square" anchor="t" lIns="18288" rIns="18288" tIns="0" bIns="0">
            <a:spAutoFit/>
          </a:bodyPr>
          <a:lstStyle/>
          <a:p>
            <a:pPr algn="l" marL="0" indent="0" rtl="1">
              <a:lnSpc>
                <a:spcPct val="100000"/>
              </a:lnSpc>
              <a:spcAft>
                <a:spcPts val="600"/>
              </a:spcAft>
            </a:pPr>
            <a:r>
              <a:rPr sz="1300" b="1" lang="ar-SA" algn="l">
                <a:solidFill>
                  <a:srgbClr val="0B1D34"/>
                </a:solidFill>
                <a:latin typeface="Consolas"/>
              </a:rPr>
              <a:t>31–34</a:t>
            </a:r>
          </a:p>
        </p:txBody>
      </p:sp>
      <p:sp>
        <p:nvSpPr>
          <p:cNvPr id="38" name="TextBox 37"/>
          <p:cNvSpPr txBox="1"/>
          <p:nvPr/>
        </p:nvSpPr>
        <p:spPr>
          <a:xfrm>
            <a:off x="2286000" y="4279392"/>
            <a:ext cx="3657600" cy="274320"/>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1A202A"/>
                </a:solidFill>
                <a:latin typeface="Segoe UI"/>
              </a:rPr>
              <a:t>الرتق الدائم + keygen حيّ</a:t>
            </a:r>
          </a:p>
        </p:txBody>
      </p:sp>
      <p:sp>
        <p:nvSpPr>
          <p:cNvPr id="39" name="TextBox 38"/>
          <p:cNvSpPr txBox="1"/>
          <p:nvPr/>
        </p:nvSpPr>
        <p:spPr>
          <a:xfrm>
            <a:off x="685800" y="4288536"/>
            <a:ext cx="1463040" cy="27432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المعتصم</a:t>
            </a:r>
          </a:p>
        </p:txBody>
      </p:sp>
      <p:sp>
        <p:nvSpPr>
          <p:cNvPr id="40" name="Rectangle 39"/>
          <p:cNvSpPr/>
          <p:nvPr/>
        </p:nvSpPr>
        <p:spPr>
          <a:xfrm>
            <a:off x="566928" y="4636008"/>
            <a:ext cx="6949440" cy="384048"/>
          </a:xfrm>
          <a:prstGeom prst="rect">
            <a:avLst/>
          </a:prstGeom>
          <a:solidFill>
            <a:srgbClr val="FFFFFF"/>
          </a:solidFill>
          <a:ln w="6350">
            <a:solidFill>
              <a:srgbClr val="E4EA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5989320" y="4690872"/>
            <a:ext cx="1417320" cy="274320"/>
          </a:xfrm>
          <a:prstGeom prst="rect">
            <a:avLst/>
          </a:prstGeom>
          <a:noFill/>
        </p:spPr>
        <p:txBody>
          <a:bodyPr wrap="square" anchor="t" lIns="18288" rIns="18288" tIns="0" bIns="0">
            <a:spAutoFit/>
          </a:bodyPr>
          <a:lstStyle/>
          <a:p>
            <a:pPr algn="l" marL="0" indent="0" rtl="1">
              <a:lnSpc>
                <a:spcPct val="100000"/>
              </a:lnSpc>
              <a:spcAft>
                <a:spcPts val="600"/>
              </a:spcAft>
            </a:pPr>
            <a:r>
              <a:rPr sz="1300" b="1" lang="ar-SA" algn="l">
                <a:solidFill>
                  <a:srgbClr val="0B1D34"/>
                </a:solidFill>
                <a:latin typeface="Consolas"/>
              </a:rPr>
              <a:t>34–37</a:t>
            </a:r>
          </a:p>
        </p:txBody>
      </p:sp>
      <p:sp>
        <p:nvSpPr>
          <p:cNvPr id="42" name="TextBox 41"/>
          <p:cNvSpPr txBox="1"/>
          <p:nvPr/>
        </p:nvSpPr>
        <p:spPr>
          <a:xfrm>
            <a:off x="2286000" y="4690872"/>
            <a:ext cx="3657600" cy="274320"/>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1A202A"/>
                </a:solidFill>
                <a:latin typeface="Segoe UI"/>
              </a:rPr>
              <a:t>الدفاع: ثغرة ← إصلاح</a:t>
            </a:r>
          </a:p>
        </p:txBody>
      </p:sp>
      <p:sp>
        <p:nvSpPr>
          <p:cNvPr id="43" name="TextBox 42"/>
          <p:cNvSpPr txBox="1"/>
          <p:nvPr/>
        </p:nvSpPr>
        <p:spPr>
          <a:xfrm>
            <a:off x="685800" y="4700016"/>
            <a:ext cx="1463040" cy="27432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علي</a:t>
            </a:r>
          </a:p>
        </p:txBody>
      </p:sp>
      <p:sp>
        <p:nvSpPr>
          <p:cNvPr id="44" name="Rectangle 43"/>
          <p:cNvSpPr/>
          <p:nvPr/>
        </p:nvSpPr>
        <p:spPr>
          <a:xfrm>
            <a:off x="566928" y="5047488"/>
            <a:ext cx="6949440" cy="384048"/>
          </a:xfrm>
          <a:prstGeom prst="rect">
            <a:avLst/>
          </a:prstGeom>
          <a:solidFill>
            <a:srgbClr val="F6F8FB"/>
          </a:solidFill>
          <a:ln w="6350">
            <a:solidFill>
              <a:srgbClr val="E4EAF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5989320" y="5102352"/>
            <a:ext cx="1417320" cy="274320"/>
          </a:xfrm>
          <a:prstGeom prst="rect">
            <a:avLst/>
          </a:prstGeom>
          <a:noFill/>
        </p:spPr>
        <p:txBody>
          <a:bodyPr wrap="square" anchor="t" lIns="18288" rIns="18288" tIns="0" bIns="0">
            <a:spAutoFit/>
          </a:bodyPr>
          <a:lstStyle/>
          <a:p>
            <a:pPr algn="l" marL="0" indent="0" rtl="1">
              <a:lnSpc>
                <a:spcPct val="100000"/>
              </a:lnSpc>
              <a:spcAft>
                <a:spcPts val="600"/>
              </a:spcAft>
            </a:pPr>
            <a:r>
              <a:rPr sz="1300" b="1" lang="ar-SA" algn="l">
                <a:solidFill>
                  <a:srgbClr val="0B1D34"/>
                </a:solidFill>
                <a:latin typeface="Consolas"/>
              </a:rPr>
              <a:t>37–38</a:t>
            </a:r>
          </a:p>
        </p:txBody>
      </p:sp>
      <p:sp>
        <p:nvSpPr>
          <p:cNvPr id="46" name="TextBox 45"/>
          <p:cNvSpPr txBox="1"/>
          <p:nvPr/>
        </p:nvSpPr>
        <p:spPr>
          <a:xfrm>
            <a:off x="2286000" y="5102352"/>
            <a:ext cx="3657600" cy="274320"/>
          </a:xfrm>
          <a:prstGeom prst="rect">
            <a:avLst/>
          </a:prstGeom>
          <a:noFill/>
        </p:spPr>
        <p:txBody>
          <a:bodyPr wrap="square" anchor="t" lIns="18288" rIns="18288" tIns="0" bIns="0">
            <a:spAutoFit/>
          </a:bodyPr>
          <a:lstStyle/>
          <a:p>
            <a:pPr algn="r" marL="0" indent="0" rtl="1">
              <a:lnSpc>
                <a:spcPct val="100000"/>
              </a:lnSpc>
              <a:spcAft>
                <a:spcPts val="600"/>
              </a:spcAft>
            </a:pPr>
            <a:r>
              <a:rPr sz="1350" b="0" lang="ar-SA" algn="r">
                <a:solidFill>
                  <a:srgbClr val="1A202A"/>
                </a:solidFill>
                <a:latin typeface="Segoe UI"/>
              </a:rPr>
              <a:t>أسئلة + كيف نُشرف</a:t>
            </a:r>
          </a:p>
        </p:txBody>
      </p:sp>
      <p:sp>
        <p:nvSpPr>
          <p:cNvPr id="47" name="TextBox 46"/>
          <p:cNvSpPr txBox="1"/>
          <p:nvPr/>
        </p:nvSpPr>
        <p:spPr>
          <a:xfrm>
            <a:off x="685800" y="5111496"/>
            <a:ext cx="1463040" cy="27432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الثلاثة</a:t>
            </a:r>
          </a:p>
        </p:txBody>
      </p:sp>
      <p:sp>
        <p:nvSpPr>
          <p:cNvPr id="48" name="Rectangle 47"/>
          <p:cNvSpPr/>
          <p:nvPr/>
        </p:nvSpPr>
        <p:spPr>
          <a:xfrm>
            <a:off x="7726679" y="1344168"/>
            <a:ext cx="3931920" cy="4114800"/>
          </a:xfrm>
          <a:prstGeom prst="rect">
            <a:avLst/>
          </a:prstGeom>
          <a:solidFill>
            <a:srgbClr val="141D2C"/>
          </a:solidFill>
          <a:ln w="15240">
            <a:solidFill>
              <a:srgbClr val="C594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7955279" y="1481328"/>
            <a:ext cx="3474720" cy="365760"/>
          </a:xfrm>
          <a:prstGeom prst="rect">
            <a:avLst/>
          </a:prstGeom>
          <a:noFill/>
        </p:spPr>
        <p:txBody>
          <a:bodyPr wrap="square" anchor="t" lIns="18288" rIns="18288" tIns="0" bIns="0">
            <a:spAutoFit/>
          </a:bodyPr>
          <a:lstStyle/>
          <a:p>
            <a:pPr algn="r" marL="0" indent="0" rtl="1">
              <a:lnSpc>
                <a:spcPct val="100000"/>
              </a:lnSpc>
              <a:spcAft>
                <a:spcPts val="600"/>
              </a:spcAft>
            </a:pPr>
            <a:r>
              <a:rPr sz="1600" b="1" lang="ar-SA" algn="r">
                <a:solidFill>
                  <a:srgbClr val="C59421"/>
                </a:solidFill>
                <a:latin typeface="Segoe UI"/>
              </a:rPr>
              <a:t>شجرة الطوارئ</a:t>
            </a:r>
          </a:p>
        </p:txBody>
      </p:sp>
      <p:sp>
        <p:nvSpPr>
          <p:cNvPr id="50" name="TextBox 49"/>
          <p:cNvSpPr txBox="1"/>
          <p:nvPr/>
        </p:nvSpPr>
        <p:spPr>
          <a:xfrm>
            <a:off x="7955279" y="1920240"/>
            <a:ext cx="3520440" cy="3291840"/>
          </a:xfrm>
          <a:prstGeom prst="rect">
            <a:avLst/>
          </a:prstGeom>
          <a:noFill/>
        </p:spPr>
        <p:txBody>
          <a:bodyPr wrap="square" lIns="18288" rIns="18288" tIns="0" bIns="0">
            <a:spAutoFit/>
          </a:bodyPr>
          <a:lstStyle/>
          <a:p>
            <a:pPr algn="r" marL="0" indent="0" rtl="1">
              <a:lnSpc>
                <a:spcPct val="108000"/>
              </a:lnSpc>
              <a:spcAft>
                <a:spcPts val="600"/>
              </a:spcAft>
            </a:pPr>
            <a:r>
              <a:rPr sz="1200" b="1" lang="ar-SA" algn="r">
                <a:solidFill>
                  <a:srgbClr val="C59421"/>
                </a:solidFill>
                <a:latin typeface="Segoe UI"/>
              </a:rPr>
              <a:t>•  </a:t>
            </a:r>
            <a:r>
              <a:rPr sz="1200" b="1" lang="ar-SA" algn="r">
                <a:solidFill>
                  <a:srgbClr val="FFFFFF"/>
                </a:solidFill>
                <a:latin typeface="Segoe UI"/>
              </a:rPr>
              <a:t>A</a:t>
            </a:r>
            <a:r>
              <a:rPr sz="1200" b="0" lang="ar-SA" algn="r">
                <a:solidFill>
                  <a:srgbClr val="FFFFFF"/>
                </a:solidFill>
                <a:latin typeface="Segoe UI"/>
              </a:rPr>
              <a:t> — كل شيء يعمل: الفصل 7 ← 9 ← 10</a:t>
            </a:r>
          </a:p>
          <a:p>
            <a:pPr algn="r" marL="0" indent="0" rtl="1">
              <a:lnSpc>
                <a:spcPct val="108000"/>
              </a:lnSpc>
              <a:spcAft>
                <a:spcPts val="600"/>
              </a:spcAft>
            </a:pPr>
            <a:r>
              <a:rPr sz="1200" b="1" lang="ar-SA" algn="r">
                <a:solidFill>
                  <a:srgbClr val="C59421"/>
                </a:solidFill>
                <a:latin typeface="Segoe UI"/>
              </a:rPr>
              <a:t>•  </a:t>
            </a:r>
            <a:r>
              <a:rPr sz="1200" b="1" lang="ar-SA" algn="r">
                <a:solidFill>
                  <a:srgbClr val="FFFFFF"/>
                </a:solidFill>
                <a:latin typeface="Segoe UI"/>
              </a:rPr>
              <a:t>B</a:t>
            </a:r>
            <a:r>
              <a:rPr sz="1200" b="0" lang="ar-SA" algn="r">
                <a:solidFill>
                  <a:srgbClr val="FFFFFF"/>
                </a:solidFill>
                <a:latin typeface="Segoe UI"/>
              </a:rPr>
              <a:t> — النمط لم يظهر: انتقل لـ HxD فوراً (وقل: أوضح على القرص)</a:t>
            </a:r>
          </a:p>
          <a:p>
            <a:pPr algn="r" marL="0" indent="0" rtl="1">
              <a:lnSpc>
                <a:spcPct val="108000"/>
              </a:lnSpc>
              <a:spcAft>
                <a:spcPts val="600"/>
              </a:spcAft>
            </a:pPr>
            <a:r>
              <a:rPr sz="1200" b="1" lang="ar-SA" algn="r">
                <a:solidFill>
                  <a:srgbClr val="C59421"/>
                </a:solidFill>
                <a:latin typeface="Segoe UI"/>
              </a:rPr>
              <a:t>•  </a:t>
            </a:r>
            <a:r>
              <a:rPr sz="1200" b="1" lang="ar-SA" algn="r">
                <a:solidFill>
                  <a:srgbClr val="FFFFFF"/>
                </a:solidFill>
                <a:latin typeface="Segoe UI"/>
              </a:rPr>
              <a:t>C</a:t>
            </a:r>
            <a:r>
              <a:rPr sz="1200" b="0" lang="ar-SA" algn="r">
                <a:solidFill>
                  <a:srgbClr val="FFFFFF"/>
                </a:solidFill>
                <a:latin typeface="Segoe UI"/>
              </a:rPr>
              <a:t> — الأدوات مُعطّلة: اعرض keygen + الفيديو المسجّل + جدول الدفاع</a:t>
            </a:r>
          </a:p>
          <a:p>
            <a:pPr algn="r" marL="0" indent="0" rtl="1">
              <a:lnSpc>
                <a:spcPct val="108000"/>
              </a:lnSpc>
              <a:spcAft>
                <a:spcPts val="600"/>
              </a:spcAft>
            </a:pPr>
            <a:r>
              <a:rPr sz="1200" b="1" lang="ar-SA" algn="r">
                <a:solidFill>
                  <a:srgbClr val="C59421"/>
                </a:solidFill>
                <a:latin typeface="Segoe UI"/>
              </a:rPr>
              <a:t>•  </a:t>
            </a:r>
            <a:r>
              <a:rPr sz="1200" b="1" lang="ar-SA" algn="r">
                <a:solidFill>
                  <a:srgbClr val="FFFFFF"/>
                </a:solidFill>
                <a:latin typeface="Segoe UI"/>
              </a:rPr>
              <a:t>D</a:t>
            </a:r>
            <a:r>
              <a:rPr sz="1200" b="0" lang="ar-SA" algn="r">
                <a:solidFill>
                  <a:srgbClr val="FFFFFF"/>
                </a:solidFill>
                <a:latin typeface="Segoe UI"/>
              </a:rPr>
              <a:t> — المنقِّح لا يعمل على جهاز العرض: جهازك المحمول + HDMI</a:t>
            </a:r>
          </a:p>
          <a:p>
            <a:pPr algn="r" marL="0" indent="0" rtl="1">
              <a:lnSpc>
                <a:spcPct val="108000"/>
              </a:lnSpc>
              <a:spcAft>
                <a:spcPts val="600"/>
              </a:spcAft>
            </a:pPr>
            <a:r>
              <a:rPr sz="1200" b="1" lang="ar-SA" algn="r">
                <a:solidFill>
                  <a:srgbClr val="C59421"/>
                </a:solidFill>
                <a:latin typeface="Segoe UI"/>
              </a:rPr>
              <a:t>•  </a:t>
            </a:r>
            <a:r>
              <a:rPr sz="1200" b="0" lang="ar-SA" algn="r">
                <a:solidFill>
                  <a:srgbClr val="FFFFFF"/>
                </a:solidFill>
                <a:latin typeface="Segoe UI"/>
              </a:rPr>
              <a:t>سقوط العرض كله: الشرائح + الـ PDF = محاضرة كاملة بلا ديمو</a:t>
            </a:r>
          </a:p>
          <a:p>
            <a:pPr algn="r" marL="0" indent="0" rtl="1">
              <a:lnSpc>
                <a:spcPct val="108000"/>
              </a:lnSpc>
              <a:spcAft>
                <a:spcPts val="600"/>
              </a:spcAft>
            </a:pPr>
            <a:r>
              <a:rPr sz="1200" b="1" lang="ar-SA" algn="r">
                <a:solidFill>
                  <a:srgbClr val="C59421"/>
                </a:solidFill>
                <a:latin typeface="Segoe UI"/>
              </a:rPr>
              <a:t>•  </a:t>
            </a:r>
            <a:r>
              <a:rPr sz="1200" b="0" lang="ar-SA" algn="r">
                <a:solidFill>
                  <a:srgbClr val="FFFFFF"/>
                </a:solidFill>
                <a:latin typeface="Segoe UI"/>
              </a:rPr>
              <a:t>⏱ لا تتجاوز 38 دقيقة — الإنهاء المبكر أفضل من القطع</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457200" y="237744"/>
            <a:ext cx="5943600" cy="274320"/>
          </a:xfrm>
          <a:prstGeom prst="rect">
            <a:avLst/>
          </a:prstGeom>
          <a:noFill/>
        </p:spPr>
        <p:txBody>
          <a:bodyPr wrap="square" anchor="t" lIns="18288" rIns="18288" tIns="0" bIns="0">
            <a:spAutoFit/>
          </a:bodyPr>
          <a:lstStyle/>
          <a:p>
            <a:pPr algn="l" marL="0" indent="0" rtl="1">
              <a:lnSpc>
                <a:spcPct val="100000"/>
              </a:lnSpc>
              <a:spcAft>
                <a:spcPts val="600"/>
              </a:spcAft>
            </a:pPr>
            <a:r>
              <a:rPr sz="1200" b="0" lang="ar-SA" algn="l">
                <a:solidFill>
                  <a:srgbClr val="6C7C8C"/>
                </a:solidFill>
                <a:latin typeface="Consolas"/>
              </a:rPr>
              <a:t>16 · EVIDENCE</a:t>
            </a:r>
          </a:p>
        </p:txBody>
      </p:sp>
      <p:sp>
        <p:nvSpPr>
          <p:cNvPr id="5" name="TextBox 4"/>
          <p:cNvSpPr txBox="1"/>
          <p:nvPr/>
        </p:nvSpPr>
        <p:spPr>
          <a:xfrm>
            <a:off x="5242255" y="182880"/>
            <a:ext cx="6492240" cy="566928"/>
          </a:xfrm>
          <a:prstGeom prst="rect">
            <a:avLst/>
          </a:prstGeom>
          <a:noFill/>
        </p:spPr>
        <p:txBody>
          <a:bodyPr wrap="square" anchor="t" lIns="18288" rIns="18288" tIns="0" bIns="0">
            <a:spAutoFit/>
          </a:bodyPr>
          <a:lstStyle/>
          <a:p>
            <a:pPr algn="r" marL="0" indent="0" rtl="1">
              <a:lnSpc>
                <a:spcPct val="100000"/>
              </a:lnSpc>
              <a:spcAft>
                <a:spcPts val="600"/>
              </a:spcAft>
            </a:pPr>
            <a:r>
              <a:rPr sz="3000" b="1" lang="ar-SA" algn="r">
                <a:solidFill>
                  <a:srgbClr val="0B1D34"/>
                </a:solidFill>
                <a:latin typeface="Segoe UI"/>
              </a:rPr>
              <a:t>لقطات الإثبات — ألصقها بعد إعادة التصوير</a:t>
            </a:r>
          </a:p>
        </p:txBody>
      </p:sp>
      <p:sp>
        <p:nvSpPr>
          <p:cNvPr id="6" name="Rectangle 5"/>
          <p:cNvSpPr/>
          <p:nvPr/>
        </p:nvSpPr>
        <p:spPr>
          <a:xfrm>
            <a:off x="8899855" y="822960"/>
            <a:ext cx="2834640" cy="4064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242255" y="914400"/>
            <a:ext cx="649224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6C7C8C"/>
                </a:solidFill>
                <a:latin typeface="Segoe UI"/>
              </a:rPr>
              <a:t>ثلاث لقطات تكفي: حالة، رتق، نتيجة</a:t>
            </a:r>
          </a:p>
        </p:txBody>
      </p:sp>
      <p:sp>
        <p:nvSpPr>
          <p:cNvPr id="8" name="Rectangle 7"/>
          <p:cNvSpPr/>
          <p:nvPr/>
        </p:nvSpPr>
        <p:spPr>
          <a:xfrm>
            <a:off x="566928" y="1344168"/>
            <a:ext cx="3611880" cy="2148840"/>
          </a:xfrm>
          <a:prstGeom prst="rect">
            <a:avLst/>
          </a:prstGeom>
          <a:solidFill>
            <a:srgbClr val="F6F8FB"/>
          </a:solidFill>
          <a:ln w="15875">
            <a:solidFill>
              <a:srgbClr val="C594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04088" y="2212848"/>
            <a:ext cx="3337560" cy="457200"/>
          </a:xfrm>
          <a:prstGeom prst="rect">
            <a:avLst/>
          </a:prstGeom>
          <a:noFill/>
        </p:spPr>
        <p:txBody>
          <a:bodyPr wrap="square" anchor="t" lIns="18288" rIns="18288" tIns="0" bIns="0">
            <a:spAutoFit/>
          </a:bodyPr>
          <a:lstStyle/>
          <a:p>
            <a:pPr algn="ctr" marL="0" indent="0" rtl="1">
              <a:lnSpc>
                <a:spcPct val="100000"/>
              </a:lnSpc>
              <a:spcAft>
                <a:spcPts val="600"/>
              </a:spcAft>
            </a:pPr>
            <a:r>
              <a:rPr sz="1300" b="0" lang="ar-SA" algn="ctr">
                <a:solidFill>
                  <a:srgbClr val="6C7C8C"/>
                </a:solidFill>
                <a:latin typeface="Segoe UI"/>
              </a:rPr>
              <a:t>[ هنا تُ لصق اللقطة ]</a:t>
            </a:r>
          </a:p>
        </p:txBody>
      </p:sp>
      <p:sp>
        <p:nvSpPr>
          <p:cNvPr id="10" name="TextBox 9"/>
          <p:cNvSpPr txBox="1"/>
          <p:nvPr/>
        </p:nvSpPr>
        <p:spPr>
          <a:xfrm>
            <a:off x="704088" y="3584448"/>
            <a:ext cx="3337560" cy="365760"/>
          </a:xfrm>
          <a:prstGeom prst="rect">
            <a:avLst/>
          </a:prstGeom>
          <a:noFill/>
        </p:spPr>
        <p:txBody>
          <a:bodyPr wrap="square" anchor="t" lIns="18288" rIns="18288" tIns="0" bIns="0">
            <a:spAutoFit/>
          </a:bodyPr>
          <a:lstStyle/>
          <a:p>
            <a:pPr algn="r" marL="0" indent="0" rtl="1">
              <a:lnSpc>
                <a:spcPct val="100000"/>
              </a:lnSpc>
              <a:spcAft>
                <a:spcPts val="600"/>
              </a:spcAft>
            </a:pPr>
            <a:r>
              <a:rPr sz="1350" b="1" lang="ar-SA" algn="r">
                <a:solidFill>
                  <a:srgbClr val="0B1D34"/>
                </a:solidFill>
                <a:latin typeface="Segoe UI"/>
              </a:rPr>
              <a:t>لوحة التحكم — لافتة «تجربة · ٦ أيام»</a:t>
            </a:r>
          </a:p>
        </p:txBody>
      </p:sp>
      <p:sp>
        <p:nvSpPr>
          <p:cNvPr id="11" name="TextBox 10"/>
          <p:cNvSpPr txBox="1"/>
          <p:nvPr/>
        </p:nvSpPr>
        <p:spPr>
          <a:xfrm>
            <a:off x="704088" y="3913632"/>
            <a:ext cx="3337560" cy="45720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قبل أي كسر: المصدر الوحيد للثقة هو حالة مخزَّنة</a:t>
            </a:r>
          </a:p>
        </p:txBody>
      </p:sp>
      <p:sp>
        <p:nvSpPr>
          <p:cNvPr id="12" name="Rectangle 11"/>
          <p:cNvSpPr/>
          <p:nvPr/>
        </p:nvSpPr>
        <p:spPr>
          <a:xfrm>
            <a:off x="4407408" y="1344168"/>
            <a:ext cx="3611880" cy="2148840"/>
          </a:xfrm>
          <a:prstGeom prst="rect">
            <a:avLst/>
          </a:prstGeom>
          <a:solidFill>
            <a:srgbClr val="F6F8FB"/>
          </a:solidFill>
          <a:ln w="15875">
            <a:solidFill>
              <a:srgbClr val="C594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544568" y="2212848"/>
            <a:ext cx="3337560" cy="457200"/>
          </a:xfrm>
          <a:prstGeom prst="rect">
            <a:avLst/>
          </a:prstGeom>
          <a:noFill/>
        </p:spPr>
        <p:txBody>
          <a:bodyPr wrap="square" anchor="t" lIns="18288" rIns="18288" tIns="0" bIns="0">
            <a:spAutoFit/>
          </a:bodyPr>
          <a:lstStyle/>
          <a:p>
            <a:pPr algn="ctr" marL="0" indent="0" rtl="1">
              <a:lnSpc>
                <a:spcPct val="100000"/>
              </a:lnSpc>
              <a:spcAft>
                <a:spcPts val="600"/>
              </a:spcAft>
            </a:pPr>
            <a:r>
              <a:rPr sz="1300" b="0" lang="ar-SA" algn="ctr">
                <a:solidFill>
                  <a:srgbClr val="6C7C8C"/>
                </a:solidFill>
                <a:latin typeface="Segoe UI"/>
              </a:rPr>
              <a:t>[ هنا تُ لصق اللقطة ]</a:t>
            </a:r>
          </a:p>
        </p:txBody>
      </p:sp>
      <p:sp>
        <p:nvSpPr>
          <p:cNvPr id="14" name="TextBox 13"/>
          <p:cNvSpPr txBox="1"/>
          <p:nvPr/>
        </p:nvSpPr>
        <p:spPr>
          <a:xfrm>
            <a:off x="4544568" y="3584448"/>
            <a:ext cx="3337560" cy="365760"/>
          </a:xfrm>
          <a:prstGeom prst="rect">
            <a:avLst/>
          </a:prstGeom>
          <a:noFill/>
        </p:spPr>
        <p:txBody>
          <a:bodyPr wrap="square" anchor="t" lIns="18288" rIns="18288" tIns="0" bIns="0">
            <a:spAutoFit/>
          </a:bodyPr>
          <a:lstStyle/>
          <a:p>
            <a:pPr algn="r" marL="0" indent="0" rtl="1">
              <a:lnSpc>
                <a:spcPct val="100000"/>
              </a:lnSpc>
              <a:spcAft>
                <a:spcPts val="600"/>
              </a:spcAft>
            </a:pPr>
            <a:r>
              <a:rPr sz="1350" b="1" lang="ar-SA" algn="r">
                <a:solidFill>
                  <a:srgbClr val="0B1D34"/>
                </a:solidFill>
                <a:latin typeface="Segoe UI"/>
              </a:rPr>
              <a:t>x32dbg — Patches تعرض `1F 01 D0`</a:t>
            </a:r>
          </a:p>
        </p:txBody>
      </p:sp>
      <p:sp>
        <p:nvSpPr>
          <p:cNvPr id="15" name="TextBox 14"/>
          <p:cNvSpPr txBox="1"/>
          <p:nvPr/>
        </p:nvSpPr>
        <p:spPr>
          <a:xfrm>
            <a:off x="4544568" y="3913632"/>
            <a:ext cx="3337560" cy="45720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الدليل البصري على أن الرتق حدث في الذاكرة وحدها</a:t>
            </a:r>
          </a:p>
        </p:txBody>
      </p:sp>
      <p:sp>
        <p:nvSpPr>
          <p:cNvPr id="16" name="Rectangle 15"/>
          <p:cNvSpPr/>
          <p:nvPr/>
        </p:nvSpPr>
        <p:spPr>
          <a:xfrm>
            <a:off x="8247888" y="1344168"/>
            <a:ext cx="3611880" cy="2148840"/>
          </a:xfrm>
          <a:prstGeom prst="rect">
            <a:avLst/>
          </a:prstGeom>
          <a:solidFill>
            <a:srgbClr val="F6F8FB"/>
          </a:solidFill>
          <a:ln w="15875">
            <a:solidFill>
              <a:srgbClr val="C59421"/>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385048" y="2212848"/>
            <a:ext cx="3337560" cy="457200"/>
          </a:xfrm>
          <a:prstGeom prst="rect">
            <a:avLst/>
          </a:prstGeom>
          <a:noFill/>
        </p:spPr>
        <p:txBody>
          <a:bodyPr wrap="square" anchor="t" lIns="18288" rIns="18288" tIns="0" bIns="0">
            <a:spAutoFit/>
          </a:bodyPr>
          <a:lstStyle/>
          <a:p>
            <a:pPr algn="ctr" marL="0" indent="0" rtl="1">
              <a:lnSpc>
                <a:spcPct val="100000"/>
              </a:lnSpc>
              <a:spcAft>
                <a:spcPts val="600"/>
              </a:spcAft>
            </a:pPr>
            <a:r>
              <a:rPr sz="1300" b="0" lang="ar-SA" algn="ctr">
                <a:solidFill>
                  <a:srgbClr val="6C7C8C"/>
                </a:solidFill>
                <a:latin typeface="Segoe UI"/>
              </a:rPr>
              <a:t>[ هنا تُ لصق اللقطة ]</a:t>
            </a:r>
          </a:p>
        </p:txBody>
      </p:sp>
      <p:sp>
        <p:nvSpPr>
          <p:cNvPr id="18" name="TextBox 17"/>
          <p:cNvSpPr txBox="1"/>
          <p:nvPr/>
        </p:nvSpPr>
        <p:spPr>
          <a:xfrm>
            <a:off x="8385048" y="3584448"/>
            <a:ext cx="3337560" cy="365760"/>
          </a:xfrm>
          <a:prstGeom prst="rect">
            <a:avLst/>
          </a:prstGeom>
          <a:noFill/>
        </p:spPr>
        <p:txBody>
          <a:bodyPr wrap="square" anchor="t" lIns="18288" rIns="18288" tIns="0" bIns="0">
            <a:spAutoFit/>
          </a:bodyPr>
          <a:lstStyle/>
          <a:p>
            <a:pPr algn="r" marL="0" indent="0" rtl="1">
              <a:lnSpc>
                <a:spcPct val="100000"/>
              </a:lnSpc>
              <a:spcAft>
                <a:spcPts val="600"/>
              </a:spcAft>
            </a:pPr>
            <a:r>
              <a:rPr sz="1350" b="1" lang="ar-SA" algn="r">
                <a:solidFill>
                  <a:srgbClr val="0B1D34"/>
                </a:solidFill>
                <a:latin typeface="Segoe UI"/>
              </a:rPr>
              <a:t>شاشة التفعيل — «تم التفعيل بنجاح!»</a:t>
            </a:r>
          </a:p>
        </p:txBody>
      </p:sp>
      <p:sp>
        <p:nvSpPr>
          <p:cNvPr id="19" name="TextBox 18"/>
          <p:cNvSpPr txBox="1"/>
          <p:nvPr/>
        </p:nvSpPr>
        <p:spPr>
          <a:xfrm>
            <a:off x="8385048" y="3913632"/>
            <a:ext cx="3337560" cy="457200"/>
          </a:xfrm>
          <a:prstGeom prst="rect">
            <a:avLst/>
          </a:prstGeom>
          <a:noFill/>
        </p:spPr>
        <p:txBody>
          <a:bodyPr wrap="square" anchor="t" lIns="18288" rIns="18288" tIns="0" bIns="0">
            <a:spAutoFit/>
          </a:bodyPr>
          <a:lstStyle/>
          <a:p>
            <a:pPr algn="r" marL="0" indent="0" rtl="1">
              <a:lnSpc>
                <a:spcPct val="100000"/>
              </a:lnSpc>
              <a:spcAft>
                <a:spcPts val="600"/>
              </a:spcAft>
            </a:pPr>
            <a:r>
              <a:rPr sz="1200" b="0" lang="ar-SA" algn="r">
                <a:solidFill>
                  <a:srgbClr val="6C7C8C"/>
                </a:solidFill>
                <a:latin typeface="Segoe UI"/>
              </a:rPr>
              <a:t>نفس المفتاح `5NOFK-…` الذي رُفِض قبل دقيقتين</a:t>
            </a:r>
          </a:p>
        </p:txBody>
      </p:sp>
      <p:sp>
        <p:nvSpPr>
          <p:cNvPr id="20" name="Rectangle 19"/>
          <p:cNvSpPr/>
          <p:nvPr/>
        </p:nvSpPr>
        <p:spPr>
          <a:xfrm>
            <a:off x="566928" y="4361688"/>
            <a:ext cx="11064240" cy="310896"/>
          </a:xfrm>
          <a:prstGeom prst="rect">
            <a:avLst/>
          </a:prstGeom>
          <a:solidFill>
            <a:srgbClr val="142C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marL="0" indent="0" rtl="1"/>
            <a:r>
              <a:rPr sz="1200" b="1" lang="ar-SA" algn="ctr">
                <a:solidFill>
                  <a:srgbClr val="FFFFFF"/>
                </a:solidFill>
                <a:latin typeface="Segoe UI"/>
              </a:rPr>
              <a:t>مواعيد التصوير: بعد تنفيذ مهمتَي 1 و2 في `AUDIT_AND_FIXES.md` — وبنفس دقة 1920×1080 حتى لا تتغير القصاصات</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457200" y="310896"/>
            <a:ext cx="5486400" cy="274320"/>
          </a:xfrm>
          <a:prstGeom prst="rect">
            <a:avLst/>
          </a:prstGeom>
          <a:noFill/>
        </p:spPr>
        <p:txBody>
          <a:bodyPr wrap="square" anchor="t" lIns="18288" rIns="18288" tIns="0" bIns="0">
            <a:spAutoFit/>
          </a:bodyPr>
          <a:lstStyle/>
          <a:p>
            <a:pPr algn="l" marL="0" indent="0" rtl="1">
              <a:lnSpc>
                <a:spcPct val="100000"/>
              </a:lnSpc>
              <a:spcAft>
                <a:spcPts val="600"/>
              </a:spcAft>
            </a:pPr>
            <a:r>
              <a:rPr sz="1200" b="0" lang="ar-SA" algn="l">
                <a:solidFill>
                  <a:srgbClr val="C59421"/>
                </a:solidFill>
                <a:latin typeface="Consolas"/>
              </a:rPr>
              <a:t>16 · TAKEAWAYS</a:t>
            </a:r>
          </a:p>
        </p:txBody>
      </p:sp>
      <p:sp>
        <p:nvSpPr>
          <p:cNvPr id="4" name="TextBox 3"/>
          <p:cNvSpPr txBox="1"/>
          <p:nvPr/>
        </p:nvSpPr>
        <p:spPr>
          <a:xfrm>
            <a:off x="3596335" y="1371600"/>
            <a:ext cx="8138160" cy="1280160"/>
          </a:xfrm>
          <a:prstGeom prst="rect">
            <a:avLst/>
          </a:prstGeom>
          <a:noFill/>
        </p:spPr>
        <p:txBody>
          <a:bodyPr wrap="square" anchor="t" lIns="18288" rIns="18288" tIns="0" bIns="0">
            <a:spAutoFit/>
          </a:bodyPr>
          <a:lstStyle/>
          <a:p>
            <a:pPr algn="r" marL="0" indent="0" rtl="1">
              <a:lnSpc>
                <a:spcPct val="100000"/>
              </a:lnSpc>
              <a:spcAft>
                <a:spcPts val="600"/>
              </a:spcAft>
            </a:pPr>
            <a:r>
              <a:rPr sz="4000" b="1" lang="ar-SA" algn="r">
                <a:solidFill>
                  <a:srgbClr val="FFFFFF"/>
                </a:solidFill>
                <a:latin typeface="Segoe UI"/>
              </a:rPr>
              <a:t>ما الذي خرجنا به</a:t>
            </a:r>
          </a:p>
        </p:txBody>
      </p:sp>
      <p:sp>
        <p:nvSpPr>
          <p:cNvPr id="5" name="TextBox 4"/>
          <p:cNvSpPr txBox="1"/>
          <p:nvPr/>
        </p:nvSpPr>
        <p:spPr>
          <a:xfrm>
            <a:off x="3596335" y="2468880"/>
            <a:ext cx="8138160" cy="548640"/>
          </a:xfrm>
          <a:prstGeom prst="rect">
            <a:avLst/>
          </a:prstGeom>
          <a:noFill/>
        </p:spPr>
        <p:txBody>
          <a:bodyPr wrap="square" anchor="t" lIns="18288" rIns="18288" tIns="0" bIns="0">
            <a:spAutoFit/>
          </a:bodyPr>
          <a:lstStyle/>
          <a:p>
            <a:pPr algn="r" marL="0" indent="0" rtl="1">
              <a:lnSpc>
                <a:spcPct val="100000"/>
              </a:lnSpc>
              <a:spcAft>
                <a:spcPts val="600"/>
              </a:spcAft>
            </a:pPr>
            <a:r>
              <a:rPr sz="1700" b="0" lang="ar-SA" algn="r">
                <a:solidFill>
                  <a:srgbClr val="B8CBE2"/>
                </a:solidFill>
                <a:latin typeface="Segoe UI"/>
              </a:rPr>
              <a:t>٦ نقاط — تُقال في ٦٠ ثانية</a:t>
            </a:r>
          </a:p>
        </p:txBody>
      </p:sp>
      <p:sp>
        <p:nvSpPr>
          <p:cNvPr id="6" name="Rectangle 5"/>
          <p:cNvSpPr/>
          <p:nvPr/>
        </p:nvSpPr>
        <p:spPr>
          <a:xfrm>
            <a:off x="8991295" y="2240280"/>
            <a:ext cx="2743200" cy="44450"/>
          </a:xfrm>
          <a:prstGeom prst="rect">
            <a:avLst/>
          </a:prstGeom>
          <a:solidFill>
            <a:srgbClr val="C5942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1767535" y="3346704"/>
            <a:ext cx="9966960" cy="2926080"/>
          </a:xfrm>
          <a:prstGeom prst="rect">
            <a:avLst/>
          </a:prstGeom>
          <a:noFill/>
        </p:spPr>
        <p:txBody>
          <a:bodyPr wrap="square" lIns="18288" rIns="18288" tIns="0" bIns="0">
            <a:spAutoFit/>
          </a:bodyPr>
          <a:lstStyle/>
          <a:p>
            <a:pPr algn="r" marL="0" indent="0" rtl="1">
              <a:lnSpc>
                <a:spcPct val="108000"/>
              </a:lnSpc>
              <a:spcAft>
                <a:spcPts val="800"/>
              </a:spcAft>
            </a:pPr>
            <a:r>
              <a:rPr sz="1550" b="1" lang="ar-SA" algn="r">
                <a:solidFill>
                  <a:srgbClr val="C59421"/>
                </a:solidFill>
                <a:latin typeface="Segoe UI"/>
              </a:rPr>
              <a:t>•  </a:t>
            </a:r>
            <a:r>
              <a:rPr sz="1550" b="1" lang="ar-SA" algn="r">
                <a:solidFill>
                  <a:srgbClr val="FFFFFF"/>
                </a:solidFill>
                <a:latin typeface="Segoe UI"/>
              </a:rPr>
              <a:t>١</a:t>
            </a:r>
            <a:r>
              <a:rPr sz="1550" b="0" lang="ar-SA" algn="r">
                <a:solidFill>
                  <a:srgbClr val="FFFFFF"/>
                </a:solidFill>
                <a:latin typeface="Segoe UI"/>
              </a:rPr>
              <a:t> كل حماية = فحص + قرار: ابحث عن القرار لا عن «الحماية».</a:t>
            </a:r>
          </a:p>
          <a:p>
            <a:pPr algn="r" marL="0" indent="0" rtl="1">
              <a:lnSpc>
                <a:spcPct val="108000"/>
              </a:lnSpc>
              <a:spcAft>
                <a:spcPts val="800"/>
              </a:spcAft>
            </a:pPr>
            <a:r>
              <a:rPr sz="1550" b="1" lang="ar-SA" algn="r">
                <a:solidFill>
                  <a:srgbClr val="C59421"/>
                </a:solidFill>
                <a:latin typeface="Segoe UI"/>
              </a:rPr>
              <a:t>•  </a:t>
            </a:r>
            <a:r>
              <a:rPr sz="1550" b="1" lang="ar-SA" algn="r">
                <a:solidFill>
                  <a:srgbClr val="FFFFFF"/>
                </a:solidFill>
                <a:latin typeface="Segoe UI"/>
              </a:rPr>
              <a:t>٢</a:t>
            </a:r>
            <a:r>
              <a:rPr sz="1550" b="0" lang="ar-SA" algn="r">
                <a:solidFill>
                  <a:srgbClr val="FFFFFF"/>
                </a:solidFill>
                <a:latin typeface="Segoe UI"/>
              </a:rPr>
              <a:t> في .NET: التوقيت (JIT) يصنع الفرق بين كسر يعمل وكسر «يفترض».</a:t>
            </a:r>
          </a:p>
          <a:p>
            <a:pPr algn="r" marL="0" indent="0" rtl="1">
              <a:lnSpc>
                <a:spcPct val="108000"/>
              </a:lnSpc>
              <a:spcAft>
                <a:spcPts val="800"/>
              </a:spcAft>
            </a:pPr>
            <a:r>
              <a:rPr sz="1550" b="1" lang="ar-SA" algn="r">
                <a:solidFill>
                  <a:srgbClr val="C59421"/>
                </a:solidFill>
                <a:latin typeface="Segoe UI"/>
              </a:rPr>
              <a:t>•  </a:t>
            </a:r>
            <a:r>
              <a:rPr sz="1550" b="1" lang="ar-SA" algn="r">
                <a:solidFill>
                  <a:srgbClr val="FFFFFF"/>
                </a:solidFill>
                <a:latin typeface="Segoe UI"/>
              </a:rPr>
              <a:t>٣</a:t>
            </a:r>
            <a:r>
              <a:rPr sz="1550" b="0" lang="ar-SA" algn="r">
                <a:solidFill>
                  <a:srgbClr val="FFFFFF"/>
                </a:solidFill>
                <a:latin typeface="Segoe UI"/>
              </a:rPr>
              <a:t> «تشفير بمفتاح داخل الملف» و«حالة في Registry» = لا حماية — أثبتناه في 4 أوامر.</a:t>
            </a:r>
          </a:p>
          <a:p>
            <a:pPr algn="r" marL="0" indent="0" rtl="1">
              <a:lnSpc>
                <a:spcPct val="108000"/>
              </a:lnSpc>
              <a:spcAft>
                <a:spcPts val="800"/>
              </a:spcAft>
            </a:pPr>
            <a:r>
              <a:rPr sz="1550" b="1" lang="ar-SA" algn="r">
                <a:solidFill>
                  <a:srgbClr val="C59421"/>
                </a:solidFill>
                <a:latin typeface="Segoe UI"/>
              </a:rPr>
              <a:t>•  </a:t>
            </a:r>
            <a:r>
              <a:rPr sz="1550" b="1" lang="ar-SA" algn="r">
                <a:solidFill>
                  <a:srgbClr val="FFFFFF"/>
                </a:solidFill>
                <a:latin typeface="Segoe UI"/>
              </a:rPr>
              <a:t>٤</a:t>
            </a:r>
            <a:r>
              <a:rPr sz="1550" b="0" lang="ar-SA" algn="r">
                <a:solidFill>
                  <a:srgbClr val="FFFFFF"/>
                </a:solidFill>
                <a:latin typeface="Segoe UI"/>
              </a:rPr>
              <a:t> الأداة لا تُعرّف المهارة: x32dbg للطابق الأصلي، dnSpy للـ IL، Procmon للسلوك.</a:t>
            </a:r>
          </a:p>
          <a:p>
            <a:pPr algn="r" marL="0" indent="0" rtl="1">
              <a:lnSpc>
                <a:spcPct val="108000"/>
              </a:lnSpc>
              <a:spcAft>
                <a:spcPts val="800"/>
              </a:spcAft>
            </a:pPr>
            <a:r>
              <a:rPr sz="1550" b="1" lang="ar-SA" algn="r">
                <a:solidFill>
                  <a:srgbClr val="C59421"/>
                </a:solidFill>
                <a:latin typeface="Segoe UI"/>
              </a:rPr>
              <a:t>•  </a:t>
            </a:r>
            <a:r>
              <a:rPr sz="1550" b="1" lang="ar-SA" algn="r">
                <a:solidFill>
                  <a:srgbClr val="FFFFFF"/>
                </a:solidFill>
                <a:latin typeface="Segoe UI"/>
              </a:rPr>
              <a:t>٥</a:t>
            </a:r>
            <a:r>
              <a:rPr sz="1550" b="0" lang="ar-SA" algn="r">
                <a:solidFill>
                  <a:srgbClr val="FFFFFF"/>
                </a:solidFill>
                <a:latin typeface="Segoe UI"/>
              </a:rPr>
              <a:t> الشفافية أكاديمية: سمينَا «EAX» تشريحاً لا كسراً، ووثّقنا أعطال برنامجنا قبل عرضه.</a:t>
            </a:r>
          </a:p>
          <a:p>
            <a:pPr algn="r" marL="0" indent="0" rtl="1">
              <a:lnSpc>
                <a:spcPct val="108000"/>
              </a:lnSpc>
              <a:spcAft>
                <a:spcPts val="800"/>
              </a:spcAft>
            </a:pPr>
            <a:r>
              <a:rPr sz="1550" b="1" lang="ar-SA" algn="r">
                <a:solidFill>
                  <a:srgbClr val="C59421"/>
                </a:solidFill>
                <a:latin typeface="Segoe UI"/>
              </a:rPr>
              <a:t>•  </a:t>
            </a:r>
            <a:r>
              <a:rPr sz="1550" b="1" lang="ar-SA" algn="r">
                <a:solidFill>
                  <a:srgbClr val="FFFFFF"/>
                </a:solidFill>
                <a:latin typeface="Segoe UI"/>
              </a:rPr>
              <a:t>٦</a:t>
            </a:r>
            <a:r>
              <a:rPr sz="1550" b="0" lang="ar-SA" algn="r">
                <a:solidFill>
                  <a:srgbClr val="FFFFFF"/>
                </a:solidFill>
                <a:latin typeface="Segoe UI"/>
              </a:rPr>
              <a:t> كل ثغرة نشرحها ← إصلاح نقترحه. هذا الفرق بين هاكر ومهندس.</a:t>
            </a:r>
          </a:p>
        </p:txBody>
      </p:sp>
      <p:sp>
        <p:nvSpPr>
          <p:cNvPr id="8" name="TextBox 7"/>
          <p:cNvSpPr txBox="1"/>
          <p:nvPr/>
        </p:nvSpPr>
        <p:spPr>
          <a:xfrm>
            <a:off x="4510735" y="6172200"/>
            <a:ext cx="7223760" cy="365760"/>
          </a:xfrm>
          <a:prstGeom prst="rect">
            <a:avLst/>
          </a:prstGeom>
          <a:noFill/>
        </p:spPr>
        <p:txBody>
          <a:bodyPr wrap="square" anchor="t" lIns="18288" rIns="18288" tIns="0" bIns="0">
            <a:spAutoFit/>
          </a:bodyPr>
          <a:lstStyle/>
          <a:p>
            <a:pPr algn="r" marL="0" indent="0" rtl="1">
              <a:lnSpc>
                <a:spcPct val="100000"/>
              </a:lnSpc>
              <a:spcAft>
                <a:spcPts val="600"/>
              </a:spcAft>
            </a:pPr>
            <a:r>
              <a:rPr sz="1450" b="0" lang="ar-SA" algn="r">
                <a:solidFill>
                  <a:srgbClr val="C59421"/>
                </a:solidFill>
                <a:latin typeface="Segoe UI"/>
              </a:rPr>
              <a:t>شكراً — ونرحّب بالأسئلة (وللمشرف تحديداً: «ما الذي لم نستطع عمله؟» — عندنا إجابة جاهزة)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كسر حماية ميزان Pro بـ x32dbg — ورشة الهندسة العكسية</dc:title>
  <dc:subject>Project: crack a 3-layer license protection (WPF/.NET 6)</dc:subject>
  <dc:creator>علي العطيفي · ماجد الدميني · المعتصم الراعي</dc:creator>
  <cp:keywords>x32dbg, dnSpy, IL patch, keygen, reverse engineering, Arabic RTL</cp:keywords>
  <dc:description>كل الأرقام والمفاتيح في هذه الشرائح مُتحقَّق منها؛ التفاصيل في Crack_Guide_x32dbg.pdf</dc:description>
  <cp:lastModifiedBy>Steve Canny</cp:lastModifiedBy>
  <cp:revision>1</cp:revision>
  <dcterms:created xsi:type="dcterms:W3CDTF">2013-01-27T09:14:16Z</dcterms:created>
  <dcterms:modified xsi:type="dcterms:W3CDTF">2013-01-27T09:15:58Z</dcterms:modified>
  <cp:category/>
</cp:coreProperties>
</file>